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2A9D8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200400"/>
            <a:ext cx="2011680" cy="2011680"/>
          </a:xfrm>
          <a:prstGeom prst="ellipse">
            <a:avLst/>
          </a:prstGeom>
          <a:solidFill>
            <a:srgbClr val="4BBFB4">
              <a:alpha val="18000"/>
            </a:srgbClr>
          </a:solidFill>
          <a:ln w="12700">
            <a:solidFill>
              <a:srgbClr val="4BBFB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analizar_v4.py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B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Pipeline de Minería de Opinión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4140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Fase 5 — Evaluación  ·  Ineficiencia Salud MX ante la Influenza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JSON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290779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narrativo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290779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PNG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artefactos de vectorizar_v4.py  ·  Importa clasificadores de modelos.py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en el pipeline CRISP-DM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51760" cy="9144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vectorizar_v4.py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6517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artefactos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.npz · .npy · .pkl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08960" y="8686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65176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analizar_v4.py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261872"/>
            <a:ext cx="26517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principal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modelos.py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8686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868680"/>
            <a:ext cx="2651760" cy="914400"/>
          </a:xfrm>
          <a:prstGeom prst="rect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261872"/>
            <a:ext cx="26517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TXT · PNG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1938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de entrada (detectados automáticamente):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86000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86000"/>
            <a:ext cx="54864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22860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X_features*.npz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228600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features TF-IDF + BERT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54864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22860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y_labels*.npy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228600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binarias (0=media, 1=alta)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98064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98064"/>
            <a:ext cx="54864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27980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vectorizador*.pkl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279806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selector de features, cols_num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798064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98064"/>
            <a:ext cx="54864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27980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dataset_*.json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9400" y="279806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— activa Spearman, χ² y errores BERT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34015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generados (timestamp YYYYMMDD_HHMMSS):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8503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reporte_v4_&lt;ts&gt;.json — métricas completas estructuradas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032504"/>
            <a:ext cx="8503920" cy="27432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32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resumen_narrativo_v4_&lt;ts&gt;.txt — texto listo para tesis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334256"/>
            <a:ext cx="8503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342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errores_criticos_&lt;ts&gt;.json — FN/FP confiados con diagnóstico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636008"/>
            <a:ext cx="8503920" cy="27432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curva_&lt;modelo&gt;_&lt;ts&gt;.png  ·  confusion_&lt;modelo&gt;_&lt;ts&gt;.png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Detección automática de BERT  +  ② Validación cruzada robusta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27432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Detección automática de features BERT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1605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15568"/>
            <a:ext cx="64008" cy="8595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activo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3959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10% filas con prob_neg ≠ 0 → usa LogisticRegression como estimador principal (maneja correlación entre prob_neg y sentimiento_num).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41605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48256"/>
            <a:ext cx="64008" cy="8595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482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inactivo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40864"/>
            <a:ext cx="3959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sin auto_etiquetar.py → usa ComplementNB. No afecta la comparación de modelos que siempre evalúa los 3 del catálogo.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04672"/>
            <a:ext cx="4206240" cy="27432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80467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Validación cruzada robusta — 10-fold estratificado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15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f1_weighted.media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93408" y="11155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ponderado promedio entre folds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420624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63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f1_weighted.ic95_pm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93408" y="14630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Semiancho IC 95%  →  x̄ ± 1.96·σ/√k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810512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f1_alta.media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93408" y="18105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 clase positiva (ineficiencia alta)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157984"/>
            <a:ext cx="420624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579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roc_auc.media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93408" y="21579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promedio entre folds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50545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5054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overfitting.gap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93408" y="250545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F1 − test F1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852928"/>
            <a:ext cx="420624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veredicto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93408" y="28529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"muy estable", "inestable", etc.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218688"/>
            <a:ext cx="4206240" cy="640080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218688"/>
            <a:ext cx="64008" cy="640080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3273552"/>
            <a:ext cx="3986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cv_res = validacion_cruzada_robusta(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bert_activo=bert_activo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127248"/>
            <a:ext cx="8595360" cy="658368"/>
          </a:xfrm>
          <a:prstGeom prst="rect">
            <a:avLst/>
          </a:prstGeom>
          <a:solidFill>
            <a:srgbClr val="E8F7F5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455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Los IC 95% son directamente citables en tesis como medida de estabilidad del modelo.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438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overfitting.detectado = true  si  gap &gt; 10%  →  señal de alerta automática.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9319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N_FOLDS = 10  ·  IC_Z = 1.96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Calibración isotónica de probabilidades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el estimador principal dos veces — sin calibrar (línea base) y con CalibratedClassifierCV(method="isotonic", cv=5):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560320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calibrar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 probabilidades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extremos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0" y="10972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la curva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confianza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560320" cy="868680"/>
          </a:xfrm>
          <a:prstGeom prst="rect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clf_cal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análisis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0312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39572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exactitud de probabilidades predichas. Un modelo sin calibrar infla extremos. Menor = mejor. Usado para comparar antes vs después de calibración.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210312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10312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 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239572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más fuerte las predicciones incorrectas con alta confianza. Complementa el Brier Score en la evaluación probabilística.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210312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10312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mejora_brier_pct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0216" y="239572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positivo la calibración mejoró la calidad probabilística. Métrica directa de ganancia por calibración. Citabla en tesis.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46120"/>
            <a:ext cx="8595360" cy="640080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46120"/>
            <a:ext cx="64008" cy="640080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30098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clf_cal, probs_cal, y_pred_cal, cal_res = entrenar_con_calibracion(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X_tr, y_tr, X_te, y_te, bert_activo=bert_activo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986784"/>
            <a:ext cx="8595360" cy="384048"/>
          </a:xfrm>
          <a:prstGeom prst="rect">
            <a:avLst/>
          </a:prstGeom>
          <a:solidFill>
            <a:srgbClr val="E8F7F5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clf_cal se usa en los pasos ④⑤⑥⑦ como modelo de referencia para análisis de errores, curvas de aprendizaje y extracción de features.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8056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805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METODO_CALIBRACION = isotonic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Análisis de errores críticos — FN / FP confiados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casos donde el modelo calibrado se equivocó con alta confianza (umbral: 0.80)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confiado — Falso Negativo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predijo MEDIA con ≥ 80% confianza, pero era ALTA.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en salud pública: ALTO — queja real de ineficiencia ignorada.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6592" y="1078992"/>
            <a:ext cx="4206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078992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confiado — Falso Positivo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1371600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predijo ALTA con ≥ 80% confianza, pero era MEDIA.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en salud pública: MEDIO — falsa alarma de ineficiencia.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8595360" cy="292608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76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desacuerdo BERT vs TF-IDF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8595360" cy="384048"/>
          </a:xfrm>
          <a:prstGeom prst="rect">
            <a:avLst/>
          </a:prstGeom>
          <a:solidFill>
            <a:srgbClr val="F0FBF9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87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 ✓  /  TF-IDF ✗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24912" y="24871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Léxico de dominio insuficiente → ampliar TERMINOS_DOMINIO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871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 ✗  /  TF-IDF ✗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24912" y="28712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genuinamente difícil: sarcasmo, queja implícita o ambigüedad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384048"/>
          </a:xfrm>
          <a:prstGeom prst="rect">
            <a:avLst/>
          </a:prstGeom>
          <a:solidFill>
            <a:srgbClr val="F0FBF9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255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 ✗  /  TF-IDF 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25526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ambiguo que confunde al modelo de sentimiento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3657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error exportado incluye: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931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original del comentario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1788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principales detectados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471416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4256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automático BERT vs TF-IDF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718304"/>
            <a:ext cx="137160" cy="137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6725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error (FN / FP)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657600"/>
            <a:ext cx="4297680" cy="658368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657600"/>
            <a:ext cx="64008" cy="658368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3712464"/>
            <a:ext cx="4078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errores_res = analizar_errores_criticos(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X_te, y_te, y_pred_cal, probs_cal, registros, idx_te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727448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72744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UMBRAL_CONFIANZA = 0.80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74520" y="4727448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74520" y="472744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N_ERRORES_EXPORTAR =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Curva de aprendizaje — Diagnóstico automático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genérica — acepta cualquier pipeline sklearn. Calcula F1-weighted en 8 tamaños de entrenamiento (10%–100%) con cv=5.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310896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10789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0" y="10789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recomendada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0817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gap_final &gt; 0.12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40817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40817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moderado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40817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08176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vocabulario o aumentar alpha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73936"/>
            <a:ext cx="2286000" cy="36576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7393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pendiente_test &gt; 0.02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1773936"/>
            <a:ext cx="2286000" cy="36576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177393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sigue mejorando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773936"/>
            <a:ext cx="4023360" cy="36576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773936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scraping — más datos ayudan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13969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396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gap_final &lt; 0.03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13969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1396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saturado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13969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139696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features, no añadir datos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505456"/>
            <a:ext cx="2286000" cy="36576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0545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505456"/>
            <a:ext cx="2286000" cy="36576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50545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05456"/>
            <a:ext cx="4023360" cy="365760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505456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acción requerida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889504"/>
            <a:ext cx="859536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89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PNG generados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182112"/>
            <a:ext cx="8595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1821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curva_&lt;modelo&gt;_&lt;ts&gt;.png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13632" y="318211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train vs test por tamaño de corpus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639312"/>
            <a:ext cx="8595360" cy="420624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36393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confusion_&lt;modelo&gt;_&lt;ts&gt;.png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13632" y="363931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2×2 con conteos absolutos y normalizada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749040"/>
            <a:ext cx="8595360" cy="621792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749040"/>
            <a:ext cx="64008" cy="621792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3803904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curva_res = curva_aprendizaje(pipeline, X, y, nombre="MiModelo")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graficar_curva_aprendizaje(pipeline, X, y, nombre, carpeta, ts)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matplotlib no está instalado, las funciones retornan None sin lanzar error.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Comparación de modelos — Tabla Precision / Recall / F1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sobre CATALOGO_MODELOS de modelos.py evaluando cada clasificador en el mismo split 80/20.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292608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0" y="10789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precision_alta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87168" y="138988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predicciones ALTA, cuántas eran correctas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8595360" cy="347472"/>
          </a:xfrm>
          <a:prstGeom prst="rect">
            <a:avLst/>
          </a:prstGeom>
          <a:solidFill>
            <a:srgbClr val="E8F7F5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recall_alta 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87168" y="173736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quejas reales ALTA, cuántas detectó el modelo — MÉTRICA PRIORITARIA en salud pública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84832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f1_alta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87168" y="208483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armónica de Precision y Recall para clase ALTA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859536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432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f1_weighted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7168" y="24323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ponderado por soporte de clase (métrica global)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79776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roc_auc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87168" y="277977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bajo la curva ROC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127248"/>
            <a:ext cx="859536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87168" y="31272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predicciones correctas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11296"/>
            <a:ext cx="8595360" cy="58521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38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¿Por qué Recall es la métrica prioritaria en salud pública?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767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Negativo (queja real no detectada) tiene coste mayor que un Falso Positivo (falsa alarma). El sistema debería preferir Recall alto aunque eso reduzca ligeramente la Precision.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206240"/>
            <a:ext cx="64008" cy="640080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26110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LinearSVM         Prec=0.8312  Recall=0.7941  F1=0.8122  F1-W=0.8247  AUC=0.8901  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 Prec=0.8104  Recall=0.7823  F1=0.7961  F1-W=0.8089  AUC=0.8834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ComplementNB       Prec=0.7891  Recall=0.7412  F1=0.7644  F1-W=0.7823  AUC=0.8601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Top features e interpretación  ·  Configuración principal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97680" cy="27432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Top features e interpretación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2976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15568"/>
            <a:ext cx="64008" cy="9326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extraer_top_terms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CNB (feature_log_prob_) y LR/SVM (coef_). Enriquece cada término con dimensión narrativa: falta_insumos, tiempo_espera…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21408"/>
            <a:ext cx="429768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21408"/>
            <a:ext cx="64008" cy="9326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21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top_features_hibrido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414016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tabla mixta texto + BERT con coeficiente, dirección (→ alta / → media) y tipo (texto_tfidf, BERT, enriquecimiento). Solo LR y SVM calibrado.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4297680" cy="640080"/>
          </a:xfrm>
          <a:prstGeom prst="rect">
            <a:avLst/>
          </a:prstGeom>
          <a:solidFill>
            <a:srgbClr val="EAF0F3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90672"/>
            <a:ext cx="64008" cy="640080"/>
          </a:xfrm>
          <a:prstGeom prst="rect">
            <a:avLst/>
          </a:prstGeom>
          <a:solidFill>
            <a:srgbClr val="4BBFB4"/>
          </a:solidFill>
          <a:ln w="12700">
            <a:solidFill>
              <a:srgbClr val="4BBF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145536"/>
            <a:ext cx="4078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top_terms     = extraer_top_terms(clf_cal, vec, selector)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tabla_hibrida = top_features_hibrido(clf_cal, vec, selector, art, n=20)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solidFill>
            <a:srgbClr val="162D3A"/>
          </a:solidFill>
          <a:ln w="12700">
            <a:solidFill>
              <a:srgbClr val="162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04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principal (constantes)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15568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11556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26096" y="111556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114800" cy="30175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4173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6096" y="14173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719072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71907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N_FOLDS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26096" y="171907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20824"/>
            <a:ext cx="4114800" cy="30175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02082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IC_Z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26096" y="20208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322576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32257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UMBRAL_CONFIANZA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26096" y="232257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624328"/>
            <a:ext cx="4114800" cy="30175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62432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N_ERRORES_EXPORTAR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26096" y="262432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926080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9260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CURVA_PUNTOS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26096" y="292608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227832"/>
            <a:ext cx="4114800" cy="301752"/>
          </a:xfrm>
          <a:prstGeom prst="rect">
            <a:avLst/>
          </a:prstGeom>
          <a:solidFill>
            <a:srgbClr val="F4F7F8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22783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UMBRAL_BERT_ACTIVO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26096" y="322783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529584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35295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TOP_N_TERMS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26096" y="35295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822192"/>
            <a:ext cx="859536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JSON de reporte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02336" y="41330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 ·  validacion_cruzada  ·  calibracion  ·  comparacion_modelos  ·  top_terms_por_clase  ·  top_features_hibrido  ·  dimensiones_narrativas  ·  correlaciones_spearman  ·  chi2_categorias  ·  curva_aprendizaje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590288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5902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TOP_N_TERMS =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A9D8F">
              <a:alpha val="22000"/>
            </a:srgbClr>
          </a:solidFill>
          <a:ln w="12700">
            <a:solidFill>
              <a:srgbClr val="2A9D8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analizar_v4.py — Resumen del sistema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Fase 5 — Evaluación  ·  scikit-learn ≥ 1.3  ·  matplotlib opcional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2011680" cy="1444752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" y="11887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BERT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591056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Auto-detecta prob_neg → elige LR o CNB como estimador principal del pipeline.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1078992"/>
            <a:ext cx="2011680" cy="1444752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2888" y="1188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35224" y="11887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10-fold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51176" y="1591056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AUC, IC 95% citables. Detecta overfitting si gap &gt; 10%.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54296" y="1078992"/>
            <a:ext cx="2011680" cy="1444752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1188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48072" y="11887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isotónica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1591056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probabilidades. Brier Score + Log-Loss antes vs después.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67144" y="1078992"/>
            <a:ext cx="2011680" cy="1444752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58584" y="1188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11887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críticos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76872" y="1591056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FN/FP confiados (≥ 0.80). Diagnóstico BERT vs TF-IDF por caso.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706624"/>
            <a:ext cx="2011680" cy="1444752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81635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" y="28163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3218688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puntos 10%–100%. Diagnóstico: overfitting / saturado / sigue mejorando.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41448" y="2706624"/>
            <a:ext cx="2011680" cy="1444752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32888" y="281635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32888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35224" y="28163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modelos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51176" y="3218688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CATALOGO_MODELOS. Tabla Precision / Recall / F1. Recall prioritario.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54296" y="2706624"/>
            <a:ext cx="2011680" cy="1444752"/>
          </a:xfrm>
          <a:prstGeom prst="rect">
            <a:avLst/>
          </a:prstGeom>
          <a:solidFill>
            <a:srgbClr val="1B3545"/>
          </a:solidFill>
          <a:ln w="6350">
            <a:solidFill>
              <a:srgbClr val="2A4A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281635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45736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48072" y="281635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64024" y="3218688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BERT. Dimensiones narrativas. Coeficientes LR/SVM citables.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relacionados: modelos.py  ·  vectorizar_v4.py  ·  auto_etiquetar.py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analizar_v4.py — Evaluación del Pipeline de Minería de Opinión</dc:title>
  <dc:subject>PptxGenJS Presentation</dc:subject>
  <dc:creator>PptxGenJS</dc:creator>
  <cp:lastModifiedBy>PptxGenJS</cp:lastModifiedBy>
  <cp:revision>1</cp:revision>
  <dcterms:created xsi:type="dcterms:W3CDTF">2026-04-15T20:31:17Z</dcterms:created>
  <dcterms:modified xsi:type="dcterms:W3CDTF">2026-04-15T20:31:17Z</dcterms:modified>
</cp:coreProperties>
</file>