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05840"/>
            <a:ext cx="3200400" cy="3200400"/>
          </a:xfrm>
          <a:prstGeom prst="ellipse">
            <a:avLst/>
          </a:prstGeom>
          <a:solidFill>
            <a:srgbClr val="062E52">
              <a:alpha val="80000"/>
            </a:srgbClr>
          </a:solidFill>
          <a:ln w="12700">
            <a:solidFill>
              <a:srgbClr val="062E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02A88A">
              <a:alpha val="40000"/>
            </a:srgbClr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Auto-Etiquetador de Sentimientos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BERT — Salud Pública MX / Influenza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5029200" cy="0"/>
          </a:xfrm>
          <a:prstGeom prst="line">
            <a:avLst/>
          </a:prstGeom>
          <a:noFill/>
          <a:ln w="19050">
            <a:solidFill>
              <a:srgbClr val="02A8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8892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1.5 del pipeline de investigación.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el corpus normalizado y enriquece cada registro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análisis de sentimientos BERT para actualizar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relevancia con trazabilidad completa.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621792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Posición en el Pipeline de Investigación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0195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901952" cy="109728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188720"/>
            <a:ext cx="548640" cy="548640"/>
          </a:xfrm>
          <a:prstGeom prst="ellipse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scraper_influenza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488" y="2423160"/>
            <a:ext cx="168249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Recolecta posts y comentarios de Reddit MX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67712" y="2651760"/>
            <a:ext cx="201168" cy="0"/>
          </a:xfrm>
          <a:prstGeom prst="line">
            <a:avLst/>
          </a:prstGeom>
          <a:noFill/>
          <a:ln w="25400">
            <a:solidFill>
              <a:srgbClr val="02A8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005840"/>
            <a:ext cx="190195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005840"/>
            <a:ext cx="1901952" cy="109728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45536" y="1188720"/>
            <a:ext cx="548640" cy="548640"/>
          </a:xfrm>
          <a:prstGeom prst="ellipse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45536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192024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limpiar / enriquecer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78608" y="2423160"/>
            <a:ext cx="168249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Filtra, normaliza, añade IFB y polaridad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70832" y="2651760"/>
            <a:ext cx="201168" cy="0"/>
          </a:xfrm>
          <a:prstGeom prst="line">
            <a:avLst/>
          </a:prstGeom>
          <a:noFill/>
          <a:ln w="25400">
            <a:solidFill>
              <a:srgbClr val="02A8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005840"/>
            <a:ext cx="1901952" cy="3291840"/>
          </a:xfrm>
          <a:prstGeom prst="rect">
            <a:avLst/>
          </a:prstGeom>
          <a:solidFill>
            <a:srgbClr val="E0FAF5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005840"/>
            <a:ext cx="1901952" cy="109728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48656" y="1188720"/>
            <a:ext cx="548640" cy="548640"/>
          </a:xfrm>
          <a:prstGeom prst="ellipse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48656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192024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A8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auto_etiquetar.py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81728" y="2423160"/>
            <a:ext cx="168249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Sentimiento BERT + lógica híbrida de relevancia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73952" y="2651760"/>
            <a:ext cx="201168" cy="0"/>
          </a:xfrm>
          <a:prstGeom prst="line">
            <a:avLst/>
          </a:prstGeom>
          <a:noFill/>
          <a:ln w="25400">
            <a:solidFill>
              <a:srgbClr val="02A8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1005840"/>
            <a:ext cx="190195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75120" y="1005840"/>
            <a:ext cx="1901952" cy="109728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51776" y="1188720"/>
            <a:ext cx="548640" cy="548640"/>
          </a:xfrm>
          <a:prstGeom prst="ellipse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51776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192024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vectorizar_v3.py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784848" y="2423160"/>
            <a:ext cx="168249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TF-IDF + features numéricas para análisis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E0FAF5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4480560"/>
            <a:ext cx="64008" cy="45720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auto-etiquetador no filtra ni elimina registros: solo añade una capa de validación semántica con trazabilidad completa.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621792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El Modelo — robertuito-sentiment-analysis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10972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pysentimiento / robertuito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664208"/>
            <a:ext cx="1005840" cy="329184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Base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508760" y="1682496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especializado en español coloquial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276856"/>
            <a:ext cx="1005840" cy="329184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768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Entrenamiento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508760" y="229514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millones de tweets (AR, MX, 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889504"/>
            <a:ext cx="1005840" cy="329184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895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508760" y="290779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/ NEG / NEU con probabilidades calibradas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502152"/>
            <a:ext cx="1005840" cy="329184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021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Tokens max.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08760" y="352044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tokens (suficiente para comentarios Reddit)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114800"/>
            <a:ext cx="1005840" cy="329184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148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Primera descarga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508760" y="4133088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MB; ejecuciones siguientes usan caché local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960120"/>
            <a:ext cx="4160520" cy="3931920"/>
          </a:xfrm>
          <a:prstGeom prst="rect">
            <a:avLst/>
          </a:prstGeom>
          <a:solidFill>
            <a:srgbClr val="EBF8F4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960120"/>
            <a:ext cx="4160520" cy="109728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1155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no un modelo genérico?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73168" y="1719072"/>
            <a:ext cx="292608" cy="292608"/>
          </a:xfrm>
          <a:prstGeom prst="ellipse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16642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robertuito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166360" y="20116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 wey, chido, neta, emojis, siglas y abreviaciones mexicanas.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73168" y="2752344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26974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twitter-xlm-roberta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166360" y="304495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Multilingüe general: subestima sistemáticamente el texto coloquial en es-MX.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73168" y="3785616"/>
            <a:ext cx="292608" cy="2926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37307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distilbert-multilingual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166360" y="407822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ligero (~250 MB), alternativa si hay problemas de descarga.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621792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Pipeline de 6 Pasos Secuenciales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20624" cy="420624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" y="1609344"/>
            <a:ext cx="0" cy="685800"/>
          </a:xfrm>
          <a:prstGeom prst="line">
            <a:avLst/>
          </a:prstGeom>
          <a:noFill/>
          <a:ln w="19050">
            <a:solidFill>
              <a:srgbClr val="B0C8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005840"/>
            <a:ext cx="36576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005840"/>
            <a:ext cx="64008" cy="11155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097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Instalar dependencias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4630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en runtime si pysentimiento y torch están disponibles; los instala automáticamente si faltan.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487168"/>
            <a:ext cx="420624" cy="420624"/>
          </a:xfrm>
          <a:prstGeom prst="ellipse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" y="2907792"/>
            <a:ext cx="0" cy="685800"/>
          </a:xfrm>
          <a:prstGeom prst="line">
            <a:avLst/>
          </a:prstGeom>
          <a:noFill/>
          <a:ln w="19050">
            <a:solidFill>
              <a:srgbClr val="B0C8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304288"/>
            <a:ext cx="36576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2304288"/>
            <a:ext cx="64008" cy="1115568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3957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Cargar modelo robertuito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76148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el modelo desde caché local o descarga ~500 MB en la primera ejecución.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785616"/>
            <a:ext cx="420624" cy="420624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785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3602736"/>
            <a:ext cx="36576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602736"/>
            <a:ext cx="64008" cy="11155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69417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en lotes BERT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05993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comentarios en lotes de 32. Selecciona el texto más rico: comentario original &gt; texto_normalizado.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188720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188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19472" y="1609344"/>
            <a:ext cx="0" cy="685800"/>
          </a:xfrm>
          <a:prstGeom prst="line">
            <a:avLst/>
          </a:prstGeom>
          <a:noFill/>
          <a:ln w="19050">
            <a:solidFill>
              <a:srgbClr val="B0C8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57800" y="1005840"/>
            <a:ext cx="36576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257800" y="1005840"/>
            <a:ext cx="64008" cy="11155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1097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Mapear sentimiento → relevancia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40680" y="14630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lógica híbrida en 4 reglas para asignar relevancia sin falsos positivos.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2487168"/>
            <a:ext cx="420624" cy="420624"/>
          </a:xfrm>
          <a:prstGeom prst="ellipse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919472" y="2907792"/>
            <a:ext cx="0" cy="685800"/>
          </a:xfrm>
          <a:prstGeom prst="line">
            <a:avLst/>
          </a:prstGeom>
          <a:noFill/>
          <a:ln w="19050">
            <a:solidFill>
              <a:srgbClr val="B0C8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57800" y="2304288"/>
            <a:ext cx="36576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257800" y="2304288"/>
            <a:ext cx="64008" cy="1115568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0680" y="23957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Revisión manual interactiva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40680" y="276148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casos ambiguos (NEG sin señal sistémica) se presentan uno a uno en consola con opciones [a/m/s/q].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3785616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785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257800" y="3602736"/>
            <a:ext cx="36576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257800" y="3602736"/>
            <a:ext cx="64008" cy="11155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369417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Validar y exportar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40680" y="405993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dataset_etiquetado*.json y cola_revision*.json con todos los campos de trazabilidad.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621792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Selección del Texto para BERT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9611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prioriza el comentario original sobre el texto_normalizado — con razón deliberada.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2331720" cy="43891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5331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1353312"/>
            <a:ext cx="2971800" cy="43891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353312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Para BERT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353312"/>
            <a:ext cx="2852928" cy="43891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353312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Para TF-IDF / vectorizar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883664"/>
            <a:ext cx="2331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83664"/>
            <a:ext cx="64008" cy="1188720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066544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comentario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0" y="1883664"/>
            <a:ext cx="2971800" cy="1188720"/>
          </a:xfrm>
          <a:prstGeom prst="rect">
            <a:avLst/>
          </a:prstGeom>
          <a:solidFill>
            <a:srgbClr val="D1FAE5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34640" y="1993392"/>
            <a:ext cx="27889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Mejor — conserva ¡!, emojis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stopwords emocionales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1883664"/>
            <a:ext cx="2852928" cy="1188720"/>
          </a:xfrm>
          <a:prstGeom prst="rect">
            <a:avLst/>
          </a:prstGeom>
          <a:solidFill>
            <a:srgbClr val="FEE2E2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1993392"/>
            <a:ext cx="267004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Peor — ruido para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frecuencias de términos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209544"/>
            <a:ext cx="2331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209544"/>
            <a:ext cx="64008" cy="1188720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392424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texto_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normalizado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0" y="3209544"/>
            <a:ext cx="2971800" cy="1188720"/>
          </a:xfrm>
          <a:prstGeom prst="rect">
            <a:avLst/>
          </a:prstGeom>
          <a:solidFill>
            <a:srgbClr val="FEE2E2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834640" y="3319272"/>
            <a:ext cx="27889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Peor — la limpieza elimina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emocionales clave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3209544"/>
            <a:ext cx="2852928" cy="1188720"/>
          </a:xfrm>
          <a:prstGeom prst="rect">
            <a:avLst/>
          </a:prstGeom>
          <a:solidFill>
            <a:srgbClr val="D1FAE5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35040" y="3319272"/>
            <a:ext cx="267004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Mejor — tokens limpios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vectorización TF-IDF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4A3B8"/>
                </a:solidFill>
              </a:rPr>
              <a:t>Truncar a MAX_CHARS_BERT = 800 caracteres conservando el inicio, donde generalmente se expresa la queja principal.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621792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Lógica Híbrida — Mapeo Sentimiento → Relevancia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8595360" cy="896112"/>
          </a:xfrm>
          <a:prstGeom prst="rect">
            <a:avLst/>
          </a:prstGeom>
          <a:solidFill>
            <a:srgbClr val="EDE9FE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87552"/>
            <a:ext cx="914400" cy="8961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4358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Regla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104241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de vacunación informativa presente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25880" y="138988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marcar como alta un comentario que simplemente informa sobre vacunas disponibles gratuitamente.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124712"/>
            <a:ext cx="13716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1247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"media"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124712"/>
            <a:ext cx="246888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B0C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1247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fuente: forzado_media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975104"/>
            <a:ext cx="8595360" cy="896112"/>
          </a:xfrm>
          <a:prstGeom prst="rect">
            <a:avLst/>
          </a:prstGeom>
          <a:solidFill>
            <a:srgbClr val="E0FAF5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975104"/>
            <a:ext cx="914400" cy="89611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2311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Regla 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25880" y="20299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Sentimiento POS o NEU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325880" y="237744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comentario neutro o positivo sobre el IMSS no es una queja sistémica relevante para el corpus.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112264"/>
            <a:ext cx="1371600" cy="41148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11226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"media"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2112264"/>
            <a:ext cx="246888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B0C8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11226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fuente: bert_auto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962656"/>
            <a:ext cx="8595360" cy="8961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62656"/>
            <a:ext cx="914400" cy="89611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2186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Regla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25880" y="30175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 + score_queja ≥ 1.5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325880" y="336499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negatividad BERT debe coexistir con señales léxicas sistémicas: desabasto, negligencia, urgencias_llenas…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099816"/>
            <a:ext cx="1371600" cy="4114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09981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"alta"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3099816"/>
            <a:ext cx="246888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B0C8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309981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fuente: bert_queja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3950208"/>
            <a:ext cx="8595360" cy="896112"/>
          </a:xfrm>
          <a:prstGeom prst="rect">
            <a:avLst/>
          </a:prstGeom>
          <a:solidFill>
            <a:srgbClr val="FEF3C7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950208"/>
            <a:ext cx="914400" cy="8961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206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Regla 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25880" y="40050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 + score_queja &lt; 1.5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325880" y="4352544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ser crítica a un youtuber, frustración personal u opinión sobre COVID — no relacionada con salud pública.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4087368"/>
            <a:ext cx="137160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40873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→ revisión manual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4087368"/>
            <a:ext cx="246888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B0C8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40873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fuente: bert_ambiguo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621792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Score de Queja Sistémica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10972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score_queja_salud  =  Σ 1.5  por cada término del mini-lexicon presente en el texto_normalizado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274320" y="1883664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83664"/>
            <a:ext cx="2743200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Desabasto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2286000"/>
            <a:ext cx="25237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4E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desabasto  ·  no_hay_medicamento  ·  no_hay_vacuna  ·  escasez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1883664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883664"/>
            <a:ext cx="2743200" cy="347472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Burocracia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64408" y="2286000"/>
            <a:ext cx="25237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4E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viacrucis  ·  odisea  ·  vuelta_y_vuelta  ·  vuelva_manana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883664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883664"/>
            <a:ext cx="274320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Pago privado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44768" y="2286000"/>
            <a:ext cx="25237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4E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de_mi_bolsillo  ·  medico_particular  ·  tuve_que_pagar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182112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182112"/>
            <a:ext cx="2743200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18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Rechazo/falla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4048" y="3584448"/>
            <a:ext cx="25237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4E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no_me_atendieron  ·  saturado  ·  urgencias_llenas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54680" y="3182112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3182112"/>
            <a:ext cx="2743200" cy="34747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3218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Impacto clínico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264408" y="3584448"/>
            <a:ext cx="25237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4E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fallecer  ·  morir  ·  intubado  ·  uci  ·  empeorar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3182112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3182112"/>
            <a:ext cx="27432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3218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Corrupción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44768" y="3584448"/>
            <a:ext cx="25237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4E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corrupcion  ·  mordida  ·  moche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74320" y="47274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Umbral: UMBRAL_QUEJA_PARA_ALTA = 1.5  →  equivale a detectar al menos 1 término del lexicon.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621792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Revisión Manual Interactiva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109728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¿Cuándo se activa?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7947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casos marcados bert_ambiguo (NEG sin señal sistémica suficiente) se presentan uno a uno en consola.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investigador los revisa con el contexto necesario para una decisión informada: texto original, probabilidades BERT y score de queja.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sesión puede detenerse con [q]. Los casos no revisados se exportan en cola_revision_*.json para tratarlos después.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estimado: 30-60 minutos para ~300 casos.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16052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051560"/>
            <a:ext cx="3977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 Caso 3/20 ──────────────────────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Texto   : [primeros 300 caracteres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del comentario original]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BERT    : NEG (prob_neg=0.84)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score_queja=0.0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etiqueta_orig=alta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Etiqueta [a/m/s/q]:  _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3337560"/>
            <a:ext cx="100584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3375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[a]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35661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5F46"/>
                </a:solidFill>
              </a:rPr>
              <a:t>alta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05856" y="3337560"/>
            <a:ext cx="1005840" cy="438912"/>
          </a:xfrm>
          <a:prstGeom prst="rect">
            <a:avLst/>
          </a:prstGeom>
          <a:solidFill>
            <a:srgbClr val="E0FAF5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05856" y="33375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A88A"/>
                </a:solidFill>
              </a:rPr>
              <a:t>[m]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05856" y="35661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A88A"/>
                </a:solidFill>
              </a:rPr>
              <a:t>media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48272" y="3337560"/>
            <a:ext cx="1005840" cy="438912"/>
          </a:xfrm>
          <a:prstGeom prst="rect">
            <a:avLst/>
          </a:prstGeom>
          <a:solidFill>
            <a:srgbClr val="E0F0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33375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4E80"/>
                </a:solidFill>
              </a:rPr>
              <a:t>[s]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48272" y="35661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4E80"/>
                </a:solidFill>
              </a:rPr>
              <a:t>saltar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90688" y="3337560"/>
            <a:ext cx="1005840" cy="438912"/>
          </a:xfrm>
          <a:prstGeom prst="rect">
            <a:avLst/>
          </a:prstGeom>
          <a:solidFill>
            <a:srgbClr val="FEE2E2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0688" y="33375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1D1D"/>
                </a:solidFill>
              </a:rPr>
              <a:t>[q]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90688" y="35661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1D1D"/>
                </a:solidFill>
              </a:rPr>
              <a:t>terminar sesión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63440" y="38862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MAX_REVISION = 400 casos máximos en la cola.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4251960"/>
            <a:ext cx="4160520" cy="621792"/>
          </a:xfrm>
          <a:prstGeom prst="rect">
            <a:avLst/>
          </a:prstGeom>
          <a:solidFill>
            <a:srgbClr val="EBF8F4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4251960"/>
            <a:ext cx="64008" cy="62179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4279392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casos no revisados conservan su etiqueta anterior y siempre se exportan para tratarlos después — no se pierden.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621792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Campos Añadidos al Dataset de Salida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4805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480560" cy="10972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 registro hereda todos los campos anteriores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añade: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429768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27632"/>
            <a:ext cx="41148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--- campos BERT nuevos ---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"sentimiento_bert":  "NEG",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"prob_neg":          0.8732,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"prob_pos":          0.0481,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"prob_neu":          0.0787,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"confianza_bert":    0.8732,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"sentimiento_num":   2,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--- relevancia actualizada ---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"relevancia":        "alta",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"relevancia_bert":   "alta",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"etiqueta_fuente":   "bert_queja",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"etiqueta_razon":    "NEG (0.87) + score=3.0",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"requiere_revision": false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0" y="10058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Valores de etiqueta_fuente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463040"/>
            <a:ext cx="3794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463040"/>
            <a:ext cx="64008" cy="59436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3792" y="150876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bert_auto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93792" y="174650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o NEU → asignado automáticamente como media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0" y="2148840"/>
            <a:ext cx="3794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0" y="2148840"/>
            <a:ext cx="64008" cy="5943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93792" y="219456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bert_queja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193792" y="243230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 + señal sistémica confirmada → alta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0" y="2834640"/>
            <a:ext cx="3794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2834640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3792" y="288036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forzado_media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193792" y="311810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de vacunación detectado → forzado a media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0" y="3520440"/>
            <a:ext cx="3794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0" y="3520440"/>
            <a:ext cx="64008" cy="59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93792" y="356616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bert_ambiguo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193792" y="380390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 sin señal clara → conserva etiqueta anterior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0" y="4206240"/>
            <a:ext cx="3794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0" y="4206240"/>
            <a:ext cx="64008" cy="594360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93792" y="425196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revisado_manual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193792" y="448970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Etiquetado manualmente en la sesión interactiva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49651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sentimiento_num: NEG=2 / NEU=1 / POS=0  →  feature numérica lista para vectorizar_v3.py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621792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Integración con vectorizar_v3.py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109728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Archivos generados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3657600" cy="1325880"/>
          </a:xfrm>
          <a:prstGeom prst="rect">
            <a:avLst/>
          </a:prstGeom>
          <a:solidFill>
            <a:srgbClr val="E0FAF5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600200"/>
            <a:ext cx="3657600" cy="109728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647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dataset_etiquetado_*.json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30552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completo con todos los campos BERT. Entrada directa para vectorizar_v3.py.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108960"/>
            <a:ext cx="3657600" cy="1325880"/>
          </a:xfrm>
          <a:prstGeom prst="rect">
            <a:avLst/>
          </a:prstGeom>
          <a:solidFill>
            <a:srgbClr val="FEF3C7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3108960"/>
            <a:ext cx="3657600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735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 cola_revision_*.json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639312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bert_ambiguo no resueltos. Revisarlos antes de incluirlos en conjuntos de entrenamiento supervisado.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96012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960120"/>
            <a:ext cx="4160520" cy="10972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11556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Añadir sentimiento_num en vectorizar_v3.py: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54880" y="1536192"/>
            <a:ext cx="397764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600200"/>
            <a:ext cx="37947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FEATURES_NUMERICAS = [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"polaridad_score",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"ifb_score",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"impacto_escala",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"num_palabras",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"peso_reddit",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"sentimiento_num",  # ← añadir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3547872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campo relevancia ya contiene etiquetas de alta calidad respaldadas por 60M tweets en español, con validación humana opcional.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del sistema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127101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BERT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158191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robertuito entrenado en 60M tweets es-MX — reconoce jerga, emojis y siglas mexicanas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13248" y="127101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Lógica híbrida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13248" y="158191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reglas en cascada combinan sentimiento BERT con score léxico sistémico para evitar falsos positivos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441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32688" y="238658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falsos positivos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2697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de vacunación informativa fuerzan media aunque el sentimiento sea NEG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441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🌲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13248" y="238658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Texto rico para BERT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13248" y="2697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comentario original con emojis y signos; el texto normalizado queda para TF-IDF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557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32688" y="350215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Trazabilidad total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381304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etiqueta_fuente documenta el origen exacto de cada etiqueta en el dataset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557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13248" y="350215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Cola de revisión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13248" y="381304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ambiguos exportados en JSON para revisión posterior sin perder datos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Auto-Etiquetador BERT — Salud Pública MX</dc:title>
  <dc:subject>PptxGenJS Presentation</dc:subject>
  <dc:creator>PptxGenJS</dc:creator>
  <cp:lastModifiedBy>PptxGenJS</cp:lastModifiedBy>
  <cp:revision>1</cp:revision>
  <dcterms:created xsi:type="dcterms:W3CDTF">2026-04-15T01:37:50Z</dcterms:created>
  <dcterms:modified xsi:type="dcterms:W3CDTF">2026-04-15T01:37:50Z</dcterms:modified>
</cp:coreProperties>
</file>