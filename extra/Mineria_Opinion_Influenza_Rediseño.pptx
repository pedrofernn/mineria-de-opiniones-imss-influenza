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D9488"/>
          </a:solidFill>
          <a:ln w="12700">
            <a:solidFill>
              <a:srgbClr val="0D9488"/>
            </a:solidFill>
            <a:prstDash val="solid"/>
          </a:ln>
        </p:spPr>
      </p:sp>
      <p:sp>
        <p:nvSpPr>
          <p:cNvPr id="3" name="Shape 1"/>
          <p:cNvSpPr/>
          <p:nvPr/>
        </p:nvSpPr>
        <p:spPr>
          <a:xfrm>
            <a:off x="6858000" y="-731520"/>
            <a:ext cx="3200400" cy="3200400"/>
          </a:xfrm>
          <a:prstGeom prst="ellipse">
            <a:avLst/>
          </a:prstGeom>
          <a:solidFill>
            <a:srgbClr val="0D9488">
              <a:alpha val="15000"/>
            </a:srgbClr>
          </a:solidFill>
          <a:ln w="12700">
            <a:solidFill>
              <a:srgbClr val="0D9488"/>
            </a:solidFill>
            <a:prstDash val="solid"/>
          </a:ln>
        </p:spPr>
      </p:sp>
      <p:sp>
        <p:nvSpPr>
          <p:cNvPr id="4" name="Shape 2"/>
          <p:cNvSpPr/>
          <p:nvPr/>
        </p:nvSpPr>
        <p:spPr>
          <a:xfrm>
            <a:off x="7772400" y="2286000"/>
            <a:ext cx="1828800" cy="1828800"/>
          </a:xfrm>
          <a:prstGeom prst="ellipse">
            <a:avLst/>
          </a:prstGeom>
          <a:solidFill>
            <a:srgbClr val="14B8A6">
              <a:alpha val="12000"/>
            </a:srgbClr>
          </a:solidFill>
          <a:ln w="12700">
            <a:solidFill>
              <a:srgbClr val="14B8A6"/>
            </a:solidFill>
            <a:prstDash val="solid"/>
          </a:ln>
        </p:spPr>
      </p:sp>
      <p:sp>
        <p:nvSpPr>
          <p:cNvPr id="5" name="Text 3"/>
          <p:cNvSpPr/>
          <p:nvPr/>
        </p:nvSpPr>
        <p:spPr>
          <a:xfrm>
            <a:off x="548640" y="777240"/>
            <a:ext cx="7772400" cy="685800"/>
          </a:xfrm>
          <a:prstGeom prst="rect">
            <a:avLst/>
          </a:prstGeom>
          <a:noFill/>
          <a:ln/>
        </p:spPr>
        <p:txBody>
          <a:bodyPr wrap="square" lIns="0" tIns="0" rIns="0" bIns="0" rtlCol="0" anchor="ctr"/>
          <a:lstStyle/>
          <a:p>
            <a:pPr indent="0" marL="0">
              <a:buNone/>
            </a:pPr>
            <a:r>
              <a:rPr lang="en-US" sz="3400" b="1" dirty="0">
                <a:solidFill>
                  <a:srgbClr val="F59E0B"/>
                </a:solidFill>
                <a:latin typeface="Calibri" pitchFamily="34" charset="0"/>
                <a:ea typeface="Calibri" pitchFamily="34" charset="-122"/>
                <a:cs typeface="Calibri" pitchFamily="34" charset="-120"/>
              </a:rPr>
              <a:t>Minería de Datos:</a:t>
            </a:r>
            <a:endParaRPr lang="en-US" sz="3400" dirty="0"/>
          </a:p>
        </p:txBody>
      </p:sp>
      <p:sp>
        <p:nvSpPr>
          <p:cNvPr id="6" name="Text 4"/>
          <p:cNvSpPr/>
          <p:nvPr/>
        </p:nvSpPr>
        <p:spPr>
          <a:xfrm>
            <a:off x="548640" y="1417320"/>
            <a:ext cx="777240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La ineficiencia del sector público</a:t>
            </a:r>
            <a:endParaRPr lang="en-US" sz="3000" dirty="0"/>
          </a:p>
        </p:txBody>
      </p:sp>
      <p:sp>
        <p:nvSpPr>
          <p:cNvPr id="7" name="Text 5"/>
          <p:cNvSpPr/>
          <p:nvPr/>
        </p:nvSpPr>
        <p:spPr>
          <a:xfrm>
            <a:off x="548640" y="2011680"/>
            <a:ext cx="777240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ante la influenza</a:t>
            </a:r>
            <a:endParaRPr lang="en-US" sz="3000" dirty="0"/>
          </a:p>
        </p:txBody>
      </p:sp>
      <p:sp>
        <p:nvSpPr>
          <p:cNvPr id="8" name="Text 6"/>
          <p:cNvSpPr/>
          <p:nvPr/>
        </p:nvSpPr>
        <p:spPr>
          <a:xfrm>
            <a:off x="548640" y="2788920"/>
            <a:ext cx="6400800" cy="365760"/>
          </a:xfrm>
          <a:prstGeom prst="rect">
            <a:avLst/>
          </a:prstGeom>
          <a:noFill/>
          <a:ln/>
        </p:spPr>
        <p:txBody>
          <a:bodyPr wrap="square" lIns="0" tIns="0" rIns="0" bIns="0" rtlCol="0" anchor="ctr"/>
          <a:lstStyle/>
          <a:p>
            <a:pPr indent="0" marL="0">
              <a:buNone/>
            </a:pPr>
            <a:r>
              <a:rPr lang="en-US" sz="1400" i="1" dirty="0">
                <a:solidFill>
                  <a:srgbClr val="14B8A6"/>
                </a:solidFill>
                <a:latin typeface="Calibri" pitchFamily="34" charset="0"/>
                <a:ea typeface="Calibri" pitchFamily="34" charset="-122"/>
                <a:cs typeface="Calibri" pitchFamily="34" charset="-120"/>
              </a:rPr>
              <a:t>El Caso del Sistema de Salud en México</a:t>
            </a:r>
            <a:endParaRPr lang="en-US" sz="1400" dirty="0"/>
          </a:p>
        </p:txBody>
      </p:sp>
      <p:sp>
        <p:nvSpPr>
          <p:cNvPr id="9" name="Shape 7"/>
          <p:cNvSpPr/>
          <p:nvPr/>
        </p:nvSpPr>
        <p:spPr>
          <a:xfrm>
            <a:off x="548640" y="3246120"/>
            <a:ext cx="4114800" cy="22860"/>
          </a:xfrm>
          <a:prstGeom prst="rect">
            <a:avLst/>
          </a:prstGeom>
          <a:solidFill>
            <a:srgbClr val="64748B"/>
          </a:solidFill>
          <a:ln w="12700">
            <a:solidFill>
              <a:srgbClr val="64748B"/>
            </a:solidFill>
            <a:prstDash val="solid"/>
          </a:ln>
        </p:spPr>
      </p:sp>
      <p:sp>
        <p:nvSpPr>
          <p:cNvPr id="10" name="Text 8"/>
          <p:cNvSpPr/>
          <p:nvPr/>
        </p:nvSpPr>
        <p:spPr>
          <a:xfrm>
            <a:off x="548640" y="3401568"/>
            <a:ext cx="548640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Pedro Fernandez Jiménez</a:t>
            </a:r>
            <a:endParaRPr lang="en-US" sz="1100" dirty="0"/>
          </a:p>
        </p:txBody>
      </p:sp>
      <p:sp>
        <p:nvSpPr>
          <p:cNvPr id="11" name="Text 9"/>
          <p:cNvSpPr/>
          <p:nvPr/>
        </p:nvSpPr>
        <p:spPr>
          <a:xfrm>
            <a:off x="548640" y="3694176"/>
            <a:ext cx="548640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Jesus Alberto Alpirez Vargas</a:t>
            </a:r>
            <a:endParaRPr lang="en-US" sz="1100" dirty="0"/>
          </a:p>
        </p:txBody>
      </p:sp>
      <p:sp>
        <p:nvSpPr>
          <p:cNvPr id="12" name="Text 10"/>
          <p:cNvSpPr/>
          <p:nvPr/>
        </p:nvSpPr>
        <p:spPr>
          <a:xfrm>
            <a:off x="548640" y="3986784"/>
            <a:ext cx="548640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Jose Emmanuel Muñoz de Jesus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256032"/>
            <a:ext cx="2386584" cy="237744"/>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2386584" cy="237744"/>
          </a:xfrm>
          <a:prstGeom prst="rect">
            <a:avLst/>
          </a:prstGeom>
          <a:noFill/>
          <a:ln/>
        </p:spPr>
        <p:txBody>
          <a:bodyPr wrap="square" lIns="0" tIns="0" rIns="0" bIns="0" rtlCol="0" anchor="ctr"/>
          <a:lstStyle/>
          <a:p>
            <a:pPr algn="ctr" indent="0" marL="0">
              <a:buNone/>
            </a:pPr>
            <a:r>
              <a:rPr lang="en-US" sz="800" b="1" dirty="0">
                <a:solidFill>
                  <a:srgbClr val="FFFFFF"/>
                </a:solidFill>
              </a:rPr>
              <a:t>BRECHA DE INFORMACIÓN</a:t>
            </a:r>
            <a:endParaRPr lang="en-US" sz="800" dirty="0"/>
          </a:p>
        </p:txBody>
      </p:sp>
      <p:sp>
        <p:nvSpPr>
          <p:cNvPr id="4" name="Text 2"/>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¿Qué miden los reportes oficiales y qué se queda sin medir?</a:t>
            </a:r>
            <a:endParaRPr lang="en-US" sz="2600" dirty="0"/>
          </a:p>
        </p:txBody>
      </p:sp>
      <p:sp>
        <p:nvSpPr>
          <p:cNvPr id="5" name="Shape 3"/>
          <p:cNvSpPr/>
          <p:nvPr/>
        </p:nvSpPr>
        <p:spPr>
          <a:xfrm>
            <a:off x="365760" y="1280160"/>
            <a:ext cx="3931920" cy="2286000"/>
          </a:xfrm>
          <a:prstGeom prst="rect">
            <a:avLst>
              <a:gd name="adj" fmla="val 2000"/>
            </a:avLst>
          </a:prstGeom>
          <a:solidFill>
            <a:srgbClr val="142030"/>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6" name="Shape 4"/>
          <p:cNvSpPr/>
          <p:nvPr/>
        </p:nvSpPr>
        <p:spPr>
          <a:xfrm>
            <a:off x="365760" y="1280160"/>
            <a:ext cx="3931920" cy="347472"/>
          </a:xfrm>
          <a:prstGeom prst="rect">
            <a:avLst/>
          </a:prstGeom>
          <a:solidFill>
            <a:srgbClr val="0D9488"/>
          </a:solidFill>
          <a:ln w="12700">
            <a:solidFill>
              <a:srgbClr val="0D9488"/>
            </a:solidFill>
            <a:prstDash val="solid"/>
          </a:ln>
        </p:spPr>
      </p:sp>
      <p:sp>
        <p:nvSpPr>
          <p:cNvPr id="7" name="Text 5"/>
          <p:cNvSpPr/>
          <p:nvPr/>
        </p:nvSpPr>
        <p:spPr>
          <a:xfrm>
            <a:off x="502920" y="1280160"/>
            <a:ext cx="3657600" cy="347472"/>
          </a:xfrm>
          <a:prstGeom prst="rect">
            <a:avLst/>
          </a:prstGeom>
          <a:noFill/>
          <a:ln/>
        </p:spPr>
        <p:txBody>
          <a:bodyPr wrap="square" lIns="0" tIns="0" rIns="0" bIns="0" rtlCol="0" anchor="ctr"/>
          <a:lstStyle/>
          <a:p>
            <a:pPr indent="0" marL="0">
              <a:buNone/>
            </a:pPr>
            <a:r>
              <a:rPr lang="en-US" sz="1100" b="1" dirty="0">
                <a:solidFill>
                  <a:srgbClr val="FFFFFF"/>
                </a:solidFill>
              </a:rPr>
              <a:t>Lo que el Gobierno mide (SINAVE)</a:t>
            </a:r>
            <a:endParaRPr lang="en-US" sz="1100" dirty="0"/>
          </a:p>
        </p:txBody>
      </p:sp>
      <p:sp>
        <p:nvSpPr>
          <p:cNvPr id="8" name="Shape 6"/>
          <p:cNvSpPr/>
          <p:nvPr/>
        </p:nvSpPr>
        <p:spPr>
          <a:xfrm>
            <a:off x="530352" y="1783080"/>
            <a:ext cx="109728" cy="109728"/>
          </a:xfrm>
          <a:prstGeom prst="ellipse">
            <a:avLst/>
          </a:prstGeom>
          <a:solidFill>
            <a:srgbClr val="14B8A6"/>
          </a:solidFill>
          <a:ln w="12700">
            <a:solidFill>
              <a:srgbClr val="14B8A6"/>
            </a:solidFill>
            <a:prstDash val="solid"/>
          </a:ln>
        </p:spPr>
      </p:sp>
      <p:sp>
        <p:nvSpPr>
          <p:cNvPr id="9" name="Text 7"/>
          <p:cNvSpPr/>
          <p:nvPr/>
        </p:nvSpPr>
        <p:spPr>
          <a:xfrm>
            <a:off x="749808" y="1737360"/>
            <a:ext cx="3383280" cy="320040"/>
          </a:xfrm>
          <a:prstGeom prst="rect">
            <a:avLst/>
          </a:prstGeom>
          <a:noFill/>
          <a:ln/>
        </p:spPr>
        <p:txBody>
          <a:bodyPr wrap="square" lIns="0" tIns="0" rIns="0" bIns="0" rtlCol="0" anchor="ctr"/>
          <a:lstStyle/>
          <a:p>
            <a:pPr indent="0" marL="0">
              <a:buNone/>
            </a:pPr>
            <a:r>
              <a:rPr lang="en-US" sz="1100" dirty="0">
                <a:solidFill>
                  <a:srgbClr val="CBD5E1"/>
                </a:solidFill>
              </a:rPr>
              <a:t>Número de casos confirmados</a:t>
            </a:r>
            <a:endParaRPr lang="en-US" sz="1100" dirty="0"/>
          </a:p>
        </p:txBody>
      </p:sp>
      <p:sp>
        <p:nvSpPr>
          <p:cNvPr id="10" name="Shape 8"/>
          <p:cNvSpPr/>
          <p:nvPr/>
        </p:nvSpPr>
        <p:spPr>
          <a:xfrm>
            <a:off x="530352" y="2167128"/>
            <a:ext cx="109728" cy="109728"/>
          </a:xfrm>
          <a:prstGeom prst="ellipse">
            <a:avLst/>
          </a:prstGeom>
          <a:solidFill>
            <a:srgbClr val="14B8A6"/>
          </a:solidFill>
          <a:ln w="12700">
            <a:solidFill>
              <a:srgbClr val="14B8A6"/>
            </a:solidFill>
            <a:prstDash val="solid"/>
          </a:ln>
        </p:spPr>
      </p:sp>
      <p:sp>
        <p:nvSpPr>
          <p:cNvPr id="11" name="Text 9"/>
          <p:cNvSpPr/>
          <p:nvPr/>
        </p:nvSpPr>
        <p:spPr>
          <a:xfrm>
            <a:off x="749808" y="2121408"/>
            <a:ext cx="3383280" cy="320040"/>
          </a:xfrm>
          <a:prstGeom prst="rect">
            <a:avLst/>
          </a:prstGeom>
          <a:noFill/>
          <a:ln/>
        </p:spPr>
        <p:txBody>
          <a:bodyPr wrap="square" lIns="0" tIns="0" rIns="0" bIns="0" rtlCol="0" anchor="ctr"/>
          <a:lstStyle/>
          <a:p>
            <a:pPr indent="0" marL="0">
              <a:buNone/>
            </a:pPr>
            <a:r>
              <a:rPr lang="en-US" sz="1100" dirty="0">
                <a:solidFill>
                  <a:srgbClr val="CBD5E1"/>
                </a:solidFill>
              </a:rPr>
              <a:t>Camas ocupadas</a:t>
            </a:r>
            <a:endParaRPr lang="en-US" sz="1100" dirty="0"/>
          </a:p>
        </p:txBody>
      </p:sp>
      <p:sp>
        <p:nvSpPr>
          <p:cNvPr id="12" name="Shape 10"/>
          <p:cNvSpPr/>
          <p:nvPr/>
        </p:nvSpPr>
        <p:spPr>
          <a:xfrm>
            <a:off x="530352" y="2551176"/>
            <a:ext cx="109728" cy="109728"/>
          </a:xfrm>
          <a:prstGeom prst="ellipse">
            <a:avLst/>
          </a:prstGeom>
          <a:solidFill>
            <a:srgbClr val="14B8A6"/>
          </a:solidFill>
          <a:ln w="12700">
            <a:solidFill>
              <a:srgbClr val="14B8A6"/>
            </a:solidFill>
            <a:prstDash val="solid"/>
          </a:ln>
        </p:spPr>
      </p:sp>
      <p:sp>
        <p:nvSpPr>
          <p:cNvPr id="13" name="Text 11"/>
          <p:cNvSpPr/>
          <p:nvPr/>
        </p:nvSpPr>
        <p:spPr>
          <a:xfrm>
            <a:off x="749808" y="2505456"/>
            <a:ext cx="3383280" cy="320040"/>
          </a:xfrm>
          <a:prstGeom prst="rect">
            <a:avLst/>
          </a:prstGeom>
          <a:noFill/>
          <a:ln/>
        </p:spPr>
        <p:txBody>
          <a:bodyPr wrap="square" lIns="0" tIns="0" rIns="0" bIns="0" rtlCol="0" anchor="ctr"/>
          <a:lstStyle/>
          <a:p>
            <a:pPr indent="0" marL="0">
              <a:buNone/>
            </a:pPr>
            <a:r>
              <a:rPr lang="en-US" sz="1100" dirty="0">
                <a:solidFill>
                  <a:srgbClr val="CBD5E1"/>
                </a:solidFill>
              </a:rPr>
              <a:t>Defunciones registradas</a:t>
            </a:r>
            <a:endParaRPr lang="en-US" sz="1100" dirty="0"/>
          </a:p>
        </p:txBody>
      </p:sp>
      <p:sp>
        <p:nvSpPr>
          <p:cNvPr id="14" name="Shape 12"/>
          <p:cNvSpPr/>
          <p:nvPr/>
        </p:nvSpPr>
        <p:spPr>
          <a:xfrm>
            <a:off x="530352" y="2935224"/>
            <a:ext cx="109728" cy="109728"/>
          </a:xfrm>
          <a:prstGeom prst="ellipse">
            <a:avLst/>
          </a:prstGeom>
          <a:solidFill>
            <a:srgbClr val="14B8A6"/>
          </a:solidFill>
          <a:ln w="12700">
            <a:solidFill>
              <a:srgbClr val="14B8A6"/>
            </a:solidFill>
            <a:prstDash val="solid"/>
          </a:ln>
        </p:spPr>
      </p:sp>
      <p:sp>
        <p:nvSpPr>
          <p:cNvPr id="15" name="Text 13"/>
          <p:cNvSpPr/>
          <p:nvPr/>
        </p:nvSpPr>
        <p:spPr>
          <a:xfrm>
            <a:off x="749808" y="2889504"/>
            <a:ext cx="3383280" cy="320040"/>
          </a:xfrm>
          <a:prstGeom prst="rect">
            <a:avLst/>
          </a:prstGeom>
          <a:noFill/>
          <a:ln/>
        </p:spPr>
        <p:txBody>
          <a:bodyPr wrap="square" lIns="0" tIns="0" rIns="0" bIns="0" rtlCol="0" anchor="ctr"/>
          <a:lstStyle/>
          <a:p>
            <a:pPr indent="0" marL="0">
              <a:buNone/>
            </a:pPr>
            <a:r>
              <a:rPr lang="en-US" sz="1100" dirty="0">
                <a:solidFill>
                  <a:srgbClr val="CBD5E1"/>
                </a:solidFill>
              </a:rPr>
              <a:t>Medicamentos entregados</a:t>
            </a:r>
            <a:endParaRPr lang="en-US" sz="1100" dirty="0"/>
          </a:p>
        </p:txBody>
      </p:sp>
      <p:sp>
        <p:nvSpPr>
          <p:cNvPr id="16" name="Shape 14"/>
          <p:cNvSpPr/>
          <p:nvPr/>
        </p:nvSpPr>
        <p:spPr>
          <a:xfrm>
            <a:off x="4663440" y="1280160"/>
            <a:ext cx="3931920" cy="2286000"/>
          </a:xfrm>
          <a:prstGeom prst="rect">
            <a:avLst>
              <a:gd name="adj" fmla="val 2000"/>
            </a:avLst>
          </a:prstGeom>
          <a:solidFill>
            <a:srgbClr val="1A142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7" name="Shape 15"/>
          <p:cNvSpPr/>
          <p:nvPr/>
        </p:nvSpPr>
        <p:spPr>
          <a:xfrm>
            <a:off x="4663440" y="1280160"/>
            <a:ext cx="3931920" cy="347472"/>
          </a:xfrm>
          <a:prstGeom prst="rect">
            <a:avLst/>
          </a:prstGeom>
          <a:solidFill>
            <a:srgbClr val="F43F5E"/>
          </a:solidFill>
          <a:ln w="12700">
            <a:solidFill>
              <a:srgbClr val="F43F5E"/>
            </a:solidFill>
            <a:prstDash val="solid"/>
          </a:ln>
        </p:spPr>
      </p:sp>
      <p:sp>
        <p:nvSpPr>
          <p:cNvPr id="18" name="Text 16"/>
          <p:cNvSpPr/>
          <p:nvPr/>
        </p:nvSpPr>
        <p:spPr>
          <a:xfrm>
            <a:off x="4800600" y="1280160"/>
            <a:ext cx="3657600" cy="347472"/>
          </a:xfrm>
          <a:prstGeom prst="rect">
            <a:avLst/>
          </a:prstGeom>
          <a:noFill/>
          <a:ln/>
        </p:spPr>
        <p:txBody>
          <a:bodyPr wrap="square" lIns="0" tIns="0" rIns="0" bIns="0" rtlCol="0" anchor="ctr"/>
          <a:lstStyle/>
          <a:p>
            <a:pPr indent="0" marL="0">
              <a:buNone/>
            </a:pPr>
            <a:r>
              <a:rPr lang="en-US" sz="1100" b="1" dirty="0">
                <a:solidFill>
                  <a:srgbClr val="FFFFFF"/>
                </a:solidFill>
              </a:rPr>
              <a:t>Lo que el paciente realmente vive</a:t>
            </a:r>
            <a:endParaRPr lang="en-US" sz="1100" dirty="0"/>
          </a:p>
        </p:txBody>
      </p:sp>
      <p:sp>
        <p:nvSpPr>
          <p:cNvPr id="19" name="Shape 17"/>
          <p:cNvSpPr/>
          <p:nvPr/>
        </p:nvSpPr>
        <p:spPr>
          <a:xfrm>
            <a:off x="4828032" y="1783080"/>
            <a:ext cx="109728" cy="109728"/>
          </a:xfrm>
          <a:prstGeom prst="ellipse">
            <a:avLst/>
          </a:prstGeom>
          <a:solidFill>
            <a:srgbClr val="F43F5E"/>
          </a:solidFill>
          <a:ln w="12700">
            <a:solidFill>
              <a:srgbClr val="F43F5E"/>
            </a:solidFill>
            <a:prstDash val="solid"/>
          </a:ln>
        </p:spPr>
      </p:sp>
      <p:sp>
        <p:nvSpPr>
          <p:cNvPr id="20" name="Text 18"/>
          <p:cNvSpPr/>
          <p:nvPr/>
        </p:nvSpPr>
        <p:spPr>
          <a:xfrm>
            <a:off x="5047488" y="1737360"/>
            <a:ext cx="3383280" cy="320040"/>
          </a:xfrm>
          <a:prstGeom prst="rect">
            <a:avLst/>
          </a:prstGeom>
          <a:noFill/>
          <a:ln/>
        </p:spPr>
        <p:txBody>
          <a:bodyPr wrap="square" lIns="0" tIns="0" rIns="0" bIns="0" rtlCol="0" anchor="ctr"/>
          <a:lstStyle/>
          <a:p>
            <a:pPr indent="0" marL="0">
              <a:buNone/>
            </a:pPr>
            <a:r>
              <a:rPr lang="en-US" sz="1100" dirty="0">
                <a:solidFill>
                  <a:srgbClr val="CBD5E1"/>
                </a:solidFill>
              </a:rPr>
              <a:t>Horas de espera en urgencias</a:t>
            </a:r>
            <a:endParaRPr lang="en-US" sz="1100" dirty="0"/>
          </a:p>
        </p:txBody>
      </p:sp>
      <p:sp>
        <p:nvSpPr>
          <p:cNvPr id="21" name="Shape 19"/>
          <p:cNvSpPr/>
          <p:nvPr/>
        </p:nvSpPr>
        <p:spPr>
          <a:xfrm>
            <a:off x="4828032" y="2167128"/>
            <a:ext cx="109728" cy="109728"/>
          </a:xfrm>
          <a:prstGeom prst="ellipse">
            <a:avLst/>
          </a:prstGeom>
          <a:solidFill>
            <a:srgbClr val="F43F5E"/>
          </a:solidFill>
          <a:ln w="12700">
            <a:solidFill>
              <a:srgbClr val="F43F5E"/>
            </a:solidFill>
            <a:prstDash val="solid"/>
          </a:ln>
        </p:spPr>
      </p:sp>
      <p:sp>
        <p:nvSpPr>
          <p:cNvPr id="22" name="Text 20"/>
          <p:cNvSpPr/>
          <p:nvPr/>
        </p:nvSpPr>
        <p:spPr>
          <a:xfrm>
            <a:off x="5047488" y="2121408"/>
            <a:ext cx="3383280" cy="320040"/>
          </a:xfrm>
          <a:prstGeom prst="rect">
            <a:avLst/>
          </a:prstGeom>
          <a:noFill/>
          <a:ln/>
        </p:spPr>
        <p:txBody>
          <a:bodyPr wrap="square" lIns="0" tIns="0" rIns="0" bIns="0" rtlCol="0" anchor="ctr"/>
          <a:lstStyle/>
          <a:p>
            <a:pPr indent="0" marL="0">
              <a:buNone/>
            </a:pPr>
            <a:r>
              <a:rPr lang="en-US" sz="1100" dirty="0">
                <a:solidFill>
                  <a:srgbClr val="CBD5E1"/>
                </a:solidFill>
              </a:rPr>
              <a:t>Rechazo por falta de insumos</a:t>
            </a:r>
            <a:endParaRPr lang="en-US" sz="1100" dirty="0"/>
          </a:p>
        </p:txBody>
      </p:sp>
      <p:sp>
        <p:nvSpPr>
          <p:cNvPr id="23" name="Shape 21"/>
          <p:cNvSpPr/>
          <p:nvPr/>
        </p:nvSpPr>
        <p:spPr>
          <a:xfrm>
            <a:off x="4828032" y="2551176"/>
            <a:ext cx="109728" cy="109728"/>
          </a:xfrm>
          <a:prstGeom prst="ellipse">
            <a:avLst/>
          </a:prstGeom>
          <a:solidFill>
            <a:srgbClr val="F43F5E"/>
          </a:solidFill>
          <a:ln w="12700">
            <a:solidFill>
              <a:srgbClr val="F43F5E"/>
            </a:solidFill>
            <a:prstDash val="solid"/>
          </a:ln>
        </p:spPr>
      </p:sp>
      <p:sp>
        <p:nvSpPr>
          <p:cNvPr id="24" name="Text 22"/>
          <p:cNvSpPr/>
          <p:nvPr/>
        </p:nvSpPr>
        <p:spPr>
          <a:xfrm>
            <a:off x="5047488" y="2505456"/>
            <a:ext cx="3383280" cy="320040"/>
          </a:xfrm>
          <a:prstGeom prst="rect">
            <a:avLst/>
          </a:prstGeom>
          <a:noFill/>
          <a:ln/>
        </p:spPr>
        <p:txBody>
          <a:bodyPr wrap="square" lIns="0" tIns="0" rIns="0" bIns="0" rtlCol="0" anchor="ctr"/>
          <a:lstStyle/>
          <a:p>
            <a:pPr indent="0" marL="0">
              <a:buNone/>
            </a:pPr>
            <a:r>
              <a:rPr lang="en-US" sz="1100" dirty="0">
                <a:solidFill>
                  <a:srgbClr val="CBD5E1"/>
                </a:solidFill>
              </a:rPr>
              <a:t>Percepción de negligencia o corrupción</a:t>
            </a:r>
            <a:endParaRPr lang="en-US" sz="1100" dirty="0"/>
          </a:p>
        </p:txBody>
      </p:sp>
      <p:sp>
        <p:nvSpPr>
          <p:cNvPr id="25" name="Shape 23"/>
          <p:cNvSpPr/>
          <p:nvPr/>
        </p:nvSpPr>
        <p:spPr>
          <a:xfrm>
            <a:off x="4828032" y="2935224"/>
            <a:ext cx="109728" cy="109728"/>
          </a:xfrm>
          <a:prstGeom prst="ellipse">
            <a:avLst/>
          </a:prstGeom>
          <a:solidFill>
            <a:srgbClr val="F43F5E"/>
          </a:solidFill>
          <a:ln w="12700">
            <a:solidFill>
              <a:srgbClr val="F43F5E"/>
            </a:solidFill>
            <a:prstDash val="solid"/>
          </a:ln>
        </p:spPr>
      </p:sp>
      <p:sp>
        <p:nvSpPr>
          <p:cNvPr id="26" name="Text 24"/>
          <p:cNvSpPr/>
          <p:nvPr/>
        </p:nvSpPr>
        <p:spPr>
          <a:xfrm>
            <a:off x="5047488" y="2889504"/>
            <a:ext cx="3383280" cy="320040"/>
          </a:xfrm>
          <a:prstGeom prst="rect">
            <a:avLst/>
          </a:prstGeom>
          <a:noFill/>
          <a:ln/>
        </p:spPr>
        <p:txBody>
          <a:bodyPr wrap="square" lIns="0" tIns="0" rIns="0" bIns="0" rtlCol="0" anchor="ctr"/>
          <a:lstStyle/>
          <a:p>
            <a:pPr indent="0" marL="0">
              <a:buNone/>
            </a:pPr>
            <a:r>
              <a:rPr lang="en-US" sz="1100" dirty="0">
                <a:solidFill>
                  <a:srgbClr val="CBD5E1"/>
                </a:solidFill>
              </a:rPr>
              <a:t>Gasto de bolsillo por desabasto</a:t>
            </a:r>
            <a:endParaRPr lang="en-US" sz="1100" dirty="0"/>
          </a:p>
        </p:txBody>
      </p:sp>
      <p:sp>
        <p:nvSpPr>
          <p:cNvPr id="27" name="Shape 25"/>
          <p:cNvSpPr/>
          <p:nvPr/>
        </p:nvSpPr>
        <p:spPr>
          <a:xfrm>
            <a:off x="365760" y="3703320"/>
            <a:ext cx="8229600" cy="566928"/>
          </a:xfrm>
          <a:prstGeom prst="rect">
            <a:avLst/>
          </a:prstGeom>
          <a:solidFill>
            <a:srgbClr val="F59E0B">
              <a:alpha val="85000"/>
            </a:srgbClr>
          </a:solidFill>
          <a:ln w="12700">
            <a:solidFill>
              <a:srgbClr val="F59E0B"/>
            </a:solidFill>
            <a:prstDash val="solid"/>
          </a:ln>
        </p:spPr>
      </p:sp>
      <p:sp>
        <p:nvSpPr>
          <p:cNvPr id="28" name="Text 26"/>
          <p:cNvSpPr/>
          <p:nvPr/>
        </p:nvSpPr>
        <p:spPr>
          <a:xfrm>
            <a:off x="548640" y="3730752"/>
            <a:ext cx="1097280" cy="512064"/>
          </a:xfrm>
          <a:prstGeom prst="rect">
            <a:avLst/>
          </a:prstGeom>
          <a:noFill/>
          <a:ln/>
        </p:spPr>
        <p:txBody>
          <a:bodyPr wrap="square" lIns="0" tIns="0" rIns="0" bIns="0" rtlCol="0" anchor="ctr"/>
          <a:lstStyle/>
          <a:p>
            <a:pPr indent="0" marL="0">
              <a:buNone/>
            </a:pPr>
            <a:r>
              <a:rPr lang="en-US" sz="800" b="1" dirty="0">
                <a:solidFill>
                  <a:srgbClr val="F59E0B"/>
                </a:solidFill>
              </a:rPr>
              <a:t>DATO CLAVE</a:t>
            </a:r>
            <a:endParaRPr lang="en-US" sz="800" dirty="0"/>
          </a:p>
        </p:txBody>
      </p:sp>
      <p:sp>
        <p:nvSpPr>
          <p:cNvPr id="29" name="Text 27"/>
          <p:cNvSpPr/>
          <p:nvPr/>
        </p:nvSpPr>
        <p:spPr>
          <a:xfrm>
            <a:off x="1737360" y="3730752"/>
            <a:ext cx="6675120" cy="512064"/>
          </a:xfrm>
          <a:prstGeom prst="rect">
            <a:avLst/>
          </a:prstGeom>
          <a:noFill/>
          <a:ln/>
        </p:spPr>
        <p:txBody>
          <a:bodyPr wrap="square" lIns="0" tIns="0" rIns="0" bIns="0" rtlCol="0" anchor="ctr"/>
          <a:lstStyle/>
          <a:p>
            <a:pPr indent="0" marL="0">
              <a:buNone/>
            </a:pPr>
            <a:r>
              <a:rPr lang="en-US" sz="1050" dirty="0">
                <a:solidFill>
                  <a:srgbClr val="FFFFFF"/>
                </a:solidFill>
              </a:rPr>
              <a:t>El 83% de los pacientes graves de influenza A/H1N1 llegaron al hospital fuera de la ventana terapéutica óptima (&gt;72h desde inicio de síntomas).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0" y="731520"/>
            <a:ext cx="9144000" cy="1828800"/>
          </a:xfrm>
          <a:prstGeom prst="rect">
            <a:avLst/>
          </a:prstGeom>
          <a:noFill/>
          <a:ln/>
        </p:spPr>
        <p:txBody>
          <a:bodyPr wrap="square" lIns="0" tIns="0" rIns="0" bIns="0" rtlCol="0" anchor="ctr"/>
          <a:lstStyle/>
          <a:p>
            <a:pPr algn="ctr" indent="0" marL="0">
              <a:buNone/>
            </a:pPr>
            <a:r>
              <a:rPr lang="en-US" sz="12000" b="1" dirty="0">
                <a:solidFill>
                  <a:srgbClr val="0D9488">
                    <a:alpha val="8000"/>
                  </a:srgbClr>
                </a:solidFill>
              </a:rPr>
              <a:t>OBJETIVO</a:t>
            </a:r>
            <a:endParaRPr lang="en-US" sz="12000" dirty="0"/>
          </a:p>
        </p:txBody>
      </p:sp>
      <p:sp>
        <p:nvSpPr>
          <p:cNvPr id="3" name="Shape 1"/>
          <p:cNvSpPr/>
          <p:nvPr/>
        </p:nvSpPr>
        <p:spPr>
          <a:xfrm>
            <a:off x="457200" y="256032"/>
            <a:ext cx="2788920" cy="237744"/>
          </a:xfrm>
          <a:prstGeom prst="roundRect">
            <a:avLst>
              <a:gd name="adj" fmla="val 50000"/>
            </a:avLst>
          </a:prstGeom>
          <a:solidFill>
            <a:srgbClr val="0D9488"/>
          </a:solidFill>
          <a:ln w="12700">
            <a:solidFill>
              <a:srgbClr val="0D9488"/>
            </a:solidFill>
            <a:prstDash val="solid"/>
          </a:ln>
        </p:spPr>
      </p:sp>
      <p:sp>
        <p:nvSpPr>
          <p:cNvPr id="4" name="Text 2"/>
          <p:cNvSpPr/>
          <p:nvPr/>
        </p:nvSpPr>
        <p:spPr>
          <a:xfrm>
            <a:off x="457200" y="256032"/>
            <a:ext cx="2788920" cy="237744"/>
          </a:xfrm>
          <a:prstGeom prst="rect">
            <a:avLst/>
          </a:prstGeom>
          <a:noFill/>
          <a:ln/>
        </p:spPr>
        <p:txBody>
          <a:bodyPr wrap="square" lIns="0" tIns="0" rIns="0" bIns="0" rtlCol="0" anchor="ctr"/>
          <a:lstStyle/>
          <a:p>
            <a:pPr algn="ctr" indent="0" marL="0">
              <a:buNone/>
            </a:pPr>
            <a:r>
              <a:rPr lang="en-US" sz="800" b="1" dirty="0">
                <a:solidFill>
                  <a:srgbClr val="FFFFFF"/>
                </a:solidFill>
              </a:rPr>
              <a:t>PREGUNTA DE INVESTIGACIÓN</a:t>
            </a:r>
            <a:endParaRPr lang="en-US" sz="800" dirty="0"/>
          </a:p>
        </p:txBody>
      </p:sp>
      <p:sp>
        <p:nvSpPr>
          <p:cNvPr id="5" name="Text 3"/>
          <p:cNvSpPr/>
          <p:nvPr/>
        </p:nvSpPr>
        <p:spPr>
          <a:xfrm>
            <a:off x="548640" y="548640"/>
            <a:ext cx="7772400" cy="10058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¿Qué nos propusimos lograr</a:t>
            </a:r>
            <a:endParaRPr lang="en-US" sz="2800" dirty="0"/>
          </a:p>
          <a:p>
            <a:pPr indent="0" marL="0">
              <a:buNone/>
            </a:pPr>
            <a:r>
              <a:rPr lang="en-US" sz="2800" b="1" dirty="0">
                <a:solidFill>
                  <a:srgbClr val="FFFFFF"/>
                </a:solidFill>
                <a:latin typeface="Calibri" pitchFamily="34" charset="0"/>
                <a:ea typeface="Calibri" pitchFamily="34" charset="-122"/>
                <a:cs typeface="Calibri" pitchFamily="34" charset="-120"/>
              </a:rPr>
              <a:t>con esta investigación?</a:t>
            </a:r>
            <a:endParaRPr lang="en-US" sz="2800" dirty="0"/>
          </a:p>
        </p:txBody>
      </p:sp>
      <p:sp>
        <p:nvSpPr>
          <p:cNvPr id="6" name="Shape 4"/>
          <p:cNvSpPr/>
          <p:nvPr/>
        </p:nvSpPr>
        <p:spPr>
          <a:xfrm>
            <a:off x="731520" y="1783080"/>
            <a:ext cx="7772400" cy="1828800"/>
          </a:xfrm>
          <a:prstGeom prst="rect">
            <a:avLst>
              <a:gd name="adj" fmla="val 2500"/>
            </a:avLst>
          </a:prstGeom>
          <a:solidFill>
            <a:srgbClr val="162032"/>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7" name="Shape 5"/>
          <p:cNvSpPr/>
          <p:nvPr/>
        </p:nvSpPr>
        <p:spPr>
          <a:xfrm>
            <a:off x="731520" y="1783080"/>
            <a:ext cx="54864" cy="1828800"/>
          </a:xfrm>
          <a:prstGeom prst="rect">
            <a:avLst/>
          </a:prstGeom>
          <a:solidFill>
            <a:srgbClr val="0D9488"/>
          </a:solidFill>
          <a:ln w="12700">
            <a:solidFill>
              <a:srgbClr val="0D9488"/>
            </a:solidFill>
            <a:prstDash val="solid"/>
          </a:ln>
        </p:spPr>
      </p:sp>
      <p:sp>
        <p:nvSpPr>
          <p:cNvPr id="8" name="Text 6"/>
          <p:cNvSpPr/>
          <p:nvPr/>
        </p:nvSpPr>
        <p:spPr>
          <a:xfrm>
            <a:off x="960120" y="1874520"/>
            <a:ext cx="7360920" cy="164592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Identificar, clasificar y caracterizar los patrones de ineficiencia sistémica del sector salud público mexicano durante temporadas de influenza, mediante técnicas de NLP y Aprendizaje Automático sobre opiniones ciudadanas extraídas de Reddit.</a:t>
            </a:r>
            <a:endParaRPr lang="en-US" sz="1450" dirty="0"/>
          </a:p>
        </p:txBody>
      </p:sp>
      <p:sp>
        <p:nvSpPr>
          <p:cNvPr id="9" name="Shape 7"/>
          <p:cNvSpPr/>
          <p:nvPr/>
        </p:nvSpPr>
        <p:spPr>
          <a:xfrm>
            <a:off x="731520" y="3840480"/>
            <a:ext cx="2560320" cy="822960"/>
          </a:xfrm>
          <a:prstGeom prst="rect">
            <a:avLst/>
          </a:prstGeom>
          <a:solidFill>
            <a:srgbClr val="0D9488">
              <a:alpha val="20000"/>
            </a:srgbClr>
          </a:solidFill>
          <a:ln w="12700">
            <a:solidFill>
              <a:srgbClr val="0D9488"/>
            </a:solidFill>
            <a:prstDash val="solid"/>
          </a:ln>
        </p:spPr>
      </p:sp>
      <p:sp>
        <p:nvSpPr>
          <p:cNvPr id="10" name="Text 8"/>
          <p:cNvSpPr/>
          <p:nvPr/>
        </p:nvSpPr>
        <p:spPr>
          <a:xfrm>
            <a:off x="731520" y="3840480"/>
            <a:ext cx="2560320" cy="411480"/>
          </a:xfrm>
          <a:prstGeom prst="rect">
            <a:avLst/>
          </a:prstGeom>
          <a:noFill/>
          <a:ln/>
        </p:spPr>
        <p:txBody>
          <a:bodyPr wrap="square" lIns="0" tIns="0" rIns="0" bIns="0" rtlCol="0" anchor="ctr"/>
          <a:lstStyle/>
          <a:p>
            <a:pPr algn="ctr" indent="0" marL="0">
              <a:buNone/>
            </a:pPr>
            <a:r>
              <a:rPr lang="en-US" sz="1100" b="1" dirty="0">
                <a:solidFill>
                  <a:srgbClr val="0D9488"/>
                </a:solidFill>
              </a:rPr>
              <a:t>Fuente</a:t>
            </a:r>
            <a:endParaRPr lang="en-US" sz="1100" dirty="0"/>
          </a:p>
        </p:txBody>
      </p:sp>
      <p:sp>
        <p:nvSpPr>
          <p:cNvPr id="11" name="Text 9"/>
          <p:cNvSpPr/>
          <p:nvPr/>
        </p:nvSpPr>
        <p:spPr>
          <a:xfrm>
            <a:off x="731520" y="4206240"/>
            <a:ext cx="2560320" cy="457200"/>
          </a:xfrm>
          <a:prstGeom prst="rect">
            <a:avLst/>
          </a:prstGeom>
          <a:noFill/>
          <a:ln/>
        </p:spPr>
        <p:txBody>
          <a:bodyPr wrap="square" lIns="0" tIns="0" rIns="0" bIns="0" rtlCol="0" anchor="ctr"/>
          <a:lstStyle/>
          <a:p>
            <a:pPr algn="ctr" indent="0" marL="0">
              <a:buNone/>
            </a:pPr>
            <a:r>
              <a:rPr lang="en-US" sz="1000" dirty="0">
                <a:solidFill>
                  <a:srgbClr val="CBD5E1"/>
                </a:solidFill>
              </a:rPr>
              <a:t>Reddit México</a:t>
            </a:r>
            <a:endParaRPr lang="en-US" sz="1000" dirty="0"/>
          </a:p>
        </p:txBody>
      </p:sp>
      <p:sp>
        <p:nvSpPr>
          <p:cNvPr id="12" name="Shape 10"/>
          <p:cNvSpPr/>
          <p:nvPr/>
        </p:nvSpPr>
        <p:spPr>
          <a:xfrm>
            <a:off x="3566160" y="3840480"/>
            <a:ext cx="2560320" cy="822960"/>
          </a:xfrm>
          <a:prstGeom prst="rect">
            <a:avLst/>
          </a:prstGeom>
          <a:solidFill>
            <a:srgbClr val="F59E0B">
              <a:alpha val="20000"/>
            </a:srgbClr>
          </a:solidFill>
          <a:ln w="12700">
            <a:solidFill>
              <a:srgbClr val="F59E0B"/>
            </a:solidFill>
            <a:prstDash val="solid"/>
          </a:ln>
        </p:spPr>
      </p:sp>
      <p:sp>
        <p:nvSpPr>
          <p:cNvPr id="13" name="Text 11"/>
          <p:cNvSpPr/>
          <p:nvPr/>
        </p:nvSpPr>
        <p:spPr>
          <a:xfrm>
            <a:off x="3566160" y="3840480"/>
            <a:ext cx="2560320" cy="411480"/>
          </a:xfrm>
          <a:prstGeom prst="rect">
            <a:avLst/>
          </a:prstGeom>
          <a:noFill/>
          <a:ln/>
        </p:spPr>
        <p:txBody>
          <a:bodyPr wrap="square" lIns="0" tIns="0" rIns="0" bIns="0" rtlCol="0" anchor="ctr"/>
          <a:lstStyle/>
          <a:p>
            <a:pPr algn="ctr" indent="0" marL="0">
              <a:buNone/>
            </a:pPr>
            <a:r>
              <a:rPr lang="en-US" sz="1100" b="1" dirty="0">
                <a:solidFill>
                  <a:srgbClr val="F59E0B"/>
                </a:solidFill>
              </a:rPr>
              <a:t>Técnica</a:t>
            </a:r>
            <a:endParaRPr lang="en-US" sz="1100" dirty="0"/>
          </a:p>
        </p:txBody>
      </p:sp>
      <p:sp>
        <p:nvSpPr>
          <p:cNvPr id="14" name="Text 12"/>
          <p:cNvSpPr/>
          <p:nvPr/>
        </p:nvSpPr>
        <p:spPr>
          <a:xfrm>
            <a:off x="3566160" y="4206240"/>
            <a:ext cx="2560320" cy="457200"/>
          </a:xfrm>
          <a:prstGeom prst="rect">
            <a:avLst/>
          </a:prstGeom>
          <a:noFill/>
          <a:ln/>
        </p:spPr>
        <p:txBody>
          <a:bodyPr wrap="square" lIns="0" tIns="0" rIns="0" bIns="0" rtlCol="0" anchor="ctr"/>
          <a:lstStyle/>
          <a:p>
            <a:pPr algn="ctr" indent="0" marL="0">
              <a:buNone/>
            </a:pPr>
            <a:r>
              <a:rPr lang="en-US" sz="1000" dirty="0">
                <a:solidFill>
                  <a:srgbClr val="CBD5E1"/>
                </a:solidFill>
              </a:rPr>
              <a:t>NLP + Machine Learning</a:t>
            </a:r>
            <a:endParaRPr lang="en-US" sz="1000" dirty="0"/>
          </a:p>
        </p:txBody>
      </p:sp>
      <p:sp>
        <p:nvSpPr>
          <p:cNvPr id="15" name="Shape 13"/>
          <p:cNvSpPr/>
          <p:nvPr/>
        </p:nvSpPr>
        <p:spPr>
          <a:xfrm>
            <a:off x="6400800" y="3840480"/>
            <a:ext cx="2560320" cy="822960"/>
          </a:xfrm>
          <a:prstGeom prst="rect">
            <a:avLst/>
          </a:prstGeom>
          <a:solidFill>
            <a:srgbClr val="F43F5E">
              <a:alpha val="20000"/>
            </a:srgbClr>
          </a:solidFill>
          <a:ln w="12700">
            <a:solidFill>
              <a:srgbClr val="F43F5E"/>
            </a:solidFill>
            <a:prstDash val="solid"/>
          </a:ln>
        </p:spPr>
      </p:sp>
      <p:sp>
        <p:nvSpPr>
          <p:cNvPr id="16" name="Text 14"/>
          <p:cNvSpPr/>
          <p:nvPr/>
        </p:nvSpPr>
        <p:spPr>
          <a:xfrm>
            <a:off x="6400800" y="3840480"/>
            <a:ext cx="2560320" cy="411480"/>
          </a:xfrm>
          <a:prstGeom prst="rect">
            <a:avLst/>
          </a:prstGeom>
          <a:noFill/>
          <a:ln/>
        </p:spPr>
        <p:txBody>
          <a:bodyPr wrap="square" lIns="0" tIns="0" rIns="0" bIns="0" rtlCol="0" anchor="ctr"/>
          <a:lstStyle/>
          <a:p>
            <a:pPr algn="ctr" indent="0" marL="0">
              <a:buNone/>
            </a:pPr>
            <a:r>
              <a:rPr lang="en-US" sz="1100" b="1" dirty="0">
                <a:solidFill>
                  <a:srgbClr val="F43F5E"/>
                </a:solidFill>
              </a:rPr>
              <a:t>Meta</a:t>
            </a:r>
            <a:endParaRPr lang="en-US" sz="1100" dirty="0"/>
          </a:p>
        </p:txBody>
      </p:sp>
      <p:sp>
        <p:nvSpPr>
          <p:cNvPr id="17" name="Text 15"/>
          <p:cNvSpPr/>
          <p:nvPr/>
        </p:nvSpPr>
        <p:spPr>
          <a:xfrm>
            <a:off x="6400800" y="4206240"/>
            <a:ext cx="2560320" cy="457200"/>
          </a:xfrm>
          <a:prstGeom prst="rect">
            <a:avLst/>
          </a:prstGeom>
          <a:noFill/>
          <a:ln/>
        </p:spPr>
        <p:txBody>
          <a:bodyPr wrap="square" lIns="0" tIns="0" rIns="0" bIns="0" rtlCol="0" anchor="ctr"/>
          <a:lstStyle/>
          <a:p>
            <a:pPr algn="ctr" indent="0" marL="0">
              <a:buNone/>
            </a:pPr>
            <a:r>
              <a:rPr lang="en-US" sz="1000" dirty="0">
                <a:solidFill>
                  <a:srgbClr val="CBD5E1"/>
                </a:solidFill>
              </a:rPr>
              <a:t>Evidencia accionable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256032"/>
            <a:ext cx="2386584" cy="237744"/>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2386584" cy="237744"/>
          </a:xfrm>
          <a:prstGeom prst="rect">
            <a:avLst/>
          </a:prstGeom>
          <a:noFill/>
          <a:ln/>
        </p:spPr>
        <p:txBody>
          <a:bodyPr wrap="square" lIns="0" tIns="0" rIns="0" bIns="0" rtlCol="0" anchor="ctr"/>
          <a:lstStyle/>
          <a:p>
            <a:pPr algn="ctr" indent="0" marL="0">
              <a:buNone/>
            </a:pPr>
            <a:r>
              <a:rPr lang="en-US" sz="800" b="1" dirty="0">
                <a:solidFill>
                  <a:srgbClr val="FFFFFF"/>
                </a:solidFill>
              </a:rPr>
              <a:t>OBJETIVOS ESPECÍFICOS</a:t>
            </a:r>
            <a:endParaRPr lang="en-US" sz="800" dirty="0"/>
          </a:p>
        </p:txBody>
      </p:sp>
      <p:sp>
        <p:nvSpPr>
          <p:cNvPr id="4" name="Text 2"/>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Los cinco ejes de la investigación</a:t>
            </a:r>
            <a:endParaRPr lang="en-US" sz="2600" dirty="0"/>
          </a:p>
        </p:txBody>
      </p:sp>
      <p:sp>
        <p:nvSpPr>
          <p:cNvPr id="5" name="Shape 3"/>
          <p:cNvSpPr/>
          <p:nvPr/>
        </p:nvSpPr>
        <p:spPr>
          <a:xfrm>
            <a:off x="365760" y="1234440"/>
            <a:ext cx="8412480" cy="658368"/>
          </a:xfrm>
          <a:prstGeom prst="rect">
            <a:avLst/>
          </a:prstGeom>
          <a:solidFill>
            <a:srgbClr val="1A2538"/>
          </a:solidFill>
          <a:ln w="12700">
            <a:solidFill>
              <a:srgbClr val="1E3A5A"/>
            </a:solidFill>
            <a:prstDash val="solid"/>
          </a:ln>
        </p:spPr>
      </p:sp>
      <p:sp>
        <p:nvSpPr>
          <p:cNvPr id="6" name="Shape 4"/>
          <p:cNvSpPr/>
          <p:nvPr/>
        </p:nvSpPr>
        <p:spPr>
          <a:xfrm>
            <a:off x="502920" y="1344168"/>
            <a:ext cx="438912" cy="438912"/>
          </a:xfrm>
          <a:prstGeom prst="ellipse">
            <a:avLst/>
          </a:prstGeom>
          <a:solidFill>
            <a:srgbClr val="0D9488"/>
          </a:solidFill>
          <a:ln w="12700">
            <a:solidFill>
              <a:srgbClr val="0D9488"/>
            </a:solidFill>
            <a:prstDash val="solid"/>
          </a:ln>
        </p:spPr>
      </p:sp>
      <p:sp>
        <p:nvSpPr>
          <p:cNvPr id="7" name="Text 5"/>
          <p:cNvSpPr/>
          <p:nvPr/>
        </p:nvSpPr>
        <p:spPr>
          <a:xfrm>
            <a:off x="502920" y="134416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6"/>
          <p:cNvSpPr/>
          <p:nvPr/>
        </p:nvSpPr>
        <p:spPr>
          <a:xfrm>
            <a:off x="1097280" y="1298448"/>
            <a:ext cx="2286000" cy="274320"/>
          </a:xfrm>
          <a:prstGeom prst="rect">
            <a:avLst/>
          </a:prstGeom>
          <a:noFill/>
          <a:ln/>
        </p:spPr>
        <p:txBody>
          <a:bodyPr wrap="square" lIns="0" tIns="0" rIns="0" bIns="0" rtlCol="0" anchor="ctr"/>
          <a:lstStyle/>
          <a:p>
            <a:pPr indent="0" marL="0">
              <a:buNone/>
            </a:pPr>
            <a:r>
              <a:rPr lang="en-US" sz="1100" b="1" dirty="0">
                <a:solidFill>
                  <a:srgbClr val="0D9488"/>
                </a:solidFill>
              </a:rPr>
              <a:t>Corpus representativo</a:t>
            </a:r>
            <a:endParaRPr lang="en-US" sz="1100" dirty="0"/>
          </a:p>
        </p:txBody>
      </p:sp>
      <p:sp>
        <p:nvSpPr>
          <p:cNvPr id="9" name="Text 7"/>
          <p:cNvSpPr/>
          <p:nvPr/>
        </p:nvSpPr>
        <p:spPr>
          <a:xfrm>
            <a:off x="1097280" y="1554480"/>
            <a:ext cx="7498080" cy="292608"/>
          </a:xfrm>
          <a:prstGeom prst="rect">
            <a:avLst/>
          </a:prstGeom>
          <a:noFill/>
          <a:ln/>
        </p:spPr>
        <p:txBody>
          <a:bodyPr wrap="square" lIns="0" tIns="0" rIns="0" bIns="0" rtlCol="0" anchor="ctr"/>
          <a:lstStyle/>
          <a:p>
            <a:pPr indent="0" marL="0">
              <a:buNone/>
            </a:pPr>
            <a:r>
              <a:rPr lang="en-US" sz="950" dirty="0">
                <a:solidFill>
                  <a:srgbClr val="CBD5E1"/>
                </a:solidFill>
              </a:rPr>
              <a:t>18,915 comentarios ciudadanos extraídos vía API oficial de Reddit, con deduplicación y control de sesgo de muestreo.</a:t>
            </a:r>
            <a:endParaRPr lang="en-US" sz="950" dirty="0"/>
          </a:p>
        </p:txBody>
      </p:sp>
      <p:sp>
        <p:nvSpPr>
          <p:cNvPr id="10" name="Shape 8"/>
          <p:cNvSpPr/>
          <p:nvPr/>
        </p:nvSpPr>
        <p:spPr>
          <a:xfrm>
            <a:off x="365760" y="1984248"/>
            <a:ext cx="8412480" cy="658368"/>
          </a:xfrm>
          <a:prstGeom prst="rect">
            <a:avLst/>
          </a:prstGeom>
          <a:solidFill>
            <a:srgbClr val="1A2538"/>
          </a:solidFill>
          <a:ln w="12700">
            <a:solidFill>
              <a:srgbClr val="1E3A5A"/>
            </a:solidFill>
            <a:prstDash val="solid"/>
          </a:ln>
        </p:spPr>
      </p:sp>
      <p:sp>
        <p:nvSpPr>
          <p:cNvPr id="11" name="Shape 9"/>
          <p:cNvSpPr/>
          <p:nvPr/>
        </p:nvSpPr>
        <p:spPr>
          <a:xfrm>
            <a:off x="502920" y="2093976"/>
            <a:ext cx="438912" cy="438912"/>
          </a:xfrm>
          <a:prstGeom prst="ellipse">
            <a:avLst/>
          </a:prstGeom>
          <a:solidFill>
            <a:srgbClr val="F59E0B"/>
          </a:solidFill>
          <a:ln w="12700">
            <a:solidFill>
              <a:srgbClr val="F59E0B"/>
            </a:solidFill>
            <a:prstDash val="solid"/>
          </a:ln>
        </p:spPr>
      </p:sp>
      <p:sp>
        <p:nvSpPr>
          <p:cNvPr id="12" name="Text 10"/>
          <p:cNvSpPr/>
          <p:nvPr/>
        </p:nvSpPr>
        <p:spPr>
          <a:xfrm>
            <a:off x="502920" y="209397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3" name="Text 11"/>
          <p:cNvSpPr/>
          <p:nvPr/>
        </p:nvSpPr>
        <p:spPr>
          <a:xfrm>
            <a:off x="1097280" y="2048256"/>
            <a:ext cx="2286000" cy="274320"/>
          </a:xfrm>
          <a:prstGeom prst="rect">
            <a:avLst/>
          </a:prstGeom>
          <a:noFill/>
          <a:ln/>
        </p:spPr>
        <p:txBody>
          <a:bodyPr wrap="square" lIns="0" tIns="0" rIns="0" bIns="0" rtlCol="0" anchor="ctr"/>
          <a:lstStyle/>
          <a:p>
            <a:pPr indent="0" marL="0">
              <a:buNone/>
            </a:pPr>
            <a:r>
              <a:rPr lang="en-US" sz="1100" b="1" dirty="0">
                <a:solidFill>
                  <a:srgbClr val="F59E0B"/>
                </a:solidFill>
              </a:rPr>
              <a:t>Pipeline NLP especializado</a:t>
            </a:r>
            <a:endParaRPr lang="en-US" sz="1100" dirty="0"/>
          </a:p>
        </p:txBody>
      </p:sp>
      <p:sp>
        <p:nvSpPr>
          <p:cNvPr id="14" name="Text 12"/>
          <p:cNvSpPr/>
          <p:nvPr/>
        </p:nvSpPr>
        <p:spPr>
          <a:xfrm>
            <a:off x="1097280" y="2304288"/>
            <a:ext cx="7498080" cy="292608"/>
          </a:xfrm>
          <a:prstGeom prst="rect">
            <a:avLst/>
          </a:prstGeom>
          <a:noFill/>
          <a:ln/>
        </p:spPr>
        <p:txBody>
          <a:bodyPr wrap="square" lIns="0" tIns="0" rIns="0" bIns="0" rtlCol="0" anchor="ctr"/>
          <a:lstStyle/>
          <a:p>
            <a:pPr indent="0" marL="0">
              <a:buNone/>
            </a:pPr>
            <a:r>
              <a:rPr lang="en-US" sz="950" dirty="0">
                <a:solidFill>
                  <a:srgbClr val="CBD5E1"/>
                </a:solidFill>
              </a:rPr>
              <a:t>Preprocesamiento para español mexicano médico: protección de negaciones, léxico institucional (IMSS, ISSSTE) y vectorización híbrida TF-IDF + BETO.</a:t>
            </a:r>
            <a:endParaRPr lang="en-US" sz="950" dirty="0"/>
          </a:p>
        </p:txBody>
      </p:sp>
      <p:sp>
        <p:nvSpPr>
          <p:cNvPr id="15" name="Shape 13"/>
          <p:cNvSpPr/>
          <p:nvPr/>
        </p:nvSpPr>
        <p:spPr>
          <a:xfrm>
            <a:off x="365760" y="2734056"/>
            <a:ext cx="8412480" cy="658368"/>
          </a:xfrm>
          <a:prstGeom prst="rect">
            <a:avLst/>
          </a:prstGeom>
          <a:solidFill>
            <a:srgbClr val="1A2538"/>
          </a:solidFill>
          <a:ln w="12700">
            <a:solidFill>
              <a:srgbClr val="1E3A5A"/>
            </a:solidFill>
            <a:prstDash val="solid"/>
          </a:ln>
        </p:spPr>
      </p:sp>
      <p:sp>
        <p:nvSpPr>
          <p:cNvPr id="16" name="Shape 14"/>
          <p:cNvSpPr/>
          <p:nvPr/>
        </p:nvSpPr>
        <p:spPr>
          <a:xfrm>
            <a:off x="502920" y="2843784"/>
            <a:ext cx="438912" cy="438912"/>
          </a:xfrm>
          <a:prstGeom prst="ellipse">
            <a:avLst/>
          </a:prstGeom>
          <a:solidFill>
            <a:srgbClr val="7C3AED"/>
          </a:solidFill>
          <a:ln w="12700">
            <a:solidFill>
              <a:srgbClr val="7C3AED"/>
            </a:solidFill>
            <a:prstDash val="solid"/>
          </a:ln>
        </p:spPr>
      </p:sp>
      <p:sp>
        <p:nvSpPr>
          <p:cNvPr id="17" name="Text 15"/>
          <p:cNvSpPr/>
          <p:nvPr/>
        </p:nvSpPr>
        <p:spPr>
          <a:xfrm>
            <a:off x="502920" y="28437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8" name="Text 16"/>
          <p:cNvSpPr/>
          <p:nvPr/>
        </p:nvSpPr>
        <p:spPr>
          <a:xfrm>
            <a:off x="1097280" y="2798064"/>
            <a:ext cx="2286000" cy="274320"/>
          </a:xfrm>
          <a:prstGeom prst="rect">
            <a:avLst/>
          </a:prstGeom>
          <a:noFill/>
          <a:ln/>
        </p:spPr>
        <p:txBody>
          <a:bodyPr wrap="square" lIns="0" tIns="0" rIns="0" bIns="0" rtlCol="0" anchor="ctr"/>
          <a:lstStyle/>
          <a:p>
            <a:pPr indent="0" marL="0">
              <a:buNone/>
            </a:pPr>
            <a:r>
              <a:rPr lang="en-US" sz="1100" b="1" dirty="0">
                <a:solidFill>
                  <a:srgbClr val="7C3AED"/>
                </a:solidFill>
              </a:rPr>
              <a:t>Clasificador automático</a:t>
            </a:r>
            <a:endParaRPr lang="en-US" sz="1100" dirty="0"/>
          </a:p>
        </p:txBody>
      </p:sp>
      <p:sp>
        <p:nvSpPr>
          <p:cNvPr id="19" name="Text 17"/>
          <p:cNvSpPr/>
          <p:nvPr/>
        </p:nvSpPr>
        <p:spPr>
          <a:xfrm>
            <a:off x="1097280" y="3054096"/>
            <a:ext cx="7498080" cy="292608"/>
          </a:xfrm>
          <a:prstGeom prst="rect">
            <a:avLst/>
          </a:prstGeom>
          <a:noFill/>
          <a:ln/>
        </p:spPr>
        <p:txBody>
          <a:bodyPr wrap="square" lIns="0" tIns="0" rIns="0" bIns="0" rtlCol="0" anchor="ctr"/>
          <a:lstStyle/>
          <a:p>
            <a:pPr indent="0" marL="0">
              <a:buNone/>
            </a:pPr>
            <a:r>
              <a:rPr lang="en-US" sz="950" dirty="0">
                <a:solidFill>
                  <a:srgbClr val="CBD5E1"/>
                </a:solidFill>
              </a:rPr>
              <a:t>VotingEnsemble (ComplementNB, Regresión Logística, LinearSVM) con métricas de confiabilidad válidas para políticas públicas.</a:t>
            </a:r>
            <a:endParaRPr lang="en-US" sz="950" dirty="0"/>
          </a:p>
        </p:txBody>
      </p:sp>
      <p:sp>
        <p:nvSpPr>
          <p:cNvPr id="20" name="Shape 18"/>
          <p:cNvSpPr/>
          <p:nvPr/>
        </p:nvSpPr>
        <p:spPr>
          <a:xfrm>
            <a:off x="365760" y="3483864"/>
            <a:ext cx="8412480" cy="658368"/>
          </a:xfrm>
          <a:prstGeom prst="rect">
            <a:avLst/>
          </a:prstGeom>
          <a:solidFill>
            <a:srgbClr val="1A2538"/>
          </a:solidFill>
          <a:ln w="12700">
            <a:solidFill>
              <a:srgbClr val="1E3A5A"/>
            </a:solidFill>
            <a:prstDash val="solid"/>
          </a:ln>
        </p:spPr>
      </p:sp>
      <p:sp>
        <p:nvSpPr>
          <p:cNvPr id="21" name="Shape 19"/>
          <p:cNvSpPr/>
          <p:nvPr/>
        </p:nvSpPr>
        <p:spPr>
          <a:xfrm>
            <a:off x="502920" y="3593592"/>
            <a:ext cx="438912" cy="438912"/>
          </a:xfrm>
          <a:prstGeom prst="ellipse">
            <a:avLst/>
          </a:prstGeom>
          <a:solidFill>
            <a:srgbClr val="F43F5E"/>
          </a:solidFill>
          <a:ln w="12700">
            <a:solidFill>
              <a:srgbClr val="F43F5E"/>
            </a:solidFill>
            <a:prstDash val="solid"/>
          </a:ln>
        </p:spPr>
      </p:sp>
      <p:sp>
        <p:nvSpPr>
          <p:cNvPr id="22" name="Text 20"/>
          <p:cNvSpPr/>
          <p:nvPr/>
        </p:nvSpPr>
        <p:spPr>
          <a:xfrm>
            <a:off x="502920" y="359359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3" name="Text 21"/>
          <p:cNvSpPr/>
          <p:nvPr/>
        </p:nvSpPr>
        <p:spPr>
          <a:xfrm>
            <a:off x="1097280" y="3547872"/>
            <a:ext cx="2286000" cy="274320"/>
          </a:xfrm>
          <a:prstGeom prst="rect">
            <a:avLst/>
          </a:prstGeom>
          <a:noFill/>
          <a:ln/>
        </p:spPr>
        <p:txBody>
          <a:bodyPr wrap="square" lIns="0" tIns="0" rIns="0" bIns="0" rtlCol="0" anchor="ctr"/>
          <a:lstStyle/>
          <a:p>
            <a:pPr indent="0" marL="0">
              <a:buNone/>
            </a:pPr>
            <a:r>
              <a:rPr lang="en-US" sz="1100" b="1" dirty="0">
                <a:solidFill>
                  <a:srgbClr val="F43F5E"/>
                </a:solidFill>
              </a:rPr>
              <a:t>Dimensiones narrativas</a:t>
            </a:r>
            <a:endParaRPr lang="en-US" sz="1100" dirty="0"/>
          </a:p>
        </p:txBody>
      </p:sp>
      <p:sp>
        <p:nvSpPr>
          <p:cNvPr id="24" name="Text 22"/>
          <p:cNvSpPr/>
          <p:nvPr/>
        </p:nvSpPr>
        <p:spPr>
          <a:xfrm>
            <a:off x="1097280" y="3803904"/>
            <a:ext cx="7498080" cy="292608"/>
          </a:xfrm>
          <a:prstGeom prst="rect">
            <a:avLst/>
          </a:prstGeom>
          <a:noFill/>
          <a:ln/>
        </p:spPr>
        <p:txBody>
          <a:bodyPr wrap="square" lIns="0" tIns="0" rIns="0" bIns="0" rtlCol="0" anchor="ctr"/>
          <a:lstStyle/>
          <a:p>
            <a:pPr indent="0" marL="0">
              <a:buNone/>
            </a:pPr>
            <a:r>
              <a:rPr lang="en-US" sz="950" dirty="0">
                <a:solidFill>
                  <a:srgbClr val="CBD5E1"/>
                </a:solidFill>
              </a:rPr>
              <a:t>Cuantificación de esperas, desabasto, corrupción, saturación y consecuencias clínicas mediante análisis de features predictivas.</a:t>
            </a:r>
            <a:endParaRPr lang="en-US" sz="950" dirty="0"/>
          </a:p>
        </p:txBody>
      </p:sp>
      <p:sp>
        <p:nvSpPr>
          <p:cNvPr id="25" name="Shape 23"/>
          <p:cNvSpPr/>
          <p:nvPr/>
        </p:nvSpPr>
        <p:spPr>
          <a:xfrm>
            <a:off x="365760" y="4233672"/>
            <a:ext cx="8412480" cy="658368"/>
          </a:xfrm>
          <a:prstGeom prst="rect">
            <a:avLst/>
          </a:prstGeom>
          <a:solidFill>
            <a:srgbClr val="1A2538"/>
          </a:solidFill>
          <a:ln w="12700">
            <a:solidFill>
              <a:srgbClr val="1E3A5A"/>
            </a:solidFill>
            <a:prstDash val="solid"/>
          </a:ln>
        </p:spPr>
      </p:sp>
      <p:sp>
        <p:nvSpPr>
          <p:cNvPr id="26" name="Shape 24"/>
          <p:cNvSpPr/>
          <p:nvPr/>
        </p:nvSpPr>
        <p:spPr>
          <a:xfrm>
            <a:off x="502920" y="4343400"/>
            <a:ext cx="438912" cy="438912"/>
          </a:xfrm>
          <a:prstGeom prst="ellipse">
            <a:avLst/>
          </a:prstGeom>
          <a:solidFill>
            <a:srgbClr val="10B981"/>
          </a:solidFill>
          <a:ln w="12700">
            <a:solidFill>
              <a:srgbClr val="10B981"/>
            </a:solidFill>
            <a:prstDash val="solid"/>
          </a:ln>
        </p:spPr>
      </p:sp>
      <p:sp>
        <p:nvSpPr>
          <p:cNvPr id="27" name="Text 25"/>
          <p:cNvSpPr/>
          <p:nvPr/>
        </p:nvSpPr>
        <p:spPr>
          <a:xfrm>
            <a:off x="502920" y="43434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8" name="Text 26"/>
          <p:cNvSpPr/>
          <p:nvPr/>
        </p:nvSpPr>
        <p:spPr>
          <a:xfrm>
            <a:off x="1097280" y="4297680"/>
            <a:ext cx="2286000" cy="274320"/>
          </a:xfrm>
          <a:prstGeom prst="rect">
            <a:avLst/>
          </a:prstGeom>
          <a:noFill/>
          <a:ln/>
        </p:spPr>
        <p:txBody>
          <a:bodyPr wrap="square" lIns="0" tIns="0" rIns="0" bIns="0" rtlCol="0" anchor="ctr"/>
          <a:lstStyle/>
          <a:p>
            <a:pPr indent="0" marL="0">
              <a:buNone/>
            </a:pPr>
            <a:r>
              <a:rPr lang="en-US" sz="1100" b="1" dirty="0">
                <a:solidFill>
                  <a:srgbClr val="10B981"/>
                </a:solidFill>
              </a:rPr>
              <a:t>Validación externa</a:t>
            </a:r>
            <a:endParaRPr lang="en-US" sz="1100" dirty="0"/>
          </a:p>
        </p:txBody>
      </p:sp>
      <p:sp>
        <p:nvSpPr>
          <p:cNvPr id="29" name="Text 27"/>
          <p:cNvSpPr/>
          <p:nvPr/>
        </p:nvSpPr>
        <p:spPr>
          <a:xfrm>
            <a:off x="1097280" y="4553712"/>
            <a:ext cx="7498080" cy="292608"/>
          </a:xfrm>
          <a:prstGeom prst="rect">
            <a:avLst/>
          </a:prstGeom>
          <a:noFill/>
          <a:ln/>
        </p:spPr>
        <p:txBody>
          <a:bodyPr wrap="square" lIns="0" tIns="0" rIns="0" bIns="0" rtlCol="0" anchor="ctr"/>
          <a:lstStyle/>
          <a:p>
            <a:pPr indent="0" marL="0">
              <a:buNone/>
            </a:pPr>
            <a:r>
              <a:rPr lang="en-US" sz="950" dirty="0">
                <a:solidFill>
                  <a:srgbClr val="CBD5E1"/>
                </a:solidFill>
              </a:rPr>
              <a:t>Contraste con indicadores oficiales de SINAVE, OCDE y OPS para verificar la coherencia de la evidencia producida.</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256032"/>
            <a:ext cx="2286000" cy="237744"/>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2286000" cy="237744"/>
          </a:xfrm>
          <a:prstGeom prst="rect">
            <a:avLst/>
          </a:prstGeom>
          <a:noFill/>
          <a:ln/>
        </p:spPr>
        <p:txBody>
          <a:bodyPr wrap="square" lIns="0" tIns="0" rIns="0" bIns="0" rtlCol="0" anchor="ctr"/>
          <a:lstStyle/>
          <a:p>
            <a:pPr algn="ctr" indent="0" marL="0">
              <a:buNone/>
            </a:pPr>
            <a:r>
              <a:rPr lang="en-US" sz="800" b="1" dirty="0">
                <a:solidFill>
                  <a:srgbClr val="FFFFFF"/>
                </a:solidFill>
              </a:rPr>
              <a:t>HIPÓTESIS DE TRABAJO</a:t>
            </a:r>
            <a:endParaRPr lang="en-US" sz="800" dirty="0"/>
          </a:p>
        </p:txBody>
      </p:sp>
      <p:sp>
        <p:nvSpPr>
          <p:cNvPr id="4" name="Text 2"/>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La apuesta científica del proyecto</a:t>
            </a:r>
            <a:endParaRPr lang="en-US" sz="2600" dirty="0"/>
          </a:p>
        </p:txBody>
      </p:sp>
      <p:sp>
        <p:nvSpPr>
          <p:cNvPr id="5" name="Shape 3"/>
          <p:cNvSpPr/>
          <p:nvPr/>
        </p:nvSpPr>
        <p:spPr>
          <a:xfrm>
            <a:off x="365760" y="1188720"/>
            <a:ext cx="8412480" cy="1371600"/>
          </a:xfrm>
          <a:prstGeom prst="rect">
            <a:avLst>
              <a:gd name="adj" fmla="val 3333"/>
            </a:avLst>
          </a:prstGeom>
          <a:solidFill>
            <a:srgbClr val="0D2535"/>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6" name="Shape 4"/>
          <p:cNvSpPr/>
          <p:nvPr/>
        </p:nvSpPr>
        <p:spPr>
          <a:xfrm>
            <a:off x="365760" y="1188720"/>
            <a:ext cx="54864" cy="1371600"/>
          </a:xfrm>
          <a:prstGeom prst="rect">
            <a:avLst/>
          </a:prstGeom>
          <a:solidFill>
            <a:srgbClr val="0D9488"/>
          </a:solidFill>
          <a:ln w="12700">
            <a:solidFill>
              <a:srgbClr val="0D9488"/>
            </a:solidFill>
            <a:prstDash val="solid"/>
          </a:ln>
        </p:spPr>
      </p:sp>
      <p:sp>
        <p:nvSpPr>
          <p:cNvPr id="7" name="Text 5"/>
          <p:cNvSpPr/>
          <p:nvPr/>
        </p:nvSpPr>
        <p:spPr>
          <a:xfrm>
            <a:off x="594360" y="1234440"/>
            <a:ext cx="8092440" cy="1280160"/>
          </a:xfrm>
          <a:prstGeom prst="rect">
            <a:avLst/>
          </a:prstGeom>
          <a:noFill/>
          <a:ln/>
        </p:spPr>
        <p:txBody>
          <a:bodyPr wrap="square" lIns="0" tIns="0" rIns="0" bIns="0" rtlCol="0" anchor="ctr"/>
          <a:lstStyle/>
          <a:p>
            <a:pPr indent="0" marL="0">
              <a:buNone/>
            </a:pPr>
            <a:r>
              <a:rPr lang="en-US" sz="1050" i="1" dirty="0">
                <a:solidFill>
                  <a:srgbClr val="CBD5E1"/>
                </a:solidFill>
              </a:rPr>
              <a:t>Si los comentarios de ciudadanos mexicanos en Reddit son analizados mediante Aprendizaje Automático Supervisado con representaciones vectoriales híbridas (TF-IDF + embeddings BERT), entonces es posible identificar automáticamente patrones de ineficiencia sistémica —desabasto, esperas extremas, rechazos, corrupción— con una confiabilidad estadística superior al 85% (F1-weighted ≥ 0.85, AUC-ROC ≥ 0.90).</a:t>
            </a:r>
            <a:endParaRPr lang="en-US" sz="1050" dirty="0"/>
          </a:p>
        </p:txBody>
      </p:sp>
      <p:sp>
        <p:nvSpPr>
          <p:cNvPr id="8" name="Shape 6"/>
          <p:cNvSpPr/>
          <p:nvPr/>
        </p:nvSpPr>
        <p:spPr>
          <a:xfrm>
            <a:off x="365760" y="2697480"/>
            <a:ext cx="2606040" cy="1371600"/>
          </a:xfrm>
          <a:prstGeom prst="rect">
            <a:avLst>
              <a:gd name="adj" fmla="val 3333"/>
            </a:avLst>
          </a:prstGeom>
          <a:solidFill>
            <a:srgbClr val="162032"/>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9" name="Shape 7"/>
          <p:cNvSpPr/>
          <p:nvPr/>
        </p:nvSpPr>
        <p:spPr>
          <a:xfrm>
            <a:off x="365760" y="2697480"/>
            <a:ext cx="2606040" cy="320040"/>
          </a:xfrm>
          <a:prstGeom prst="rect">
            <a:avLst/>
          </a:prstGeom>
          <a:solidFill>
            <a:srgbClr val="0D9488"/>
          </a:solidFill>
          <a:ln w="12700">
            <a:solidFill>
              <a:srgbClr val="0D9488"/>
            </a:solidFill>
            <a:prstDash val="solid"/>
          </a:ln>
        </p:spPr>
      </p:sp>
      <p:sp>
        <p:nvSpPr>
          <p:cNvPr id="10" name="Text 8"/>
          <p:cNvSpPr/>
          <p:nvPr/>
        </p:nvSpPr>
        <p:spPr>
          <a:xfrm>
            <a:off x="438912" y="2697480"/>
            <a:ext cx="2468880" cy="320040"/>
          </a:xfrm>
          <a:prstGeom prst="rect">
            <a:avLst/>
          </a:prstGeom>
          <a:noFill/>
          <a:ln/>
        </p:spPr>
        <p:txBody>
          <a:bodyPr wrap="square" lIns="0" tIns="0" rIns="0" bIns="0" rtlCol="0" anchor="ctr"/>
          <a:lstStyle/>
          <a:p>
            <a:pPr indent="0" marL="0">
              <a:buNone/>
            </a:pPr>
            <a:r>
              <a:rPr lang="en-US" sz="1000" b="1" dirty="0">
                <a:solidFill>
                  <a:srgbClr val="FFFFFF"/>
                </a:solidFill>
              </a:rPr>
              <a:t>Pilar 1: La Fuente</a:t>
            </a:r>
            <a:endParaRPr lang="en-US" sz="1000" dirty="0"/>
          </a:p>
        </p:txBody>
      </p:sp>
      <p:sp>
        <p:nvSpPr>
          <p:cNvPr id="11" name="Text 9"/>
          <p:cNvSpPr/>
          <p:nvPr/>
        </p:nvSpPr>
        <p:spPr>
          <a:xfrm>
            <a:off x="457200" y="3063240"/>
            <a:ext cx="2423160" cy="960120"/>
          </a:xfrm>
          <a:prstGeom prst="rect">
            <a:avLst/>
          </a:prstGeom>
          <a:noFill/>
          <a:ln/>
        </p:spPr>
        <p:txBody>
          <a:bodyPr wrap="square" lIns="0" tIns="0" rIns="0" bIns="0" rtlCol="0" anchor="ctr"/>
          <a:lstStyle/>
          <a:p>
            <a:pPr indent="0" marL="0">
              <a:buNone/>
            </a:pPr>
            <a:r>
              <a:rPr lang="en-US" sz="950" dirty="0">
                <a:solidFill>
                  <a:srgbClr val="CBD5E1"/>
                </a:solidFill>
              </a:rPr>
              <a:t>Reddit ofrece anonimato donde los ciudadanos documentan fallas estructurales que los sistemas oficiales no registran por diseño.</a:t>
            </a:r>
            <a:endParaRPr lang="en-US" sz="950" dirty="0"/>
          </a:p>
        </p:txBody>
      </p:sp>
      <p:sp>
        <p:nvSpPr>
          <p:cNvPr id="12" name="Shape 10"/>
          <p:cNvSpPr/>
          <p:nvPr/>
        </p:nvSpPr>
        <p:spPr>
          <a:xfrm>
            <a:off x="3200400" y="2697480"/>
            <a:ext cx="2606040" cy="1371600"/>
          </a:xfrm>
          <a:prstGeom prst="rect">
            <a:avLst>
              <a:gd name="adj" fmla="val 3333"/>
            </a:avLst>
          </a:prstGeom>
          <a:solidFill>
            <a:srgbClr val="162032"/>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3" name="Shape 11"/>
          <p:cNvSpPr/>
          <p:nvPr/>
        </p:nvSpPr>
        <p:spPr>
          <a:xfrm>
            <a:off x="3200400" y="2697480"/>
            <a:ext cx="2606040" cy="320040"/>
          </a:xfrm>
          <a:prstGeom prst="rect">
            <a:avLst/>
          </a:prstGeom>
          <a:solidFill>
            <a:srgbClr val="F59E0B"/>
          </a:solidFill>
          <a:ln w="12700">
            <a:solidFill>
              <a:srgbClr val="F59E0B"/>
            </a:solidFill>
            <a:prstDash val="solid"/>
          </a:ln>
        </p:spPr>
      </p:sp>
      <p:sp>
        <p:nvSpPr>
          <p:cNvPr id="14" name="Text 12"/>
          <p:cNvSpPr/>
          <p:nvPr/>
        </p:nvSpPr>
        <p:spPr>
          <a:xfrm>
            <a:off x="3273552" y="2697480"/>
            <a:ext cx="2468880" cy="320040"/>
          </a:xfrm>
          <a:prstGeom prst="rect">
            <a:avLst/>
          </a:prstGeom>
          <a:noFill/>
          <a:ln/>
        </p:spPr>
        <p:txBody>
          <a:bodyPr wrap="square" lIns="0" tIns="0" rIns="0" bIns="0" rtlCol="0" anchor="ctr"/>
          <a:lstStyle/>
          <a:p>
            <a:pPr indent="0" marL="0">
              <a:buNone/>
            </a:pPr>
            <a:r>
              <a:rPr lang="en-US" sz="1000" b="1" dirty="0">
                <a:solidFill>
                  <a:srgbClr val="FFFFFF"/>
                </a:solidFill>
              </a:rPr>
              <a:t>Pilar 2: La Técnica</a:t>
            </a:r>
            <a:endParaRPr lang="en-US" sz="1000" dirty="0"/>
          </a:p>
        </p:txBody>
      </p:sp>
      <p:sp>
        <p:nvSpPr>
          <p:cNvPr id="15" name="Text 13"/>
          <p:cNvSpPr/>
          <p:nvPr/>
        </p:nvSpPr>
        <p:spPr>
          <a:xfrm>
            <a:off x="3291840" y="3063240"/>
            <a:ext cx="2423160" cy="960120"/>
          </a:xfrm>
          <a:prstGeom prst="rect">
            <a:avLst/>
          </a:prstGeom>
          <a:noFill/>
          <a:ln/>
        </p:spPr>
        <p:txBody>
          <a:bodyPr wrap="square" lIns="0" tIns="0" rIns="0" bIns="0" rtlCol="0" anchor="ctr"/>
          <a:lstStyle/>
          <a:p>
            <a:pPr indent="0" marL="0">
              <a:buNone/>
            </a:pPr>
            <a:r>
              <a:rPr lang="en-US" sz="950" dirty="0">
                <a:solidFill>
                  <a:srgbClr val="CBD5E1"/>
                </a:solidFill>
              </a:rPr>
              <a:t>TF-IDF captura frecuencia léxica; BERT captura contexto semántico profundo, incluyendo negaciones y sarcasmo.</a:t>
            </a:r>
            <a:endParaRPr lang="en-US" sz="950" dirty="0"/>
          </a:p>
        </p:txBody>
      </p:sp>
      <p:sp>
        <p:nvSpPr>
          <p:cNvPr id="16" name="Shape 14"/>
          <p:cNvSpPr/>
          <p:nvPr/>
        </p:nvSpPr>
        <p:spPr>
          <a:xfrm>
            <a:off x="6035040" y="2697480"/>
            <a:ext cx="2606040" cy="1371600"/>
          </a:xfrm>
          <a:prstGeom prst="rect">
            <a:avLst>
              <a:gd name="adj" fmla="val 3333"/>
            </a:avLst>
          </a:prstGeom>
          <a:solidFill>
            <a:srgbClr val="162032"/>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7" name="Shape 15"/>
          <p:cNvSpPr/>
          <p:nvPr/>
        </p:nvSpPr>
        <p:spPr>
          <a:xfrm>
            <a:off x="6035040" y="2697480"/>
            <a:ext cx="2606040" cy="320040"/>
          </a:xfrm>
          <a:prstGeom prst="rect">
            <a:avLst/>
          </a:prstGeom>
          <a:solidFill>
            <a:srgbClr val="7C3AED"/>
          </a:solidFill>
          <a:ln w="12700">
            <a:solidFill>
              <a:srgbClr val="7C3AED"/>
            </a:solidFill>
            <a:prstDash val="solid"/>
          </a:ln>
        </p:spPr>
      </p:sp>
      <p:sp>
        <p:nvSpPr>
          <p:cNvPr id="18" name="Text 16"/>
          <p:cNvSpPr/>
          <p:nvPr/>
        </p:nvSpPr>
        <p:spPr>
          <a:xfrm>
            <a:off x="6108192" y="2697480"/>
            <a:ext cx="2468880" cy="320040"/>
          </a:xfrm>
          <a:prstGeom prst="rect">
            <a:avLst/>
          </a:prstGeom>
          <a:noFill/>
          <a:ln/>
        </p:spPr>
        <p:txBody>
          <a:bodyPr wrap="square" lIns="0" tIns="0" rIns="0" bIns="0" rtlCol="0" anchor="ctr"/>
          <a:lstStyle/>
          <a:p>
            <a:pPr indent="0" marL="0">
              <a:buNone/>
            </a:pPr>
            <a:r>
              <a:rPr lang="en-US" sz="1000" b="1" dirty="0">
                <a:solidFill>
                  <a:srgbClr val="FFFFFF"/>
                </a:solidFill>
              </a:rPr>
              <a:t>Pilar 3: La Métrica</a:t>
            </a:r>
            <a:endParaRPr lang="en-US" sz="1000" dirty="0"/>
          </a:p>
        </p:txBody>
      </p:sp>
      <p:sp>
        <p:nvSpPr>
          <p:cNvPr id="19" name="Text 17"/>
          <p:cNvSpPr/>
          <p:nvPr/>
        </p:nvSpPr>
        <p:spPr>
          <a:xfrm>
            <a:off x="6126480" y="3063240"/>
            <a:ext cx="2423160" cy="960120"/>
          </a:xfrm>
          <a:prstGeom prst="rect">
            <a:avLst/>
          </a:prstGeom>
          <a:noFill/>
          <a:ln/>
        </p:spPr>
        <p:txBody>
          <a:bodyPr wrap="square" lIns="0" tIns="0" rIns="0" bIns="0" rtlCol="0" anchor="ctr"/>
          <a:lstStyle/>
          <a:p>
            <a:pPr indent="0" marL="0">
              <a:buNone/>
            </a:pPr>
            <a:r>
              <a:rPr lang="en-US" sz="950" dirty="0">
                <a:solidFill>
                  <a:srgbClr val="CBD5E1"/>
                </a:solidFill>
              </a:rPr>
              <a:t>F1 ≥ 0.85 es el estándar mínimo en literatura NLP para clasificadores fiables en dominios sensibles como salud pública.</a:t>
            </a:r>
            <a:endParaRPr lang="en-US" sz="950" dirty="0"/>
          </a:p>
        </p:txBody>
      </p:sp>
      <p:sp>
        <p:nvSpPr>
          <p:cNvPr id="20" name="Shape 18"/>
          <p:cNvSpPr/>
          <p:nvPr/>
        </p:nvSpPr>
        <p:spPr>
          <a:xfrm>
            <a:off x="365760" y="4187952"/>
            <a:ext cx="8412480" cy="566928"/>
          </a:xfrm>
          <a:prstGeom prst="rect">
            <a:avLst/>
          </a:prstGeom>
          <a:solidFill>
            <a:srgbClr val="10B981">
              <a:alpha val="18000"/>
            </a:srgbClr>
          </a:solidFill>
          <a:ln w="12700">
            <a:solidFill>
              <a:srgbClr val="10B981"/>
            </a:solidFill>
            <a:prstDash val="solid"/>
          </a:ln>
        </p:spPr>
      </p:sp>
      <p:sp>
        <p:nvSpPr>
          <p:cNvPr id="21" name="Text 19"/>
          <p:cNvSpPr/>
          <p:nvPr/>
        </p:nvSpPr>
        <p:spPr>
          <a:xfrm>
            <a:off x="502920" y="4206240"/>
            <a:ext cx="8229600" cy="530352"/>
          </a:xfrm>
          <a:prstGeom prst="rect">
            <a:avLst/>
          </a:prstGeom>
          <a:noFill/>
          <a:ln/>
        </p:spPr>
        <p:txBody>
          <a:bodyPr wrap="square" lIns="0" tIns="0" rIns="0" bIns="0" rtlCol="0" anchor="ctr"/>
          <a:lstStyle/>
          <a:p>
            <a:pPr indent="0" marL="0">
              <a:buNone/>
            </a:pPr>
            <a:r>
              <a:rPr lang="en-US" sz="1000" dirty="0">
                <a:solidFill>
                  <a:srgbClr val="FFFFFF"/>
                </a:solidFill>
              </a:rPr>
              <a:t>✓  Resultado esperado: «Semáforo de Alerta Temprana» para tomadores de decisiones, transformando datos no estructurados en inteligencia accionable para el sector salud.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256032"/>
            <a:ext cx="1380744" cy="237744"/>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1380744" cy="237744"/>
          </a:xfrm>
          <a:prstGeom prst="rect">
            <a:avLst/>
          </a:prstGeom>
          <a:noFill/>
          <a:ln/>
        </p:spPr>
        <p:txBody>
          <a:bodyPr wrap="square" lIns="0" tIns="0" rIns="0" bIns="0" rtlCol="0" anchor="ctr"/>
          <a:lstStyle/>
          <a:p>
            <a:pPr algn="ctr" indent="0" marL="0">
              <a:buNone/>
            </a:pPr>
            <a:r>
              <a:rPr lang="en-US" sz="800" b="1" dirty="0">
                <a:solidFill>
                  <a:srgbClr val="FFFFFF"/>
                </a:solidFill>
              </a:rPr>
              <a:t>METODOLOGÍA</a:t>
            </a:r>
            <a:endParaRPr lang="en-US" sz="800" dirty="0"/>
          </a:p>
        </p:txBody>
      </p:sp>
      <p:sp>
        <p:nvSpPr>
          <p:cNvPr id="4" name="Text 2"/>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La Hoja de Ruta del Proyecto: Metodología CRISP-DM</a:t>
            </a:r>
            <a:endParaRPr lang="en-US" sz="2600" dirty="0"/>
          </a:p>
        </p:txBody>
      </p:sp>
      <p:sp>
        <p:nvSpPr>
          <p:cNvPr id="5" name="Text 3"/>
          <p:cNvSpPr/>
          <p:nvPr/>
        </p:nvSpPr>
        <p:spPr>
          <a:xfrm>
            <a:off x="457200" y="1188720"/>
            <a:ext cx="8229600" cy="274320"/>
          </a:xfrm>
          <a:prstGeom prst="rect">
            <a:avLst/>
          </a:prstGeom>
          <a:noFill/>
          <a:ln/>
        </p:spPr>
        <p:txBody>
          <a:bodyPr wrap="square" lIns="0" tIns="0" rIns="0" bIns="0" rtlCol="0" anchor="ctr"/>
          <a:lstStyle/>
          <a:p>
            <a:pPr indent="0" marL="0">
              <a:buNone/>
            </a:pPr>
            <a:r>
              <a:rPr lang="en-US" sz="1050" dirty="0">
                <a:solidFill>
                  <a:srgbClr val="64748B"/>
                </a:solidFill>
              </a:rPr>
              <a:t>Estándar industrial CRISP-DM (Cross-Industry Standard Process for Data Mining) — proceso iterativo de 6 fases.</a:t>
            </a:r>
            <a:endParaRPr lang="en-US" sz="1050" dirty="0"/>
          </a:p>
        </p:txBody>
      </p:sp>
      <p:sp>
        <p:nvSpPr>
          <p:cNvPr id="6" name="Shape 4"/>
          <p:cNvSpPr/>
          <p:nvPr/>
        </p:nvSpPr>
        <p:spPr>
          <a:xfrm>
            <a:off x="365760" y="1600200"/>
            <a:ext cx="2606040" cy="1508760"/>
          </a:xfrm>
          <a:prstGeom prst="rect">
            <a:avLst>
              <a:gd name="adj" fmla="val 3030"/>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7" name="Shape 5"/>
          <p:cNvSpPr/>
          <p:nvPr/>
        </p:nvSpPr>
        <p:spPr>
          <a:xfrm>
            <a:off x="530352" y="1764792"/>
            <a:ext cx="384048" cy="384048"/>
          </a:xfrm>
          <a:prstGeom prst="ellipse">
            <a:avLst/>
          </a:prstGeom>
          <a:solidFill>
            <a:srgbClr val="0D9488"/>
          </a:solidFill>
          <a:ln w="12700">
            <a:solidFill>
              <a:srgbClr val="0D9488"/>
            </a:solidFill>
            <a:prstDash val="solid"/>
          </a:ln>
        </p:spPr>
      </p:sp>
      <p:sp>
        <p:nvSpPr>
          <p:cNvPr id="8" name="Text 6"/>
          <p:cNvSpPr/>
          <p:nvPr/>
        </p:nvSpPr>
        <p:spPr>
          <a:xfrm>
            <a:off x="530352" y="1764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p:nvPr/>
        </p:nvSpPr>
        <p:spPr>
          <a:xfrm>
            <a:off x="1024128" y="1764792"/>
            <a:ext cx="1783080" cy="411480"/>
          </a:xfrm>
          <a:prstGeom prst="rect">
            <a:avLst/>
          </a:prstGeom>
          <a:noFill/>
          <a:ln/>
        </p:spPr>
        <p:txBody>
          <a:bodyPr wrap="square" lIns="0" tIns="0" rIns="0" bIns="0" rtlCol="0" anchor="ctr"/>
          <a:lstStyle/>
          <a:p>
            <a:pPr indent="0" marL="0">
              <a:buNone/>
            </a:pPr>
            <a:r>
              <a:rPr lang="en-US" sz="1100" b="1" dirty="0">
                <a:solidFill>
                  <a:srgbClr val="0D9488"/>
                </a:solidFill>
              </a:rPr>
              <a:t>Comprensión del Negocio</a:t>
            </a:r>
            <a:endParaRPr lang="en-US" sz="1100" dirty="0"/>
          </a:p>
        </p:txBody>
      </p:sp>
      <p:sp>
        <p:nvSpPr>
          <p:cNvPr id="10" name="Text 8"/>
          <p:cNvSpPr/>
          <p:nvPr/>
        </p:nvSpPr>
        <p:spPr>
          <a:xfrm>
            <a:off x="502920" y="2258568"/>
            <a:ext cx="2331720" cy="777240"/>
          </a:xfrm>
          <a:prstGeom prst="rect">
            <a:avLst/>
          </a:prstGeom>
          <a:noFill/>
          <a:ln/>
        </p:spPr>
        <p:txBody>
          <a:bodyPr wrap="square" lIns="0" tIns="0" rIns="0" bIns="0" rtlCol="0" anchor="ctr"/>
          <a:lstStyle/>
          <a:p>
            <a:pPr indent="0" marL="0">
              <a:buNone/>
            </a:pPr>
            <a:r>
              <a:rPr lang="en-US" sz="1000" dirty="0">
                <a:solidFill>
                  <a:srgbClr val="CBD5E1"/>
                </a:solidFill>
              </a:rPr>
              <a:t>Identificar la brecha entre datos oficiales (SINAVE) y experiencia ciudadana.</a:t>
            </a:r>
            <a:endParaRPr lang="en-US" sz="1000" dirty="0"/>
          </a:p>
        </p:txBody>
      </p:sp>
      <p:sp>
        <p:nvSpPr>
          <p:cNvPr id="11" name="Shape 9"/>
          <p:cNvSpPr/>
          <p:nvPr/>
        </p:nvSpPr>
        <p:spPr>
          <a:xfrm>
            <a:off x="3200400" y="1600200"/>
            <a:ext cx="2606040" cy="1508760"/>
          </a:xfrm>
          <a:prstGeom prst="rect">
            <a:avLst>
              <a:gd name="adj" fmla="val 3030"/>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2" name="Shape 10"/>
          <p:cNvSpPr/>
          <p:nvPr/>
        </p:nvSpPr>
        <p:spPr>
          <a:xfrm>
            <a:off x="3364992" y="1764792"/>
            <a:ext cx="384048" cy="384048"/>
          </a:xfrm>
          <a:prstGeom prst="ellipse">
            <a:avLst/>
          </a:prstGeom>
          <a:solidFill>
            <a:srgbClr val="14B8A6"/>
          </a:solidFill>
          <a:ln w="12700">
            <a:solidFill>
              <a:srgbClr val="14B8A6"/>
            </a:solidFill>
            <a:prstDash val="solid"/>
          </a:ln>
        </p:spPr>
      </p:sp>
      <p:sp>
        <p:nvSpPr>
          <p:cNvPr id="13" name="Text 11"/>
          <p:cNvSpPr/>
          <p:nvPr/>
        </p:nvSpPr>
        <p:spPr>
          <a:xfrm>
            <a:off x="3364992" y="1764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2"/>
          <p:cNvSpPr/>
          <p:nvPr/>
        </p:nvSpPr>
        <p:spPr>
          <a:xfrm>
            <a:off x="3858768" y="1764792"/>
            <a:ext cx="1783080" cy="411480"/>
          </a:xfrm>
          <a:prstGeom prst="rect">
            <a:avLst/>
          </a:prstGeom>
          <a:noFill/>
          <a:ln/>
        </p:spPr>
        <p:txBody>
          <a:bodyPr wrap="square" lIns="0" tIns="0" rIns="0" bIns="0" rtlCol="0" anchor="ctr"/>
          <a:lstStyle/>
          <a:p>
            <a:pPr indent="0" marL="0">
              <a:buNone/>
            </a:pPr>
            <a:r>
              <a:rPr lang="en-US" sz="1100" b="1" dirty="0">
                <a:solidFill>
                  <a:srgbClr val="14B8A6"/>
                </a:solidFill>
              </a:rPr>
              <a:t>Comprensión de los Datos</a:t>
            </a:r>
            <a:endParaRPr lang="en-US" sz="1100" dirty="0"/>
          </a:p>
        </p:txBody>
      </p:sp>
      <p:sp>
        <p:nvSpPr>
          <p:cNvPr id="15" name="Text 13"/>
          <p:cNvSpPr/>
          <p:nvPr/>
        </p:nvSpPr>
        <p:spPr>
          <a:xfrm>
            <a:off x="3337560" y="2258568"/>
            <a:ext cx="2331720" cy="777240"/>
          </a:xfrm>
          <a:prstGeom prst="rect">
            <a:avLst/>
          </a:prstGeom>
          <a:noFill/>
          <a:ln/>
        </p:spPr>
        <p:txBody>
          <a:bodyPr wrap="square" lIns="0" tIns="0" rIns="0" bIns="0" rtlCol="0" anchor="ctr"/>
          <a:lstStyle/>
          <a:p>
            <a:pPr indent="0" marL="0">
              <a:buNone/>
            </a:pPr>
            <a:r>
              <a:rPr lang="en-US" sz="1000" dirty="0">
                <a:solidFill>
                  <a:srgbClr val="CBD5E1"/>
                </a:solidFill>
              </a:rPr>
              <a:t>Extraer y explorar comentarios de Reddit.</a:t>
            </a:r>
            <a:endParaRPr lang="en-US" sz="1000" dirty="0"/>
          </a:p>
        </p:txBody>
      </p:sp>
      <p:sp>
        <p:nvSpPr>
          <p:cNvPr id="16" name="Shape 14"/>
          <p:cNvSpPr/>
          <p:nvPr/>
        </p:nvSpPr>
        <p:spPr>
          <a:xfrm>
            <a:off x="6035040" y="1600200"/>
            <a:ext cx="2606040" cy="1508760"/>
          </a:xfrm>
          <a:prstGeom prst="rect">
            <a:avLst>
              <a:gd name="adj" fmla="val 3030"/>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7" name="Shape 15"/>
          <p:cNvSpPr/>
          <p:nvPr/>
        </p:nvSpPr>
        <p:spPr>
          <a:xfrm>
            <a:off x="6199632" y="1764792"/>
            <a:ext cx="384048" cy="384048"/>
          </a:xfrm>
          <a:prstGeom prst="ellipse">
            <a:avLst/>
          </a:prstGeom>
          <a:solidFill>
            <a:srgbClr val="F59E0B"/>
          </a:solidFill>
          <a:ln w="12700">
            <a:solidFill>
              <a:srgbClr val="F59E0B"/>
            </a:solidFill>
            <a:prstDash val="solid"/>
          </a:ln>
        </p:spPr>
      </p:sp>
      <p:sp>
        <p:nvSpPr>
          <p:cNvPr id="18" name="Text 16"/>
          <p:cNvSpPr/>
          <p:nvPr/>
        </p:nvSpPr>
        <p:spPr>
          <a:xfrm>
            <a:off x="6199632" y="1764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7"/>
          <p:cNvSpPr/>
          <p:nvPr/>
        </p:nvSpPr>
        <p:spPr>
          <a:xfrm>
            <a:off x="6693408" y="1764792"/>
            <a:ext cx="1783080" cy="411480"/>
          </a:xfrm>
          <a:prstGeom prst="rect">
            <a:avLst/>
          </a:prstGeom>
          <a:noFill/>
          <a:ln/>
        </p:spPr>
        <p:txBody>
          <a:bodyPr wrap="square" lIns="0" tIns="0" rIns="0" bIns="0" rtlCol="0" anchor="ctr"/>
          <a:lstStyle/>
          <a:p>
            <a:pPr indent="0" marL="0">
              <a:buNone/>
            </a:pPr>
            <a:r>
              <a:rPr lang="en-US" sz="1100" b="1" dirty="0">
                <a:solidFill>
                  <a:srgbClr val="F59E0B"/>
                </a:solidFill>
              </a:rPr>
              <a:t>Preparación de los Datos</a:t>
            </a:r>
            <a:endParaRPr lang="en-US" sz="1100" dirty="0"/>
          </a:p>
        </p:txBody>
      </p:sp>
      <p:sp>
        <p:nvSpPr>
          <p:cNvPr id="20" name="Text 18"/>
          <p:cNvSpPr/>
          <p:nvPr/>
        </p:nvSpPr>
        <p:spPr>
          <a:xfrm>
            <a:off x="6172200" y="2258568"/>
            <a:ext cx="2331720" cy="777240"/>
          </a:xfrm>
          <a:prstGeom prst="rect">
            <a:avLst/>
          </a:prstGeom>
          <a:noFill/>
          <a:ln/>
        </p:spPr>
        <p:txBody>
          <a:bodyPr wrap="square" lIns="0" tIns="0" rIns="0" bIns="0" rtlCol="0" anchor="ctr"/>
          <a:lstStyle/>
          <a:p>
            <a:pPr indent="0" marL="0">
              <a:buNone/>
            </a:pPr>
            <a:r>
              <a:rPr lang="en-US" sz="1000" dirty="0">
                <a:solidFill>
                  <a:srgbClr val="CBD5E1"/>
                </a:solidFill>
              </a:rPr>
              <a:t>Limpiar y normalizar el texto en español mexicano.</a:t>
            </a:r>
            <a:endParaRPr lang="en-US" sz="1000" dirty="0"/>
          </a:p>
        </p:txBody>
      </p:sp>
      <p:sp>
        <p:nvSpPr>
          <p:cNvPr id="21" name="Shape 19"/>
          <p:cNvSpPr/>
          <p:nvPr/>
        </p:nvSpPr>
        <p:spPr>
          <a:xfrm>
            <a:off x="365760" y="3291840"/>
            <a:ext cx="2606040" cy="1508760"/>
          </a:xfrm>
          <a:prstGeom prst="rect">
            <a:avLst>
              <a:gd name="adj" fmla="val 3030"/>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22" name="Shape 20"/>
          <p:cNvSpPr/>
          <p:nvPr/>
        </p:nvSpPr>
        <p:spPr>
          <a:xfrm>
            <a:off x="530352" y="3456432"/>
            <a:ext cx="384048" cy="384048"/>
          </a:xfrm>
          <a:prstGeom prst="ellipse">
            <a:avLst/>
          </a:prstGeom>
          <a:solidFill>
            <a:srgbClr val="7C3AED"/>
          </a:solidFill>
          <a:ln w="12700">
            <a:solidFill>
              <a:srgbClr val="7C3AED"/>
            </a:solidFill>
            <a:prstDash val="solid"/>
          </a:ln>
        </p:spPr>
      </p:sp>
      <p:sp>
        <p:nvSpPr>
          <p:cNvPr id="23" name="Text 21"/>
          <p:cNvSpPr/>
          <p:nvPr/>
        </p:nvSpPr>
        <p:spPr>
          <a:xfrm>
            <a:off x="530352" y="34564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4" name="Text 22"/>
          <p:cNvSpPr/>
          <p:nvPr/>
        </p:nvSpPr>
        <p:spPr>
          <a:xfrm>
            <a:off x="1024128" y="3456432"/>
            <a:ext cx="1783080" cy="411480"/>
          </a:xfrm>
          <a:prstGeom prst="rect">
            <a:avLst/>
          </a:prstGeom>
          <a:noFill/>
          <a:ln/>
        </p:spPr>
        <p:txBody>
          <a:bodyPr wrap="square" lIns="0" tIns="0" rIns="0" bIns="0" rtlCol="0" anchor="ctr"/>
          <a:lstStyle/>
          <a:p>
            <a:pPr indent="0" marL="0">
              <a:buNone/>
            </a:pPr>
            <a:r>
              <a:rPr lang="en-US" sz="1100" b="1" dirty="0">
                <a:solidFill>
                  <a:srgbClr val="7C3AED"/>
                </a:solidFill>
              </a:rPr>
              <a:t>Modelado</a:t>
            </a:r>
            <a:endParaRPr lang="en-US" sz="1100" dirty="0"/>
          </a:p>
        </p:txBody>
      </p:sp>
      <p:sp>
        <p:nvSpPr>
          <p:cNvPr id="25" name="Text 23"/>
          <p:cNvSpPr/>
          <p:nvPr/>
        </p:nvSpPr>
        <p:spPr>
          <a:xfrm>
            <a:off x="502920" y="3950208"/>
            <a:ext cx="2331720" cy="777240"/>
          </a:xfrm>
          <a:prstGeom prst="rect">
            <a:avLst/>
          </a:prstGeom>
          <a:noFill/>
          <a:ln/>
        </p:spPr>
        <p:txBody>
          <a:bodyPr wrap="square" lIns="0" tIns="0" rIns="0" bIns="0" rtlCol="0" anchor="ctr"/>
          <a:lstStyle/>
          <a:p>
            <a:pPr indent="0" marL="0">
              <a:buNone/>
            </a:pPr>
            <a:r>
              <a:rPr lang="en-US" sz="1000" dirty="0">
                <a:solidFill>
                  <a:srgbClr val="CBD5E1"/>
                </a:solidFill>
              </a:rPr>
              <a:t>Entrenar algoritmos de clasificación.</a:t>
            </a:r>
            <a:endParaRPr lang="en-US" sz="1000" dirty="0"/>
          </a:p>
        </p:txBody>
      </p:sp>
      <p:sp>
        <p:nvSpPr>
          <p:cNvPr id="26" name="Shape 24"/>
          <p:cNvSpPr/>
          <p:nvPr/>
        </p:nvSpPr>
        <p:spPr>
          <a:xfrm>
            <a:off x="3200400" y="3291840"/>
            <a:ext cx="2606040" cy="1508760"/>
          </a:xfrm>
          <a:prstGeom prst="rect">
            <a:avLst>
              <a:gd name="adj" fmla="val 3030"/>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27" name="Shape 25"/>
          <p:cNvSpPr/>
          <p:nvPr/>
        </p:nvSpPr>
        <p:spPr>
          <a:xfrm>
            <a:off x="3364992" y="3456432"/>
            <a:ext cx="384048" cy="384048"/>
          </a:xfrm>
          <a:prstGeom prst="ellipse">
            <a:avLst/>
          </a:prstGeom>
          <a:solidFill>
            <a:srgbClr val="F43F5E"/>
          </a:solidFill>
          <a:ln w="12700">
            <a:solidFill>
              <a:srgbClr val="F43F5E"/>
            </a:solidFill>
            <a:prstDash val="solid"/>
          </a:ln>
        </p:spPr>
      </p:sp>
      <p:sp>
        <p:nvSpPr>
          <p:cNvPr id="28" name="Text 26"/>
          <p:cNvSpPr/>
          <p:nvPr/>
        </p:nvSpPr>
        <p:spPr>
          <a:xfrm>
            <a:off x="3364992" y="34564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9" name="Text 27"/>
          <p:cNvSpPr/>
          <p:nvPr/>
        </p:nvSpPr>
        <p:spPr>
          <a:xfrm>
            <a:off x="3858768" y="3456432"/>
            <a:ext cx="1783080" cy="411480"/>
          </a:xfrm>
          <a:prstGeom prst="rect">
            <a:avLst/>
          </a:prstGeom>
          <a:noFill/>
          <a:ln/>
        </p:spPr>
        <p:txBody>
          <a:bodyPr wrap="square" lIns="0" tIns="0" rIns="0" bIns="0" rtlCol="0" anchor="ctr"/>
          <a:lstStyle/>
          <a:p>
            <a:pPr indent="0" marL="0">
              <a:buNone/>
            </a:pPr>
            <a:r>
              <a:rPr lang="en-US" sz="1100" b="1" dirty="0">
                <a:solidFill>
                  <a:srgbClr val="F43F5E"/>
                </a:solidFill>
              </a:rPr>
              <a:t>Evaluación</a:t>
            </a:r>
            <a:endParaRPr lang="en-US" sz="1100" dirty="0"/>
          </a:p>
        </p:txBody>
      </p:sp>
      <p:sp>
        <p:nvSpPr>
          <p:cNvPr id="30" name="Text 28"/>
          <p:cNvSpPr/>
          <p:nvPr/>
        </p:nvSpPr>
        <p:spPr>
          <a:xfrm>
            <a:off x="3337560" y="3950208"/>
            <a:ext cx="2331720" cy="777240"/>
          </a:xfrm>
          <a:prstGeom prst="rect">
            <a:avLst/>
          </a:prstGeom>
          <a:noFill/>
          <a:ln/>
        </p:spPr>
        <p:txBody>
          <a:bodyPr wrap="square" lIns="0" tIns="0" rIns="0" bIns="0" rtlCol="0" anchor="ctr"/>
          <a:lstStyle/>
          <a:p>
            <a:pPr indent="0" marL="0">
              <a:buNone/>
            </a:pPr>
            <a:r>
              <a:rPr lang="en-US" sz="1000" dirty="0">
                <a:solidFill>
                  <a:srgbClr val="CBD5E1"/>
                </a:solidFill>
              </a:rPr>
              <a:t>Medir la calidad del modelo con métricas estadísticas rigurosas.</a:t>
            </a:r>
            <a:endParaRPr lang="en-US" sz="1000" dirty="0"/>
          </a:p>
        </p:txBody>
      </p:sp>
      <p:sp>
        <p:nvSpPr>
          <p:cNvPr id="31" name="Shape 29"/>
          <p:cNvSpPr/>
          <p:nvPr/>
        </p:nvSpPr>
        <p:spPr>
          <a:xfrm>
            <a:off x="6035040" y="3291840"/>
            <a:ext cx="2606040" cy="1508760"/>
          </a:xfrm>
          <a:prstGeom prst="rect">
            <a:avLst>
              <a:gd name="adj" fmla="val 3030"/>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32" name="Shape 30"/>
          <p:cNvSpPr/>
          <p:nvPr/>
        </p:nvSpPr>
        <p:spPr>
          <a:xfrm>
            <a:off x="6199632" y="3456432"/>
            <a:ext cx="384048" cy="384048"/>
          </a:xfrm>
          <a:prstGeom prst="ellipse">
            <a:avLst/>
          </a:prstGeom>
          <a:solidFill>
            <a:srgbClr val="10B981"/>
          </a:solidFill>
          <a:ln w="12700">
            <a:solidFill>
              <a:srgbClr val="10B981"/>
            </a:solidFill>
            <a:prstDash val="solid"/>
          </a:ln>
        </p:spPr>
      </p:sp>
      <p:sp>
        <p:nvSpPr>
          <p:cNvPr id="33" name="Text 31"/>
          <p:cNvSpPr/>
          <p:nvPr/>
        </p:nvSpPr>
        <p:spPr>
          <a:xfrm>
            <a:off x="6199632" y="34564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4" name="Text 32"/>
          <p:cNvSpPr/>
          <p:nvPr/>
        </p:nvSpPr>
        <p:spPr>
          <a:xfrm>
            <a:off x="6693408" y="3456432"/>
            <a:ext cx="1783080" cy="411480"/>
          </a:xfrm>
          <a:prstGeom prst="rect">
            <a:avLst/>
          </a:prstGeom>
          <a:noFill/>
          <a:ln/>
        </p:spPr>
        <p:txBody>
          <a:bodyPr wrap="square" lIns="0" tIns="0" rIns="0" bIns="0" rtlCol="0" anchor="ctr"/>
          <a:lstStyle/>
          <a:p>
            <a:pPr indent="0" marL="0">
              <a:buNone/>
            </a:pPr>
            <a:r>
              <a:rPr lang="en-US" sz="1100" b="1" dirty="0">
                <a:solidFill>
                  <a:srgbClr val="10B981"/>
                </a:solidFill>
              </a:rPr>
              <a:t>Despliegue</a:t>
            </a:r>
            <a:endParaRPr lang="en-US" sz="1100" dirty="0"/>
          </a:p>
        </p:txBody>
      </p:sp>
      <p:sp>
        <p:nvSpPr>
          <p:cNvPr id="35" name="Text 33"/>
          <p:cNvSpPr/>
          <p:nvPr/>
        </p:nvSpPr>
        <p:spPr>
          <a:xfrm>
            <a:off x="6172200" y="3950208"/>
            <a:ext cx="2331720" cy="777240"/>
          </a:xfrm>
          <a:prstGeom prst="rect">
            <a:avLst/>
          </a:prstGeom>
          <a:noFill/>
          <a:ln/>
        </p:spPr>
        <p:txBody>
          <a:bodyPr wrap="square" lIns="0" tIns="0" rIns="0" bIns="0" rtlCol="0" anchor="ctr"/>
          <a:lstStyle/>
          <a:p>
            <a:pPr indent="0" marL="0">
              <a:buNone/>
            </a:pPr>
            <a:r>
              <a:rPr lang="en-US" sz="1000" dirty="0">
                <a:solidFill>
                  <a:srgbClr val="CBD5E1"/>
                </a:solidFill>
              </a:rPr>
              <a:t>Proponer cómo usar el modelo en un entorno real.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256032"/>
            <a:ext cx="1581912" cy="237744"/>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1581912" cy="237744"/>
          </a:xfrm>
          <a:prstGeom prst="rect">
            <a:avLst/>
          </a:prstGeom>
          <a:noFill/>
          <a:ln/>
        </p:spPr>
        <p:txBody>
          <a:bodyPr wrap="square" lIns="0" tIns="0" rIns="0" bIns="0" rtlCol="0" anchor="ctr"/>
          <a:lstStyle/>
          <a:p>
            <a:pPr algn="ctr" indent="0" marL="0">
              <a:buNone/>
            </a:pPr>
            <a:r>
              <a:rPr lang="en-US" sz="800" b="1" dirty="0">
                <a:solidFill>
                  <a:srgbClr val="FFFFFF"/>
                </a:solidFill>
              </a:rPr>
              <a:t>MARCO TEÓRICO</a:t>
            </a:r>
            <a:endParaRPr lang="en-US" sz="800" dirty="0"/>
          </a:p>
        </p:txBody>
      </p:sp>
      <p:sp>
        <p:nvSpPr>
          <p:cNvPr id="4" name="Text 2"/>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¿Qué conceptos de Minería de Datos sustentan este trabajo?</a:t>
            </a:r>
            <a:endParaRPr lang="en-US" sz="2600" dirty="0"/>
          </a:p>
        </p:txBody>
      </p:sp>
      <p:sp>
        <p:nvSpPr>
          <p:cNvPr id="5" name="Shape 3"/>
          <p:cNvSpPr/>
          <p:nvPr/>
        </p:nvSpPr>
        <p:spPr>
          <a:xfrm>
            <a:off x="365760" y="1325880"/>
            <a:ext cx="3931920" cy="1600200"/>
          </a:xfrm>
          <a:prstGeom prst="rect">
            <a:avLst>
              <a:gd name="adj" fmla="val 2857"/>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6" name="Shape 4"/>
          <p:cNvSpPr/>
          <p:nvPr/>
        </p:nvSpPr>
        <p:spPr>
          <a:xfrm>
            <a:off x="365760" y="1325880"/>
            <a:ext cx="3931920" cy="54864"/>
          </a:xfrm>
          <a:prstGeom prst="rect">
            <a:avLst/>
          </a:prstGeom>
          <a:solidFill>
            <a:srgbClr val="0D9488"/>
          </a:solidFill>
          <a:ln w="12700">
            <a:solidFill>
              <a:srgbClr val="0D9488"/>
            </a:solidFill>
            <a:prstDash val="solid"/>
          </a:ln>
        </p:spPr>
      </p:sp>
      <p:sp>
        <p:nvSpPr>
          <p:cNvPr id="7" name="Text 5"/>
          <p:cNvSpPr/>
          <p:nvPr/>
        </p:nvSpPr>
        <p:spPr>
          <a:xfrm>
            <a:off x="530352" y="1490472"/>
            <a:ext cx="3566160" cy="384048"/>
          </a:xfrm>
          <a:prstGeom prst="rect">
            <a:avLst/>
          </a:prstGeom>
          <a:noFill/>
          <a:ln/>
        </p:spPr>
        <p:txBody>
          <a:bodyPr wrap="square" lIns="0" tIns="0" rIns="0" bIns="0" rtlCol="0" anchor="ctr"/>
          <a:lstStyle/>
          <a:p>
            <a:pPr indent="0" marL="0">
              <a:buNone/>
            </a:pPr>
            <a:r>
              <a:rPr lang="en-US" sz="1300" b="1" dirty="0">
                <a:solidFill>
                  <a:srgbClr val="0D9488"/>
                </a:solidFill>
              </a:rPr>
              <a:t>KDD</a:t>
            </a:r>
            <a:endParaRPr lang="en-US" sz="1300" dirty="0"/>
          </a:p>
        </p:txBody>
      </p:sp>
      <p:sp>
        <p:nvSpPr>
          <p:cNvPr id="8" name="Text 6"/>
          <p:cNvSpPr/>
          <p:nvPr/>
        </p:nvSpPr>
        <p:spPr>
          <a:xfrm>
            <a:off x="530352" y="1920240"/>
            <a:ext cx="3611880" cy="914400"/>
          </a:xfrm>
          <a:prstGeom prst="rect">
            <a:avLst/>
          </a:prstGeom>
          <a:noFill/>
          <a:ln/>
        </p:spPr>
        <p:txBody>
          <a:bodyPr wrap="square" lIns="0" tIns="0" rIns="0" bIns="0" rtlCol="0" anchor="ctr"/>
          <a:lstStyle/>
          <a:p>
            <a:pPr indent="0" marL="0">
              <a:buNone/>
            </a:pPr>
            <a:r>
              <a:rPr lang="en-US" sz="1100" dirty="0">
                <a:solidFill>
                  <a:srgbClr val="CBD5E1"/>
                </a:solidFill>
              </a:rPr>
              <a:t>Búsqueda de patrones ocultos y conocimiento no explícito en los datos. La minería es el corazón del proceso.</a:t>
            </a:r>
            <a:endParaRPr lang="en-US" sz="1100" dirty="0"/>
          </a:p>
        </p:txBody>
      </p:sp>
      <p:sp>
        <p:nvSpPr>
          <p:cNvPr id="9" name="Shape 7"/>
          <p:cNvSpPr/>
          <p:nvPr/>
        </p:nvSpPr>
        <p:spPr>
          <a:xfrm>
            <a:off x="4663440" y="1325880"/>
            <a:ext cx="3931920" cy="1600200"/>
          </a:xfrm>
          <a:prstGeom prst="rect">
            <a:avLst>
              <a:gd name="adj" fmla="val 2857"/>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0" name="Shape 8"/>
          <p:cNvSpPr/>
          <p:nvPr/>
        </p:nvSpPr>
        <p:spPr>
          <a:xfrm>
            <a:off x="4663440" y="1325880"/>
            <a:ext cx="3931920" cy="54864"/>
          </a:xfrm>
          <a:prstGeom prst="rect">
            <a:avLst/>
          </a:prstGeom>
          <a:solidFill>
            <a:srgbClr val="F59E0B"/>
          </a:solidFill>
          <a:ln w="12700">
            <a:solidFill>
              <a:srgbClr val="F59E0B"/>
            </a:solidFill>
            <a:prstDash val="solid"/>
          </a:ln>
        </p:spPr>
      </p:sp>
      <p:sp>
        <p:nvSpPr>
          <p:cNvPr id="11" name="Text 9"/>
          <p:cNvSpPr/>
          <p:nvPr/>
        </p:nvSpPr>
        <p:spPr>
          <a:xfrm>
            <a:off x="4828032" y="1490472"/>
            <a:ext cx="3566160" cy="384048"/>
          </a:xfrm>
          <a:prstGeom prst="rect">
            <a:avLst/>
          </a:prstGeom>
          <a:noFill/>
          <a:ln/>
        </p:spPr>
        <p:txBody>
          <a:bodyPr wrap="square" lIns="0" tIns="0" rIns="0" bIns="0" rtlCol="0" anchor="ctr"/>
          <a:lstStyle/>
          <a:p>
            <a:pPr indent="0" marL="0">
              <a:buNone/>
            </a:pPr>
            <a:r>
              <a:rPr lang="en-US" sz="1300" b="1" dirty="0">
                <a:solidFill>
                  <a:srgbClr val="F59E0B"/>
                </a:solidFill>
              </a:rPr>
              <a:t>Aprendizaje Supervisado</a:t>
            </a:r>
            <a:endParaRPr lang="en-US" sz="1300" dirty="0"/>
          </a:p>
        </p:txBody>
      </p:sp>
      <p:sp>
        <p:nvSpPr>
          <p:cNvPr id="12" name="Text 10"/>
          <p:cNvSpPr/>
          <p:nvPr/>
        </p:nvSpPr>
        <p:spPr>
          <a:xfrm>
            <a:off x="4828032" y="1920240"/>
            <a:ext cx="3611880" cy="914400"/>
          </a:xfrm>
          <a:prstGeom prst="rect">
            <a:avLst/>
          </a:prstGeom>
          <a:noFill/>
          <a:ln/>
        </p:spPr>
        <p:txBody>
          <a:bodyPr wrap="square" lIns="0" tIns="0" rIns="0" bIns="0" rtlCol="0" anchor="ctr"/>
          <a:lstStyle/>
          <a:p>
            <a:pPr indent="0" marL="0">
              <a:buNone/>
            </a:pPr>
            <a:r>
              <a:rPr lang="en-US" sz="1100" dirty="0">
                <a:solidFill>
                  <a:srgbClr val="CBD5E1"/>
                </a:solidFill>
              </a:rPr>
              <a:t>Entrenamiento con ejemplos etiquetados: «esto es una queja grave» o «esto no lo es». El modelo replica ese criterio.</a:t>
            </a:r>
            <a:endParaRPr lang="en-US" sz="1100" dirty="0"/>
          </a:p>
        </p:txBody>
      </p:sp>
      <p:sp>
        <p:nvSpPr>
          <p:cNvPr id="13" name="Shape 11"/>
          <p:cNvSpPr/>
          <p:nvPr/>
        </p:nvSpPr>
        <p:spPr>
          <a:xfrm>
            <a:off x="365760" y="3154680"/>
            <a:ext cx="3931920" cy="1600200"/>
          </a:xfrm>
          <a:prstGeom prst="rect">
            <a:avLst>
              <a:gd name="adj" fmla="val 2857"/>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4" name="Shape 12"/>
          <p:cNvSpPr/>
          <p:nvPr/>
        </p:nvSpPr>
        <p:spPr>
          <a:xfrm>
            <a:off x="365760" y="3154680"/>
            <a:ext cx="3931920" cy="54864"/>
          </a:xfrm>
          <a:prstGeom prst="rect">
            <a:avLst/>
          </a:prstGeom>
          <a:solidFill>
            <a:srgbClr val="7C3AED"/>
          </a:solidFill>
          <a:ln w="12700">
            <a:solidFill>
              <a:srgbClr val="7C3AED"/>
            </a:solidFill>
            <a:prstDash val="solid"/>
          </a:ln>
        </p:spPr>
      </p:sp>
      <p:sp>
        <p:nvSpPr>
          <p:cNvPr id="15" name="Text 13"/>
          <p:cNvSpPr/>
          <p:nvPr/>
        </p:nvSpPr>
        <p:spPr>
          <a:xfrm>
            <a:off x="530352" y="3319272"/>
            <a:ext cx="3566160" cy="384048"/>
          </a:xfrm>
          <a:prstGeom prst="rect">
            <a:avLst/>
          </a:prstGeom>
          <a:noFill/>
          <a:ln/>
        </p:spPr>
        <p:txBody>
          <a:bodyPr wrap="square" lIns="0" tIns="0" rIns="0" bIns="0" rtlCol="0" anchor="ctr"/>
          <a:lstStyle/>
          <a:p>
            <a:pPr indent="0" marL="0">
              <a:buNone/>
            </a:pPr>
            <a:r>
              <a:rPr lang="en-US" sz="1300" b="1" dirty="0">
                <a:solidFill>
                  <a:srgbClr val="7C3AED"/>
                </a:solidFill>
              </a:rPr>
              <a:t>Procesamiento de Lenguaje Natural</a:t>
            </a:r>
            <a:endParaRPr lang="en-US" sz="1300" dirty="0"/>
          </a:p>
        </p:txBody>
      </p:sp>
      <p:sp>
        <p:nvSpPr>
          <p:cNvPr id="16" name="Text 14"/>
          <p:cNvSpPr/>
          <p:nvPr/>
        </p:nvSpPr>
        <p:spPr>
          <a:xfrm>
            <a:off x="530352" y="3749040"/>
            <a:ext cx="3611880" cy="914400"/>
          </a:xfrm>
          <a:prstGeom prst="rect">
            <a:avLst/>
          </a:prstGeom>
          <a:noFill/>
          <a:ln/>
        </p:spPr>
        <p:txBody>
          <a:bodyPr wrap="square" lIns="0" tIns="0" rIns="0" bIns="0" rtlCol="0" anchor="ctr"/>
          <a:lstStyle/>
          <a:p>
            <a:pPr indent="0" marL="0">
              <a:buNone/>
            </a:pPr>
            <a:r>
              <a:rPr lang="en-US" sz="1100" dirty="0">
                <a:solidFill>
                  <a:srgbClr val="CBD5E1"/>
                </a:solidFill>
              </a:rPr>
              <a:t>Técnicas para que una computadora lea e interprete lenguaje humano en español mexicano coloquial.</a:t>
            </a:r>
            <a:endParaRPr lang="en-US" sz="1100" dirty="0"/>
          </a:p>
        </p:txBody>
      </p:sp>
      <p:sp>
        <p:nvSpPr>
          <p:cNvPr id="17" name="Shape 15"/>
          <p:cNvSpPr/>
          <p:nvPr/>
        </p:nvSpPr>
        <p:spPr>
          <a:xfrm>
            <a:off x="4663440" y="3154680"/>
            <a:ext cx="3931920" cy="1600200"/>
          </a:xfrm>
          <a:prstGeom prst="rect">
            <a:avLst>
              <a:gd name="adj" fmla="val 2857"/>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8" name="Shape 16"/>
          <p:cNvSpPr/>
          <p:nvPr/>
        </p:nvSpPr>
        <p:spPr>
          <a:xfrm>
            <a:off x="4663440" y="3154680"/>
            <a:ext cx="3931920" cy="54864"/>
          </a:xfrm>
          <a:prstGeom prst="rect">
            <a:avLst/>
          </a:prstGeom>
          <a:solidFill>
            <a:srgbClr val="F43F5E"/>
          </a:solidFill>
          <a:ln w="12700">
            <a:solidFill>
              <a:srgbClr val="F43F5E"/>
            </a:solidFill>
            <a:prstDash val="solid"/>
          </a:ln>
        </p:spPr>
      </p:sp>
      <p:sp>
        <p:nvSpPr>
          <p:cNvPr id="19" name="Text 17"/>
          <p:cNvSpPr/>
          <p:nvPr/>
        </p:nvSpPr>
        <p:spPr>
          <a:xfrm>
            <a:off x="4828032" y="3319272"/>
            <a:ext cx="3566160" cy="384048"/>
          </a:xfrm>
          <a:prstGeom prst="rect">
            <a:avLst/>
          </a:prstGeom>
          <a:noFill/>
          <a:ln/>
        </p:spPr>
        <p:txBody>
          <a:bodyPr wrap="square" lIns="0" tIns="0" rIns="0" bIns="0" rtlCol="0" anchor="ctr"/>
          <a:lstStyle/>
          <a:p>
            <a:pPr indent="0" marL="0">
              <a:buNone/>
            </a:pPr>
            <a:r>
              <a:rPr lang="en-US" sz="1300" b="1" dirty="0">
                <a:solidFill>
                  <a:srgbClr val="F43F5E"/>
                </a:solidFill>
              </a:rPr>
              <a:t>Minería de Textos</a:t>
            </a:r>
            <a:endParaRPr lang="en-US" sz="1300" dirty="0"/>
          </a:p>
        </p:txBody>
      </p:sp>
      <p:sp>
        <p:nvSpPr>
          <p:cNvPr id="20" name="Text 18"/>
          <p:cNvSpPr/>
          <p:nvPr/>
        </p:nvSpPr>
        <p:spPr>
          <a:xfrm>
            <a:off x="4828032" y="3749040"/>
            <a:ext cx="3611880" cy="914400"/>
          </a:xfrm>
          <a:prstGeom prst="rect">
            <a:avLst/>
          </a:prstGeom>
          <a:noFill/>
          <a:ln/>
        </p:spPr>
        <p:txBody>
          <a:bodyPr wrap="square" lIns="0" tIns="0" rIns="0" bIns="0" rtlCol="0" anchor="ctr"/>
          <a:lstStyle/>
          <a:p>
            <a:pPr indent="0" marL="0">
              <a:buNone/>
            </a:pPr>
            <a:r>
              <a:rPr lang="en-US" sz="1100" dirty="0">
                <a:solidFill>
                  <a:srgbClr val="CBD5E1"/>
                </a:solidFill>
              </a:rPr>
              <a:t>Aplicación de minería de datos sobre fuentes de texto no estructurado como publicaciones en redes sociales.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256032"/>
            <a:ext cx="2688336" cy="237744"/>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2688336" cy="237744"/>
          </a:xfrm>
          <a:prstGeom prst="rect">
            <a:avLst/>
          </a:prstGeom>
          <a:noFill/>
          <a:ln/>
        </p:spPr>
        <p:txBody>
          <a:bodyPr wrap="square" lIns="0" tIns="0" rIns="0" bIns="0" rtlCol="0" anchor="ctr"/>
          <a:lstStyle/>
          <a:p>
            <a:pPr algn="ctr" indent="0" marL="0">
              <a:buNone/>
            </a:pPr>
            <a:r>
              <a:rPr lang="en-US" sz="800" b="1" dirty="0">
                <a:solidFill>
                  <a:srgbClr val="FFFFFF"/>
                </a:solidFill>
              </a:rPr>
              <a:t>COMPRENSIÓN DE LOS DATOS</a:t>
            </a:r>
            <a:endParaRPr lang="en-US" sz="800" dirty="0"/>
          </a:p>
        </p:txBody>
      </p:sp>
      <p:sp>
        <p:nvSpPr>
          <p:cNvPr id="4" name="Text 2"/>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¿De dónde obtuvimos los datos y qué forma tienen?</a:t>
            </a:r>
            <a:endParaRPr lang="en-US" sz="2600" dirty="0"/>
          </a:p>
        </p:txBody>
      </p:sp>
      <p:sp>
        <p:nvSpPr>
          <p:cNvPr id="5" name="Shape 3"/>
          <p:cNvSpPr/>
          <p:nvPr/>
        </p:nvSpPr>
        <p:spPr>
          <a:xfrm>
            <a:off x="365760" y="1234440"/>
            <a:ext cx="3840480" cy="2468880"/>
          </a:xfrm>
          <a:prstGeom prst="rect">
            <a:avLst>
              <a:gd name="adj" fmla="val 1852"/>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6" name="Shape 4"/>
          <p:cNvSpPr/>
          <p:nvPr/>
        </p:nvSpPr>
        <p:spPr>
          <a:xfrm>
            <a:off x="365760" y="1234440"/>
            <a:ext cx="3840480" cy="320040"/>
          </a:xfrm>
          <a:prstGeom prst="rect">
            <a:avLst/>
          </a:prstGeom>
          <a:solidFill>
            <a:srgbClr val="0D9488"/>
          </a:solidFill>
          <a:ln w="12700">
            <a:solidFill>
              <a:srgbClr val="0D9488"/>
            </a:solidFill>
            <a:prstDash val="solid"/>
          </a:ln>
        </p:spPr>
      </p:sp>
      <p:sp>
        <p:nvSpPr>
          <p:cNvPr id="7" name="Text 5"/>
          <p:cNvSpPr/>
          <p:nvPr/>
        </p:nvSpPr>
        <p:spPr>
          <a:xfrm>
            <a:off x="502920" y="1234440"/>
            <a:ext cx="3566160" cy="320040"/>
          </a:xfrm>
          <a:prstGeom prst="rect">
            <a:avLst/>
          </a:prstGeom>
          <a:noFill/>
          <a:ln/>
        </p:spPr>
        <p:txBody>
          <a:bodyPr wrap="square" lIns="0" tIns="0" rIns="0" bIns="0" rtlCol="0" anchor="ctr"/>
          <a:lstStyle/>
          <a:p>
            <a:pPr indent="0" marL="0">
              <a:buNone/>
            </a:pPr>
            <a:r>
              <a:rPr lang="en-US" sz="1100" b="1" dirty="0">
                <a:solidFill>
                  <a:srgbClr val="FFFFFF"/>
                </a:solidFill>
              </a:rPr>
              <a:t>Fuente de Datos</a:t>
            </a:r>
            <a:endParaRPr lang="en-US" sz="1100" dirty="0"/>
          </a:p>
        </p:txBody>
      </p:sp>
      <p:sp>
        <p:nvSpPr>
          <p:cNvPr id="8" name="Text 6"/>
          <p:cNvSpPr/>
          <p:nvPr/>
        </p:nvSpPr>
        <p:spPr>
          <a:xfrm>
            <a:off x="548640" y="1691640"/>
            <a:ext cx="1005840" cy="274320"/>
          </a:xfrm>
          <a:prstGeom prst="rect">
            <a:avLst/>
          </a:prstGeom>
          <a:noFill/>
          <a:ln/>
        </p:spPr>
        <p:txBody>
          <a:bodyPr wrap="square" lIns="0" tIns="0" rIns="0" bIns="0" rtlCol="0" anchor="ctr"/>
          <a:lstStyle/>
          <a:p>
            <a:pPr indent="0" marL="0">
              <a:buNone/>
            </a:pPr>
            <a:r>
              <a:rPr lang="en-US" sz="1000" b="1" dirty="0">
                <a:solidFill>
                  <a:srgbClr val="14B8A6"/>
                </a:solidFill>
              </a:rPr>
              <a:t>Plataforma:</a:t>
            </a:r>
            <a:endParaRPr lang="en-US" sz="1000" dirty="0"/>
          </a:p>
        </p:txBody>
      </p:sp>
      <p:sp>
        <p:nvSpPr>
          <p:cNvPr id="9" name="Text 7"/>
          <p:cNvSpPr/>
          <p:nvPr/>
        </p:nvSpPr>
        <p:spPr>
          <a:xfrm>
            <a:off x="548640" y="1938528"/>
            <a:ext cx="3474720" cy="320040"/>
          </a:xfrm>
          <a:prstGeom prst="rect">
            <a:avLst/>
          </a:prstGeom>
          <a:noFill/>
          <a:ln/>
        </p:spPr>
        <p:txBody>
          <a:bodyPr wrap="square" lIns="0" tIns="0" rIns="0" bIns="0" rtlCol="0" anchor="ctr"/>
          <a:lstStyle/>
          <a:p>
            <a:pPr indent="0" marL="0">
              <a:buNone/>
            </a:pPr>
            <a:r>
              <a:rPr lang="en-US" sz="1000" dirty="0">
                <a:solidFill>
                  <a:srgbClr val="CBD5E1"/>
                </a:solidFill>
              </a:rPr>
              <a:t>Reddit (r/Mexico, r/CDMX y comunidades relacionadas)</a:t>
            </a:r>
            <a:endParaRPr lang="en-US" sz="1000" dirty="0"/>
          </a:p>
        </p:txBody>
      </p:sp>
      <p:sp>
        <p:nvSpPr>
          <p:cNvPr id="10" name="Text 8"/>
          <p:cNvSpPr/>
          <p:nvPr/>
        </p:nvSpPr>
        <p:spPr>
          <a:xfrm>
            <a:off x="548640" y="2286000"/>
            <a:ext cx="1005840" cy="274320"/>
          </a:xfrm>
          <a:prstGeom prst="rect">
            <a:avLst/>
          </a:prstGeom>
          <a:noFill/>
          <a:ln/>
        </p:spPr>
        <p:txBody>
          <a:bodyPr wrap="square" lIns="0" tIns="0" rIns="0" bIns="0" rtlCol="0" anchor="ctr"/>
          <a:lstStyle/>
          <a:p>
            <a:pPr indent="0" marL="0">
              <a:buNone/>
            </a:pPr>
            <a:r>
              <a:rPr lang="en-US" sz="1000" b="1" dirty="0">
                <a:solidFill>
                  <a:srgbClr val="14B8A6"/>
                </a:solidFill>
              </a:rPr>
              <a:t>Extracción:</a:t>
            </a:r>
            <a:endParaRPr lang="en-US" sz="1000" dirty="0"/>
          </a:p>
        </p:txBody>
      </p:sp>
      <p:sp>
        <p:nvSpPr>
          <p:cNvPr id="11" name="Text 9"/>
          <p:cNvSpPr/>
          <p:nvPr/>
        </p:nvSpPr>
        <p:spPr>
          <a:xfrm>
            <a:off x="548640" y="2532888"/>
            <a:ext cx="3474720" cy="320040"/>
          </a:xfrm>
          <a:prstGeom prst="rect">
            <a:avLst/>
          </a:prstGeom>
          <a:noFill/>
          <a:ln/>
        </p:spPr>
        <p:txBody>
          <a:bodyPr wrap="square" lIns="0" tIns="0" rIns="0" bIns="0" rtlCol="0" anchor="ctr"/>
          <a:lstStyle/>
          <a:p>
            <a:pPr indent="0" marL="0">
              <a:buNone/>
            </a:pPr>
            <a:r>
              <a:rPr lang="en-US" sz="1000" dirty="0">
                <a:solidFill>
                  <a:srgbClr val="CBD5E1"/>
                </a:solidFill>
              </a:rPr>
              <a:t>API oficial de Reddit con técnicas anti-detección</a:t>
            </a:r>
            <a:endParaRPr lang="en-US" sz="1000" dirty="0"/>
          </a:p>
        </p:txBody>
      </p:sp>
      <p:sp>
        <p:nvSpPr>
          <p:cNvPr id="12" name="Text 10"/>
          <p:cNvSpPr/>
          <p:nvPr/>
        </p:nvSpPr>
        <p:spPr>
          <a:xfrm>
            <a:off x="548640" y="2880360"/>
            <a:ext cx="1005840" cy="274320"/>
          </a:xfrm>
          <a:prstGeom prst="rect">
            <a:avLst/>
          </a:prstGeom>
          <a:noFill/>
          <a:ln/>
        </p:spPr>
        <p:txBody>
          <a:bodyPr wrap="square" lIns="0" tIns="0" rIns="0" bIns="0" rtlCol="0" anchor="ctr"/>
          <a:lstStyle/>
          <a:p>
            <a:pPr indent="0" marL="0">
              <a:buNone/>
            </a:pPr>
            <a:r>
              <a:rPr lang="en-US" sz="1000" b="1" dirty="0">
                <a:solidFill>
                  <a:srgbClr val="14B8A6"/>
                </a:solidFill>
              </a:rPr>
              <a:t>Corpus:</a:t>
            </a:r>
            <a:endParaRPr lang="en-US" sz="1000" dirty="0"/>
          </a:p>
        </p:txBody>
      </p:sp>
      <p:sp>
        <p:nvSpPr>
          <p:cNvPr id="13" name="Text 11"/>
          <p:cNvSpPr/>
          <p:nvPr/>
        </p:nvSpPr>
        <p:spPr>
          <a:xfrm>
            <a:off x="548640" y="3127248"/>
            <a:ext cx="3474720" cy="320040"/>
          </a:xfrm>
          <a:prstGeom prst="rect">
            <a:avLst/>
          </a:prstGeom>
          <a:noFill/>
          <a:ln/>
        </p:spPr>
        <p:txBody>
          <a:bodyPr wrap="square" lIns="0" tIns="0" rIns="0" bIns="0" rtlCol="0" anchor="ctr"/>
          <a:lstStyle/>
          <a:p>
            <a:pPr indent="0" marL="0">
              <a:buNone/>
            </a:pPr>
            <a:r>
              <a:rPr lang="en-US" sz="1000" dirty="0">
                <a:solidFill>
                  <a:srgbClr val="CBD5E1"/>
                </a:solidFill>
              </a:rPr>
              <a:t>18,915 comentarios únicos (post-deduplicación)</a:t>
            </a:r>
            <a:endParaRPr lang="en-US" sz="1000" dirty="0"/>
          </a:p>
        </p:txBody>
      </p:sp>
      <p:sp>
        <p:nvSpPr>
          <p:cNvPr id="14" name="Shape 12"/>
          <p:cNvSpPr/>
          <p:nvPr/>
        </p:nvSpPr>
        <p:spPr>
          <a:xfrm>
            <a:off x="4389120" y="1234440"/>
            <a:ext cx="4389120" cy="2468880"/>
          </a:xfrm>
          <a:prstGeom prst="rect">
            <a:avLst>
              <a:gd name="adj" fmla="val 1852"/>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5" name="Shape 13"/>
          <p:cNvSpPr/>
          <p:nvPr/>
        </p:nvSpPr>
        <p:spPr>
          <a:xfrm>
            <a:off x="4389120" y="1234440"/>
            <a:ext cx="4389120" cy="320040"/>
          </a:xfrm>
          <a:prstGeom prst="rect">
            <a:avLst/>
          </a:prstGeom>
          <a:solidFill>
            <a:srgbClr val="F59E0B"/>
          </a:solidFill>
          <a:ln w="12700">
            <a:solidFill>
              <a:srgbClr val="F59E0B"/>
            </a:solidFill>
            <a:prstDash val="solid"/>
          </a:ln>
        </p:spPr>
      </p:sp>
      <p:sp>
        <p:nvSpPr>
          <p:cNvPr id="16" name="Text 14"/>
          <p:cNvSpPr/>
          <p:nvPr/>
        </p:nvSpPr>
        <p:spPr>
          <a:xfrm>
            <a:off x="4526280" y="1234440"/>
            <a:ext cx="4114800" cy="320040"/>
          </a:xfrm>
          <a:prstGeom prst="rect">
            <a:avLst/>
          </a:prstGeom>
          <a:noFill/>
          <a:ln/>
        </p:spPr>
        <p:txBody>
          <a:bodyPr wrap="square" lIns="0" tIns="0" rIns="0" bIns="0" rtlCol="0" anchor="ctr"/>
          <a:lstStyle/>
          <a:p>
            <a:pPr indent="0" marL="0">
              <a:buNone/>
            </a:pPr>
            <a:r>
              <a:rPr lang="en-US" sz="1100" b="1" dirty="0">
                <a:solidFill>
                  <a:srgbClr val="0B1120"/>
                </a:solidFill>
              </a:rPr>
              <a:t>EDA — Hallazgos Clave</a:t>
            </a:r>
            <a:endParaRPr lang="en-US" sz="1100" dirty="0"/>
          </a:p>
        </p:txBody>
      </p:sp>
      <p:sp>
        <p:nvSpPr>
          <p:cNvPr id="17" name="Text 15"/>
          <p:cNvSpPr/>
          <p:nvPr/>
        </p:nvSpPr>
        <p:spPr>
          <a:xfrm>
            <a:off x="4572000" y="1719072"/>
            <a:ext cx="1920240" cy="685800"/>
          </a:xfrm>
          <a:prstGeom prst="rect">
            <a:avLst/>
          </a:prstGeom>
          <a:noFill/>
          <a:ln/>
        </p:spPr>
        <p:txBody>
          <a:bodyPr wrap="square" lIns="0" tIns="0" rIns="0" bIns="0" rtlCol="0" anchor="ctr"/>
          <a:lstStyle/>
          <a:p>
            <a:pPr algn="ctr" indent="0" marL="0">
              <a:buNone/>
            </a:pPr>
            <a:r>
              <a:rPr lang="en-US" sz="3600" b="1" dirty="0">
                <a:solidFill>
                  <a:srgbClr val="F59E0B"/>
                </a:solidFill>
              </a:rPr>
              <a:t> 38.5</a:t>
            </a:r>
            <a:endParaRPr lang="en-US" sz="3600" dirty="0"/>
          </a:p>
        </p:txBody>
      </p:sp>
      <p:sp>
        <p:nvSpPr>
          <p:cNvPr id="18" name="Text 16"/>
          <p:cNvSpPr/>
          <p:nvPr/>
        </p:nvSpPr>
        <p:spPr>
          <a:xfrm>
            <a:off x="4572000" y="2331720"/>
            <a:ext cx="1920240" cy="182880"/>
          </a:xfrm>
          <a:prstGeom prst="rect">
            <a:avLst/>
          </a:prstGeom>
          <a:noFill/>
          <a:ln/>
        </p:spPr>
        <p:txBody>
          <a:bodyPr wrap="square" lIns="0" tIns="0" rIns="0" bIns="0" rtlCol="0" anchor="ctr"/>
          <a:lstStyle/>
          <a:p>
            <a:pPr algn="ctr" indent="0" marL="0">
              <a:buNone/>
            </a:pPr>
            <a:r>
              <a:rPr lang="en-US" sz="900" dirty="0">
                <a:solidFill>
                  <a:srgbClr val="64748B"/>
                </a:solidFill>
              </a:rPr>
              <a:t>palabras</a:t>
            </a:r>
            <a:endParaRPr lang="en-US" sz="900" dirty="0"/>
          </a:p>
        </p:txBody>
      </p:sp>
      <p:sp>
        <p:nvSpPr>
          <p:cNvPr id="19" name="Text 17"/>
          <p:cNvSpPr/>
          <p:nvPr/>
        </p:nvSpPr>
        <p:spPr>
          <a:xfrm>
            <a:off x="4572000" y="2542032"/>
            <a:ext cx="1920240" cy="228600"/>
          </a:xfrm>
          <a:prstGeom prst="rect">
            <a:avLst/>
          </a:prstGeom>
          <a:noFill/>
          <a:ln/>
        </p:spPr>
        <p:txBody>
          <a:bodyPr wrap="square" lIns="0" tIns="0" rIns="0" bIns="0" rtlCol="0" anchor="ctr"/>
          <a:lstStyle/>
          <a:p>
            <a:pPr algn="ctr" indent="0" marL="0">
              <a:buNone/>
            </a:pPr>
            <a:r>
              <a:rPr lang="en-US" sz="1000" b="1" dirty="0">
                <a:solidFill>
                  <a:srgbClr val="FFFFFF"/>
                </a:solidFill>
              </a:rPr>
              <a:t>Longitud media</a:t>
            </a:r>
            <a:endParaRPr lang="en-US" sz="1000" dirty="0"/>
          </a:p>
        </p:txBody>
      </p:sp>
      <p:sp>
        <p:nvSpPr>
          <p:cNvPr id="20" name="Text 18"/>
          <p:cNvSpPr/>
          <p:nvPr/>
        </p:nvSpPr>
        <p:spPr>
          <a:xfrm>
            <a:off x="4572000" y="2743200"/>
            <a:ext cx="1920240" cy="228600"/>
          </a:xfrm>
          <a:prstGeom prst="rect">
            <a:avLst/>
          </a:prstGeom>
          <a:noFill/>
          <a:ln/>
        </p:spPr>
        <p:txBody>
          <a:bodyPr wrap="square" lIns="0" tIns="0" rIns="0" bIns="0" rtlCol="0" anchor="ctr"/>
          <a:lstStyle/>
          <a:p>
            <a:pPr algn="ctr" indent="0" marL="0">
              <a:buNone/>
            </a:pPr>
            <a:r>
              <a:rPr lang="en-US" sz="850" dirty="0">
                <a:solidFill>
                  <a:srgbClr val="64748B"/>
                </a:solidFill>
              </a:rPr>
              <a:t>Mediana: 20 palabras</a:t>
            </a:r>
            <a:endParaRPr lang="en-US" sz="850" dirty="0"/>
          </a:p>
        </p:txBody>
      </p:sp>
      <p:sp>
        <p:nvSpPr>
          <p:cNvPr id="21" name="Text 19"/>
          <p:cNvSpPr/>
          <p:nvPr/>
        </p:nvSpPr>
        <p:spPr>
          <a:xfrm>
            <a:off x="6675120" y="1719072"/>
            <a:ext cx="1920240" cy="685800"/>
          </a:xfrm>
          <a:prstGeom prst="rect">
            <a:avLst/>
          </a:prstGeom>
          <a:noFill/>
          <a:ln/>
        </p:spPr>
        <p:txBody>
          <a:bodyPr wrap="square" lIns="0" tIns="0" rIns="0" bIns="0" rtlCol="0" anchor="ctr"/>
          <a:lstStyle/>
          <a:p>
            <a:pPr algn="ctr" indent="0" marL="0">
              <a:buNone/>
            </a:pPr>
            <a:r>
              <a:rPr lang="en-US" sz="3600" b="1" dirty="0">
                <a:solidFill>
                  <a:srgbClr val="F59E0B"/>
                </a:solidFill>
              </a:rPr>
              <a:t>10.7</a:t>
            </a:r>
            <a:endParaRPr lang="en-US" sz="3600" dirty="0"/>
          </a:p>
        </p:txBody>
      </p:sp>
      <p:sp>
        <p:nvSpPr>
          <p:cNvPr id="22" name="Text 20"/>
          <p:cNvSpPr/>
          <p:nvPr/>
        </p:nvSpPr>
        <p:spPr>
          <a:xfrm>
            <a:off x="6675120" y="2331720"/>
            <a:ext cx="1920240" cy="182880"/>
          </a:xfrm>
          <a:prstGeom prst="rect">
            <a:avLst/>
          </a:prstGeom>
          <a:noFill/>
          <a:ln/>
        </p:spPr>
        <p:txBody>
          <a:bodyPr wrap="square" lIns="0" tIns="0" rIns="0" bIns="0" rtlCol="0" anchor="ctr"/>
          <a:lstStyle/>
          <a:p>
            <a:pPr algn="ctr" indent="0" marL="0">
              <a:buNone/>
            </a:pPr>
            <a:r>
              <a:rPr lang="en-US" sz="900" dirty="0">
                <a:solidFill>
                  <a:srgbClr val="64748B"/>
                </a:solidFill>
              </a:rPr>
              <a:t>puntos</a:t>
            </a:r>
            <a:endParaRPr lang="en-US" sz="900" dirty="0"/>
          </a:p>
        </p:txBody>
      </p:sp>
      <p:sp>
        <p:nvSpPr>
          <p:cNvPr id="23" name="Text 21"/>
          <p:cNvSpPr/>
          <p:nvPr/>
        </p:nvSpPr>
        <p:spPr>
          <a:xfrm>
            <a:off x="6675120" y="2542032"/>
            <a:ext cx="1920240" cy="228600"/>
          </a:xfrm>
          <a:prstGeom prst="rect">
            <a:avLst/>
          </a:prstGeom>
          <a:noFill/>
          <a:ln/>
        </p:spPr>
        <p:txBody>
          <a:bodyPr wrap="square" lIns="0" tIns="0" rIns="0" bIns="0" rtlCol="0" anchor="ctr"/>
          <a:lstStyle/>
          <a:p>
            <a:pPr algn="ctr" indent="0" marL="0">
              <a:buNone/>
            </a:pPr>
            <a:r>
              <a:rPr lang="en-US" sz="1000" b="1" dirty="0">
                <a:solidFill>
                  <a:srgbClr val="FFFFFF"/>
                </a:solidFill>
              </a:rPr>
              <a:t>Score medio</a:t>
            </a:r>
            <a:endParaRPr lang="en-US" sz="1000" dirty="0"/>
          </a:p>
        </p:txBody>
      </p:sp>
      <p:sp>
        <p:nvSpPr>
          <p:cNvPr id="24" name="Text 22"/>
          <p:cNvSpPr/>
          <p:nvPr/>
        </p:nvSpPr>
        <p:spPr>
          <a:xfrm>
            <a:off x="6675120" y="2743200"/>
            <a:ext cx="1920240" cy="228600"/>
          </a:xfrm>
          <a:prstGeom prst="rect">
            <a:avLst/>
          </a:prstGeom>
          <a:noFill/>
          <a:ln/>
        </p:spPr>
        <p:txBody>
          <a:bodyPr wrap="square" lIns="0" tIns="0" rIns="0" bIns="0" rtlCol="0" anchor="ctr"/>
          <a:lstStyle/>
          <a:p>
            <a:pPr algn="ctr" indent="0" marL="0">
              <a:buNone/>
            </a:pPr>
            <a:r>
              <a:rPr lang="en-US" sz="850" dirty="0">
                <a:solidFill>
                  <a:srgbClr val="64748B"/>
                </a:solidFill>
              </a:rPr>
              <a:t>Outliers de hasta 2,400 pts</a:t>
            </a:r>
            <a:endParaRPr lang="en-US" sz="850" dirty="0"/>
          </a:p>
        </p:txBody>
      </p:sp>
      <p:sp>
        <p:nvSpPr>
          <p:cNvPr id="25" name="Shape 23"/>
          <p:cNvSpPr/>
          <p:nvPr/>
        </p:nvSpPr>
        <p:spPr>
          <a:xfrm>
            <a:off x="365760" y="3840480"/>
            <a:ext cx="8412480" cy="502920"/>
          </a:xfrm>
          <a:prstGeom prst="rect">
            <a:avLst/>
          </a:prstGeom>
          <a:solidFill>
            <a:srgbClr val="0D9488">
              <a:alpha val="15000"/>
            </a:srgbClr>
          </a:solidFill>
          <a:ln w="12700">
            <a:solidFill>
              <a:srgbClr val="0D9488"/>
            </a:solidFill>
            <a:prstDash val="solid"/>
          </a:ln>
        </p:spPr>
      </p:sp>
      <p:sp>
        <p:nvSpPr>
          <p:cNvPr id="26" name="Text 24"/>
          <p:cNvSpPr/>
          <p:nvPr/>
        </p:nvSpPr>
        <p:spPr>
          <a:xfrm>
            <a:off x="502920" y="3858768"/>
            <a:ext cx="8229600" cy="457200"/>
          </a:xfrm>
          <a:prstGeom prst="rect">
            <a:avLst/>
          </a:prstGeom>
          <a:noFill/>
          <a:ln/>
        </p:spPr>
        <p:txBody>
          <a:bodyPr wrap="square" lIns="0" tIns="0" rIns="0" bIns="0" rtlCol="0" anchor="ctr"/>
          <a:lstStyle/>
          <a:p>
            <a:pPr indent="0" marL="0">
              <a:buNone/>
            </a:pPr>
            <a:r>
              <a:rPr lang="en-US" sz="1000" dirty="0">
                <a:solidFill>
                  <a:srgbClr val="FFFFFF"/>
                </a:solidFill>
              </a:rPr>
              <a:t>ℹ  Los comentarios extensos (outliers) son micro-historias clínicas de altísimo valor analítico: no se eliminaron del corpus.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256032"/>
            <a:ext cx="2286000" cy="237744"/>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2286000" cy="237744"/>
          </a:xfrm>
          <a:prstGeom prst="rect">
            <a:avLst/>
          </a:prstGeom>
          <a:noFill/>
          <a:ln/>
        </p:spPr>
        <p:txBody>
          <a:bodyPr wrap="square" lIns="0" tIns="0" rIns="0" bIns="0" rtlCol="0" anchor="ctr"/>
          <a:lstStyle/>
          <a:p>
            <a:pPr algn="ctr" indent="0" marL="0">
              <a:buNone/>
            </a:pPr>
            <a:r>
              <a:rPr lang="en-US" sz="800" b="1" dirty="0">
                <a:solidFill>
                  <a:srgbClr val="FFFFFF"/>
                </a:solidFill>
              </a:rPr>
              <a:t>PREPARACIÓN DE DATOS</a:t>
            </a:r>
            <a:endParaRPr lang="en-US" sz="800" dirty="0"/>
          </a:p>
        </p:txBody>
      </p:sp>
      <p:sp>
        <p:nvSpPr>
          <p:cNvPr id="4" name="Text 2"/>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Enseñando a la computadora a leer «Español Burocrático Mexicano»</a:t>
            </a:r>
            <a:endParaRPr lang="en-US" sz="2600" dirty="0"/>
          </a:p>
        </p:txBody>
      </p:sp>
      <p:sp>
        <p:nvSpPr>
          <p:cNvPr id="5" name="Text 3"/>
          <p:cNvSpPr/>
          <p:nvPr/>
        </p:nvSpPr>
        <p:spPr>
          <a:xfrm>
            <a:off x="457200" y="1188720"/>
            <a:ext cx="8229600" cy="256032"/>
          </a:xfrm>
          <a:prstGeom prst="rect">
            <a:avLst/>
          </a:prstGeom>
          <a:noFill/>
          <a:ln/>
        </p:spPr>
        <p:txBody>
          <a:bodyPr wrap="square" lIns="0" tIns="0" rIns="0" bIns="0" rtlCol="0" anchor="ctr"/>
          <a:lstStyle/>
          <a:p>
            <a:pPr indent="0" marL="0">
              <a:buNone/>
            </a:pPr>
            <a:r>
              <a:rPr lang="en-US" sz="1050" dirty="0">
                <a:solidFill>
                  <a:srgbClr val="64748B"/>
                </a:solidFill>
              </a:rPr>
              <a:t>Pipeline de preprocesamiento para convertir texto crudo en vectores numéricos interpretables por los modelos.</a:t>
            </a:r>
            <a:endParaRPr lang="en-US" sz="1050" dirty="0"/>
          </a:p>
        </p:txBody>
      </p:sp>
      <p:sp>
        <p:nvSpPr>
          <p:cNvPr id="6" name="Shape 4"/>
          <p:cNvSpPr/>
          <p:nvPr/>
        </p:nvSpPr>
        <p:spPr>
          <a:xfrm>
            <a:off x="365760" y="1572768"/>
            <a:ext cx="8412480" cy="530352"/>
          </a:xfrm>
          <a:prstGeom prst="rect">
            <a:avLst/>
          </a:prstGeom>
          <a:solidFill>
            <a:srgbClr val="1A2538"/>
          </a:solidFill>
          <a:ln w="12700">
            <a:solidFill>
              <a:srgbClr val="1E3A5A"/>
            </a:solidFill>
            <a:prstDash val="solid"/>
          </a:ln>
        </p:spPr>
      </p:sp>
      <p:sp>
        <p:nvSpPr>
          <p:cNvPr id="7" name="Shape 5"/>
          <p:cNvSpPr/>
          <p:nvPr/>
        </p:nvSpPr>
        <p:spPr>
          <a:xfrm>
            <a:off x="502920" y="1645920"/>
            <a:ext cx="384048" cy="384048"/>
          </a:xfrm>
          <a:prstGeom prst="ellipse">
            <a:avLst/>
          </a:prstGeom>
          <a:solidFill>
            <a:srgbClr val="0D9488"/>
          </a:solidFill>
          <a:ln w="12700">
            <a:solidFill>
              <a:srgbClr val="0D9488"/>
            </a:solidFill>
            <a:prstDash val="solid"/>
          </a:ln>
        </p:spPr>
      </p:sp>
      <p:sp>
        <p:nvSpPr>
          <p:cNvPr id="8" name="Text 6"/>
          <p:cNvSpPr/>
          <p:nvPr/>
        </p:nvSpPr>
        <p:spPr>
          <a:xfrm>
            <a:off x="50292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p:nvPr/>
        </p:nvSpPr>
        <p:spPr>
          <a:xfrm>
            <a:off x="1051560" y="1618488"/>
            <a:ext cx="2286000" cy="228600"/>
          </a:xfrm>
          <a:prstGeom prst="rect">
            <a:avLst/>
          </a:prstGeom>
          <a:noFill/>
          <a:ln/>
        </p:spPr>
        <p:txBody>
          <a:bodyPr wrap="square" lIns="0" tIns="0" rIns="0" bIns="0" rtlCol="0" anchor="ctr"/>
          <a:lstStyle/>
          <a:p>
            <a:pPr indent="0" marL="0">
              <a:buNone/>
            </a:pPr>
            <a:r>
              <a:rPr lang="en-US" sz="1100" b="1" dirty="0">
                <a:solidFill>
                  <a:srgbClr val="0D9488"/>
                </a:solidFill>
              </a:rPr>
              <a:t>Limpieza</a:t>
            </a:r>
            <a:endParaRPr lang="en-US" sz="1100" dirty="0"/>
          </a:p>
        </p:txBody>
      </p:sp>
      <p:sp>
        <p:nvSpPr>
          <p:cNvPr id="10" name="Text 8"/>
          <p:cNvSpPr/>
          <p:nvPr/>
        </p:nvSpPr>
        <p:spPr>
          <a:xfrm>
            <a:off x="1051560" y="1828800"/>
            <a:ext cx="7589520" cy="237744"/>
          </a:xfrm>
          <a:prstGeom prst="rect">
            <a:avLst/>
          </a:prstGeom>
          <a:noFill/>
          <a:ln/>
        </p:spPr>
        <p:txBody>
          <a:bodyPr wrap="square" lIns="0" tIns="0" rIns="0" bIns="0" rtlCol="0" anchor="ctr"/>
          <a:lstStyle/>
          <a:p>
            <a:pPr indent="0" marL="0">
              <a:buNone/>
            </a:pPr>
            <a:r>
              <a:rPr lang="en-US" sz="1000" dirty="0">
                <a:solidFill>
                  <a:srgbClr val="CBD5E1"/>
                </a:solidFill>
              </a:rPr>
              <a:t>Eliminar URLs, menciones, emojis y caracteres especiales.</a:t>
            </a:r>
            <a:endParaRPr lang="en-US" sz="1000" dirty="0"/>
          </a:p>
        </p:txBody>
      </p:sp>
      <p:sp>
        <p:nvSpPr>
          <p:cNvPr id="11" name="Shape 9"/>
          <p:cNvSpPr/>
          <p:nvPr/>
        </p:nvSpPr>
        <p:spPr>
          <a:xfrm>
            <a:off x="365760" y="2148840"/>
            <a:ext cx="8412480" cy="530352"/>
          </a:xfrm>
          <a:prstGeom prst="rect">
            <a:avLst/>
          </a:prstGeom>
          <a:solidFill>
            <a:srgbClr val="162032"/>
          </a:solidFill>
          <a:ln w="12700">
            <a:solidFill>
              <a:srgbClr val="1E3A5A"/>
            </a:solidFill>
            <a:prstDash val="solid"/>
          </a:ln>
        </p:spPr>
      </p:sp>
      <p:sp>
        <p:nvSpPr>
          <p:cNvPr id="12" name="Shape 10"/>
          <p:cNvSpPr/>
          <p:nvPr/>
        </p:nvSpPr>
        <p:spPr>
          <a:xfrm>
            <a:off x="502920" y="2221992"/>
            <a:ext cx="384048" cy="384048"/>
          </a:xfrm>
          <a:prstGeom prst="ellipse">
            <a:avLst/>
          </a:prstGeom>
          <a:solidFill>
            <a:srgbClr val="14B8A6"/>
          </a:solidFill>
          <a:ln w="12700">
            <a:solidFill>
              <a:srgbClr val="14B8A6"/>
            </a:solidFill>
            <a:prstDash val="solid"/>
          </a:ln>
        </p:spPr>
      </p:sp>
      <p:sp>
        <p:nvSpPr>
          <p:cNvPr id="13" name="Text 11"/>
          <p:cNvSpPr/>
          <p:nvPr/>
        </p:nvSpPr>
        <p:spPr>
          <a:xfrm>
            <a:off x="502920" y="22219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2"/>
          <p:cNvSpPr/>
          <p:nvPr/>
        </p:nvSpPr>
        <p:spPr>
          <a:xfrm>
            <a:off x="1051560" y="2194560"/>
            <a:ext cx="2286000" cy="228600"/>
          </a:xfrm>
          <a:prstGeom prst="rect">
            <a:avLst/>
          </a:prstGeom>
          <a:noFill/>
          <a:ln/>
        </p:spPr>
        <p:txBody>
          <a:bodyPr wrap="square" lIns="0" tIns="0" rIns="0" bIns="0" rtlCol="0" anchor="ctr"/>
          <a:lstStyle/>
          <a:p>
            <a:pPr indent="0" marL="0">
              <a:buNone/>
            </a:pPr>
            <a:r>
              <a:rPr lang="en-US" sz="1100" b="1" dirty="0">
                <a:solidFill>
                  <a:srgbClr val="14B8A6"/>
                </a:solidFill>
              </a:rPr>
              <a:t>Normalización</a:t>
            </a:r>
            <a:endParaRPr lang="en-US" sz="1100" dirty="0"/>
          </a:p>
        </p:txBody>
      </p:sp>
      <p:sp>
        <p:nvSpPr>
          <p:cNvPr id="15" name="Text 13"/>
          <p:cNvSpPr/>
          <p:nvPr/>
        </p:nvSpPr>
        <p:spPr>
          <a:xfrm>
            <a:off x="1051560" y="2404872"/>
            <a:ext cx="7589520" cy="237744"/>
          </a:xfrm>
          <a:prstGeom prst="rect">
            <a:avLst/>
          </a:prstGeom>
          <a:noFill/>
          <a:ln/>
        </p:spPr>
        <p:txBody>
          <a:bodyPr wrap="square" lIns="0" tIns="0" rIns="0" bIns="0" rtlCol="0" anchor="ctr"/>
          <a:lstStyle/>
          <a:p>
            <a:pPr indent="0" marL="0">
              <a:buNone/>
            </a:pPr>
            <a:r>
              <a:rPr lang="en-US" sz="1000" dirty="0">
                <a:solidFill>
                  <a:srgbClr val="CBD5E1"/>
                </a:solidFill>
              </a:rPr>
              <a:t>Convertir todo a minúsculas para unificar representaciones.</a:t>
            </a:r>
            <a:endParaRPr lang="en-US" sz="1000" dirty="0"/>
          </a:p>
        </p:txBody>
      </p:sp>
      <p:sp>
        <p:nvSpPr>
          <p:cNvPr id="16" name="Shape 14"/>
          <p:cNvSpPr/>
          <p:nvPr/>
        </p:nvSpPr>
        <p:spPr>
          <a:xfrm>
            <a:off x="365760" y="2724912"/>
            <a:ext cx="8412480" cy="530352"/>
          </a:xfrm>
          <a:prstGeom prst="rect">
            <a:avLst/>
          </a:prstGeom>
          <a:solidFill>
            <a:srgbClr val="1A2538"/>
          </a:solidFill>
          <a:ln w="12700">
            <a:solidFill>
              <a:srgbClr val="1E3A5A"/>
            </a:solidFill>
            <a:prstDash val="solid"/>
          </a:ln>
        </p:spPr>
      </p:sp>
      <p:sp>
        <p:nvSpPr>
          <p:cNvPr id="17" name="Shape 15"/>
          <p:cNvSpPr/>
          <p:nvPr/>
        </p:nvSpPr>
        <p:spPr>
          <a:xfrm>
            <a:off x="502920" y="2798064"/>
            <a:ext cx="384048" cy="384048"/>
          </a:xfrm>
          <a:prstGeom prst="ellipse">
            <a:avLst/>
          </a:prstGeom>
          <a:solidFill>
            <a:srgbClr val="F59E0B"/>
          </a:solidFill>
          <a:ln w="12700">
            <a:solidFill>
              <a:srgbClr val="F59E0B"/>
            </a:solidFill>
            <a:prstDash val="solid"/>
          </a:ln>
        </p:spPr>
      </p:sp>
      <p:sp>
        <p:nvSpPr>
          <p:cNvPr id="18" name="Text 16"/>
          <p:cNvSpPr/>
          <p:nvPr/>
        </p:nvSpPr>
        <p:spPr>
          <a:xfrm>
            <a:off x="502920" y="27980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9" name="Text 17"/>
          <p:cNvSpPr/>
          <p:nvPr/>
        </p:nvSpPr>
        <p:spPr>
          <a:xfrm>
            <a:off x="1051560" y="2770632"/>
            <a:ext cx="2286000" cy="228600"/>
          </a:xfrm>
          <a:prstGeom prst="rect">
            <a:avLst/>
          </a:prstGeom>
          <a:noFill/>
          <a:ln/>
        </p:spPr>
        <p:txBody>
          <a:bodyPr wrap="square" lIns="0" tIns="0" rIns="0" bIns="0" rtlCol="0" anchor="ctr"/>
          <a:lstStyle/>
          <a:p>
            <a:pPr indent="0" marL="0">
              <a:buNone/>
            </a:pPr>
            <a:r>
              <a:rPr lang="en-US" sz="1100" b="1" dirty="0">
                <a:solidFill>
                  <a:srgbClr val="F59E0B"/>
                </a:solidFill>
              </a:rPr>
              <a:t>Tokenización</a:t>
            </a:r>
            <a:endParaRPr lang="en-US" sz="1100" dirty="0"/>
          </a:p>
        </p:txBody>
      </p:sp>
      <p:sp>
        <p:nvSpPr>
          <p:cNvPr id="20" name="Text 18"/>
          <p:cNvSpPr/>
          <p:nvPr/>
        </p:nvSpPr>
        <p:spPr>
          <a:xfrm>
            <a:off x="1051560" y="2980944"/>
            <a:ext cx="7589520" cy="237744"/>
          </a:xfrm>
          <a:prstGeom prst="rect">
            <a:avLst/>
          </a:prstGeom>
          <a:noFill/>
          <a:ln/>
        </p:spPr>
        <p:txBody>
          <a:bodyPr wrap="square" lIns="0" tIns="0" rIns="0" bIns="0" rtlCol="0" anchor="ctr"/>
          <a:lstStyle/>
          <a:p>
            <a:pPr indent="0" marL="0">
              <a:buNone/>
            </a:pPr>
            <a:r>
              <a:rPr lang="en-US" sz="1000" dirty="0">
                <a:solidFill>
                  <a:srgbClr val="CBD5E1"/>
                </a:solidFill>
              </a:rPr>
              <a:t>Dividir el texto en unidades mínimas (palabras).</a:t>
            </a:r>
            <a:endParaRPr lang="en-US" sz="1000" dirty="0"/>
          </a:p>
        </p:txBody>
      </p:sp>
      <p:sp>
        <p:nvSpPr>
          <p:cNvPr id="21" name="Shape 19"/>
          <p:cNvSpPr/>
          <p:nvPr/>
        </p:nvSpPr>
        <p:spPr>
          <a:xfrm>
            <a:off x="365760" y="3300984"/>
            <a:ext cx="8412480" cy="530352"/>
          </a:xfrm>
          <a:prstGeom prst="rect">
            <a:avLst/>
          </a:prstGeom>
          <a:solidFill>
            <a:srgbClr val="162032"/>
          </a:solidFill>
          <a:ln w="12700">
            <a:solidFill>
              <a:srgbClr val="1E3A5A"/>
            </a:solidFill>
            <a:prstDash val="solid"/>
          </a:ln>
        </p:spPr>
      </p:sp>
      <p:sp>
        <p:nvSpPr>
          <p:cNvPr id="22" name="Shape 20"/>
          <p:cNvSpPr/>
          <p:nvPr/>
        </p:nvSpPr>
        <p:spPr>
          <a:xfrm>
            <a:off x="502920" y="3374136"/>
            <a:ext cx="384048" cy="384048"/>
          </a:xfrm>
          <a:prstGeom prst="ellipse">
            <a:avLst/>
          </a:prstGeom>
          <a:solidFill>
            <a:srgbClr val="7C3AED"/>
          </a:solidFill>
          <a:ln w="12700">
            <a:solidFill>
              <a:srgbClr val="7C3AED"/>
            </a:solidFill>
            <a:prstDash val="solid"/>
          </a:ln>
        </p:spPr>
      </p:sp>
      <p:sp>
        <p:nvSpPr>
          <p:cNvPr id="23" name="Text 21"/>
          <p:cNvSpPr/>
          <p:nvPr/>
        </p:nvSpPr>
        <p:spPr>
          <a:xfrm>
            <a:off x="502920" y="33741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4" name="Text 22"/>
          <p:cNvSpPr/>
          <p:nvPr/>
        </p:nvSpPr>
        <p:spPr>
          <a:xfrm>
            <a:off x="1051560" y="3346704"/>
            <a:ext cx="2286000" cy="228600"/>
          </a:xfrm>
          <a:prstGeom prst="rect">
            <a:avLst/>
          </a:prstGeom>
          <a:noFill/>
          <a:ln/>
        </p:spPr>
        <p:txBody>
          <a:bodyPr wrap="square" lIns="0" tIns="0" rIns="0" bIns="0" rtlCol="0" anchor="ctr"/>
          <a:lstStyle/>
          <a:p>
            <a:pPr indent="0" marL="0">
              <a:buNone/>
            </a:pPr>
            <a:r>
              <a:rPr lang="en-US" sz="1100" b="1" dirty="0">
                <a:solidFill>
                  <a:srgbClr val="7C3AED"/>
                </a:solidFill>
              </a:rPr>
              <a:t>Protección de Negaciones</a:t>
            </a:r>
            <a:endParaRPr lang="en-US" sz="1100" dirty="0"/>
          </a:p>
        </p:txBody>
      </p:sp>
      <p:sp>
        <p:nvSpPr>
          <p:cNvPr id="25" name="Text 23"/>
          <p:cNvSpPr/>
          <p:nvPr/>
        </p:nvSpPr>
        <p:spPr>
          <a:xfrm>
            <a:off x="1051560" y="3557016"/>
            <a:ext cx="7589520" cy="237744"/>
          </a:xfrm>
          <a:prstGeom prst="rect">
            <a:avLst/>
          </a:prstGeom>
          <a:noFill/>
          <a:ln/>
        </p:spPr>
        <p:txBody>
          <a:bodyPr wrap="square" lIns="0" tIns="0" rIns="0" bIns="0" rtlCol="0" anchor="ctr"/>
          <a:lstStyle/>
          <a:p>
            <a:pPr indent="0" marL="0">
              <a:buNone/>
            </a:pPr>
            <a:r>
              <a:rPr lang="en-US" sz="1000" dirty="0">
                <a:solidFill>
                  <a:srgbClr val="CBD5E1"/>
                </a:solidFill>
              </a:rPr>
              <a:t>Unir «no» con la palabra siguiente (no_me_atendieron) para evitar falsos positivos.</a:t>
            </a:r>
            <a:endParaRPr lang="en-US" sz="1000" dirty="0"/>
          </a:p>
        </p:txBody>
      </p:sp>
      <p:sp>
        <p:nvSpPr>
          <p:cNvPr id="26" name="Shape 24"/>
          <p:cNvSpPr/>
          <p:nvPr/>
        </p:nvSpPr>
        <p:spPr>
          <a:xfrm>
            <a:off x="365760" y="3877056"/>
            <a:ext cx="8412480" cy="530352"/>
          </a:xfrm>
          <a:prstGeom prst="rect">
            <a:avLst/>
          </a:prstGeom>
          <a:solidFill>
            <a:srgbClr val="1A2538"/>
          </a:solidFill>
          <a:ln w="12700">
            <a:solidFill>
              <a:srgbClr val="1E3A5A"/>
            </a:solidFill>
            <a:prstDash val="solid"/>
          </a:ln>
        </p:spPr>
      </p:sp>
      <p:sp>
        <p:nvSpPr>
          <p:cNvPr id="27" name="Shape 25"/>
          <p:cNvSpPr/>
          <p:nvPr/>
        </p:nvSpPr>
        <p:spPr>
          <a:xfrm>
            <a:off x="502920" y="3950208"/>
            <a:ext cx="384048" cy="384048"/>
          </a:xfrm>
          <a:prstGeom prst="ellipse">
            <a:avLst/>
          </a:prstGeom>
          <a:solidFill>
            <a:srgbClr val="F43F5E"/>
          </a:solidFill>
          <a:ln w="12700">
            <a:solidFill>
              <a:srgbClr val="F43F5E"/>
            </a:solidFill>
            <a:prstDash val="solid"/>
          </a:ln>
        </p:spPr>
      </p:sp>
      <p:sp>
        <p:nvSpPr>
          <p:cNvPr id="28" name="Text 26"/>
          <p:cNvSpPr/>
          <p:nvPr/>
        </p:nvSpPr>
        <p:spPr>
          <a:xfrm>
            <a:off x="502920" y="3950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9" name="Text 27"/>
          <p:cNvSpPr/>
          <p:nvPr/>
        </p:nvSpPr>
        <p:spPr>
          <a:xfrm>
            <a:off x="1051560" y="3922776"/>
            <a:ext cx="2286000" cy="228600"/>
          </a:xfrm>
          <a:prstGeom prst="rect">
            <a:avLst/>
          </a:prstGeom>
          <a:noFill/>
          <a:ln/>
        </p:spPr>
        <p:txBody>
          <a:bodyPr wrap="square" lIns="0" tIns="0" rIns="0" bIns="0" rtlCol="0" anchor="ctr"/>
          <a:lstStyle/>
          <a:p>
            <a:pPr indent="0" marL="0">
              <a:buNone/>
            </a:pPr>
            <a:r>
              <a:rPr lang="en-US" sz="1100" b="1" dirty="0">
                <a:solidFill>
                  <a:srgbClr val="F43F5E"/>
                </a:solidFill>
              </a:rPr>
              <a:t>Lematización</a:t>
            </a:r>
            <a:endParaRPr lang="en-US" sz="1100" dirty="0"/>
          </a:p>
        </p:txBody>
      </p:sp>
      <p:sp>
        <p:nvSpPr>
          <p:cNvPr id="30" name="Text 28"/>
          <p:cNvSpPr/>
          <p:nvPr/>
        </p:nvSpPr>
        <p:spPr>
          <a:xfrm>
            <a:off x="1051560" y="4133088"/>
            <a:ext cx="7589520" cy="237744"/>
          </a:xfrm>
          <a:prstGeom prst="rect">
            <a:avLst/>
          </a:prstGeom>
          <a:noFill/>
          <a:ln/>
        </p:spPr>
        <p:txBody>
          <a:bodyPr wrap="square" lIns="0" tIns="0" rIns="0" bIns="0" rtlCol="0" anchor="ctr"/>
          <a:lstStyle/>
          <a:p>
            <a:pPr indent="0" marL="0">
              <a:buNone/>
            </a:pPr>
            <a:r>
              <a:rPr lang="en-US" sz="1000" dirty="0">
                <a:solidFill>
                  <a:srgbClr val="CBD5E1"/>
                </a:solidFill>
              </a:rPr>
              <a:t>Reducir palabras a su forma base (fui, soy → ser) para agrupar conceptos.</a:t>
            </a:r>
            <a:endParaRPr lang="en-US" sz="1000" dirty="0"/>
          </a:p>
        </p:txBody>
      </p:sp>
      <p:sp>
        <p:nvSpPr>
          <p:cNvPr id="31" name="Shape 29"/>
          <p:cNvSpPr/>
          <p:nvPr/>
        </p:nvSpPr>
        <p:spPr>
          <a:xfrm>
            <a:off x="365760" y="4453128"/>
            <a:ext cx="8412480" cy="530352"/>
          </a:xfrm>
          <a:prstGeom prst="rect">
            <a:avLst/>
          </a:prstGeom>
          <a:solidFill>
            <a:srgbClr val="162032"/>
          </a:solidFill>
          <a:ln w="12700">
            <a:solidFill>
              <a:srgbClr val="1E3A5A"/>
            </a:solidFill>
            <a:prstDash val="solid"/>
          </a:ln>
        </p:spPr>
      </p:sp>
      <p:sp>
        <p:nvSpPr>
          <p:cNvPr id="32" name="Shape 30"/>
          <p:cNvSpPr/>
          <p:nvPr/>
        </p:nvSpPr>
        <p:spPr>
          <a:xfrm>
            <a:off x="502920" y="4526280"/>
            <a:ext cx="384048" cy="384048"/>
          </a:xfrm>
          <a:prstGeom prst="ellipse">
            <a:avLst/>
          </a:prstGeom>
          <a:solidFill>
            <a:srgbClr val="10B981"/>
          </a:solidFill>
          <a:ln w="12700">
            <a:solidFill>
              <a:srgbClr val="10B981"/>
            </a:solidFill>
            <a:prstDash val="solid"/>
          </a:ln>
        </p:spPr>
      </p:sp>
      <p:sp>
        <p:nvSpPr>
          <p:cNvPr id="33" name="Text 31"/>
          <p:cNvSpPr/>
          <p:nvPr/>
        </p:nvSpPr>
        <p:spPr>
          <a:xfrm>
            <a:off x="502920" y="4526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4" name="Text 32"/>
          <p:cNvSpPr/>
          <p:nvPr/>
        </p:nvSpPr>
        <p:spPr>
          <a:xfrm>
            <a:off x="1051560" y="4498848"/>
            <a:ext cx="2286000" cy="228600"/>
          </a:xfrm>
          <a:prstGeom prst="rect">
            <a:avLst/>
          </a:prstGeom>
          <a:noFill/>
          <a:ln/>
        </p:spPr>
        <p:txBody>
          <a:bodyPr wrap="square" lIns="0" tIns="0" rIns="0" bIns="0" rtlCol="0" anchor="ctr"/>
          <a:lstStyle/>
          <a:p>
            <a:pPr indent="0" marL="0">
              <a:buNone/>
            </a:pPr>
            <a:r>
              <a:rPr lang="en-US" sz="1100" b="1" dirty="0">
                <a:solidFill>
                  <a:srgbClr val="10B981"/>
                </a:solidFill>
              </a:rPr>
              <a:t>Vectorización Híbrida</a:t>
            </a:r>
            <a:endParaRPr lang="en-US" sz="1100" dirty="0"/>
          </a:p>
        </p:txBody>
      </p:sp>
      <p:sp>
        <p:nvSpPr>
          <p:cNvPr id="35" name="Text 33"/>
          <p:cNvSpPr/>
          <p:nvPr/>
        </p:nvSpPr>
        <p:spPr>
          <a:xfrm>
            <a:off x="1051560" y="4709160"/>
            <a:ext cx="7589520" cy="237744"/>
          </a:xfrm>
          <a:prstGeom prst="rect">
            <a:avLst/>
          </a:prstGeom>
          <a:noFill/>
          <a:ln/>
        </p:spPr>
        <p:txBody>
          <a:bodyPr wrap="square" lIns="0" tIns="0" rIns="0" bIns="0" rtlCol="0" anchor="ctr"/>
          <a:lstStyle/>
          <a:p>
            <a:pPr indent="0" marL="0">
              <a:buNone/>
            </a:pPr>
            <a:r>
              <a:rPr lang="en-US" sz="1000" dirty="0">
                <a:solidFill>
                  <a:srgbClr val="CBD5E1"/>
                </a:solidFill>
              </a:rPr>
              <a:t>TF-IDF + Embeddings BERT (modelo BETO) para capturar frecuencia y contexto semántico.</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256032"/>
            <a:ext cx="1078992" cy="237744"/>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1078992" cy="237744"/>
          </a:xfrm>
          <a:prstGeom prst="rect">
            <a:avLst/>
          </a:prstGeom>
          <a:noFill/>
          <a:ln/>
        </p:spPr>
        <p:txBody>
          <a:bodyPr wrap="square" lIns="0" tIns="0" rIns="0" bIns="0" rtlCol="0" anchor="ctr"/>
          <a:lstStyle/>
          <a:p>
            <a:pPr algn="ctr" indent="0" marL="0">
              <a:buNone/>
            </a:pPr>
            <a:r>
              <a:rPr lang="en-US" sz="800" b="1" dirty="0">
                <a:solidFill>
                  <a:srgbClr val="FFFFFF"/>
                </a:solidFill>
              </a:rPr>
              <a:t>MODELADO</a:t>
            </a:r>
            <a:endParaRPr lang="en-US" sz="800" dirty="0"/>
          </a:p>
        </p:txBody>
      </p:sp>
      <p:sp>
        <p:nvSpPr>
          <p:cNvPr id="4" name="Text 2"/>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El Poder del «Comité de Expertos»: Nuestro Modelo de Votación</a:t>
            </a:r>
            <a:endParaRPr lang="en-US" sz="2600" dirty="0"/>
          </a:p>
        </p:txBody>
      </p:sp>
      <p:sp>
        <p:nvSpPr>
          <p:cNvPr id="5" name="Text 3"/>
          <p:cNvSpPr/>
          <p:nvPr/>
        </p:nvSpPr>
        <p:spPr>
          <a:xfrm>
            <a:off x="457200" y="1188720"/>
            <a:ext cx="8229600" cy="274320"/>
          </a:xfrm>
          <a:prstGeom prst="rect">
            <a:avLst/>
          </a:prstGeom>
          <a:noFill/>
          <a:ln/>
        </p:spPr>
        <p:txBody>
          <a:bodyPr wrap="square" lIns="0" tIns="0" rIns="0" bIns="0" rtlCol="0" anchor="ctr"/>
          <a:lstStyle/>
          <a:p>
            <a:pPr indent="0" marL="0">
              <a:buNone/>
            </a:pPr>
            <a:r>
              <a:rPr lang="en-US" sz="1050" dirty="0">
                <a:solidFill>
                  <a:srgbClr val="64748B"/>
                </a:solidFill>
              </a:rPr>
              <a:t>Ensamblado de Votación Suave (Soft Voting Ensemble): tres clasificadores emiten probabilidades y la decisión final es un promedio ponderado.</a:t>
            </a:r>
            <a:endParaRPr lang="en-US" sz="1050" dirty="0"/>
          </a:p>
        </p:txBody>
      </p:sp>
      <p:sp>
        <p:nvSpPr>
          <p:cNvPr id="6" name="Shape 4"/>
          <p:cNvSpPr/>
          <p:nvPr/>
        </p:nvSpPr>
        <p:spPr>
          <a:xfrm>
            <a:off x="365760" y="1600200"/>
            <a:ext cx="2606040" cy="2194560"/>
          </a:xfrm>
          <a:prstGeom prst="rect">
            <a:avLst>
              <a:gd name="adj" fmla="val 2083"/>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7" name="Shape 5"/>
          <p:cNvSpPr/>
          <p:nvPr/>
        </p:nvSpPr>
        <p:spPr>
          <a:xfrm>
            <a:off x="365760" y="1600200"/>
            <a:ext cx="2606040" cy="347472"/>
          </a:xfrm>
          <a:prstGeom prst="rect">
            <a:avLst/>
          </a:prstGeom>
          <a:solidFill>
            <a:srgbClr val="0D9488"/>
          </a:solidFill>
          <a:ln w="12700">
            <a:solidFill>
              <a:srgbClr val="0D9488"/>
            </a:solidFill>
            <a:prstDash val="solid"/>
          </a:ln>
        </p:spPr>
      </p:sp>
      <p:sp>
        <p:nvSpPr>
          <p:cNvPr id="8" name="Text 6"/>
          <p:cNvSpPr/>
          <p:nvPr/>
        </p:nvSpPr>
        <p:spPr>
          <a:xfrm>
            <a:off x="457200" y="1600200"/>
            <a:ext cx="1645920" cy="347472"/>
          </a:xfrm>
          <a:prstGeom prst="rect">
            <a:avLst/>
          </a:prstGeom>
          <a:noFill/>
          <a:ln/>
        </p:spPr>
        <p:txBody>
          <a:bodyPr wrap="square" lIns="0" tIns="0" rIns="0" bIns="0" rtlCol="0" anchor="ctr"/>
          <a:lstStyle/>
          <a:p>
            <a:pPr indent="0" marL="0">
              <a:buNone/>
            </a:pPr>
            <a:r>
              <a:rPr lang="en-US" sz="1100" b="1" dirty="0">
                <a:solidFill>
                  <a:srgbClr val="FFFFFF"/>
                </a:solidFill>
              </a:rPr>
              <a:t>ComplementNB</a:t>
            </a:r>
            <a:endParaRPr lang="en-US" sz="1100" dirty="0"/>
          </a:p>
        </p:txBody>
      </p:sp>
      <p:sp>
        <p:nvSpPr>
          <p:cNvPr id="9" name="Shape 7"/>
          <p:cNvSpPr/>
          <p:nvPr/>
        </p:nvSpPr>
        <p:spPr>
          <a:xfrm>
            <a:off x="2194560" y="1664208"/>
            <a:ext cx="685800" cy="219456"/>
          </a:xfrm>
          <a:prstGeom prst="roundRect">
            <a:avLst>
              <a:gd name="adj" fmla="val 41667"/>
            </a:avLst>
          </a:prstGeom>
          <a:solidFill>
            <a:srgbClr val="FFFFFF">
              <a:alpha val="20000"/>
            </a:srgbClr>
          </a:solidFill>
          <a:ln w="12700">
            <a:solidFill>
              <a:srgbClr val="FFFFFF"/>
            </a:solidFill>
            <a:prstDash val="solid"/>
          </a:ln>
        </p:spPr>
      </p:sp>
      <p:sp>
        <p:nvSpPr>
          <p:cNvPr id="10" name="Text 8"/>
          <p:cNvSpPr/>
          <p:nvPr/>
        </p:nvSpPr>
        <p:spPr>
          <a:xfrm>
            <a:off x="2194560" y="1664208"/>
            <a:ext cx="685800" cy="219456"/>
          </a:xfrm>
          <a:prstGeom prst="rect">
            <a:avLst/>
          </a:prstGeom>
          <a:noFill/>
          <a:ln/>
        </p:spPr>
        <p:txBody>
          <a:bodyPr wrap="square" lIns="0" tIns="0" rIns="0" bIns="0" rtlCol="0" anchor="ctr"/>
          <a:lstStyle/>
          <a:p>
            <a:pPr algn="ctr" indent="0" marL="0">
              <a:buNone/>
            </a:pPr>
            <a:r>
              <a:rPr lang="en-US" sz="750" b="1" dirty="0">
                <a:solidFill>
                  <a:srgbClr val="FFFFFF"/>
                </a:solidFill>
              </a:rPr>
              <a:t>Peso: 1</a:t>
            </a:r>
            <a:endParaRPr lang="en-US" sz="750" dirty="0"/>
          </a:p>
        </p:txBody>
      </p:sp>
      <p:sp>
        <p:nvSpPr>
          <p:cNvPr id="11" name="Text 9"/>
          <p:cNvSpPr/>
          <p:nvPr/>
        </p:nvSpPr>
        <p:spPr>
          <a:xfrm>
            <a:off x="502920" y="2029968"/>
            <a:ext cx="2331720" cy="1691640"/>
          </a:xfrm>
          <a:prstGeom prst="rect">
            <a:avLst/>
          </a:prstGeom>
          <a:noFill/>
          <a:ln/>
        </p:spPr>
        <p:txBody>
          <a:bodyPr wrap="square" lIns="0" tIns="0" rIns="0" bIns="0" rtlCol="0" anchor="ctr"/>
          <a:lstStyle/>
          <a:p>
            <a:pPr indent="0" marL="0">
              <a:buNone/>
            </a:pPr>
            <a:r>
              <a:rPr lang="en-US" sz="1050" dirty="0">
                <a:solidFill>
                  <a:srgbClr val="CBD5E1"/>
                </a:solidFill>
              </a:rPr>
              <a:t>Analiza frecuencia de términos de dominio («desabasto», «IMSS»). Robusto con datos desbalanceados.</a:t>
            </a:r>
            <a:endParaRPr lang="en-US" sz="1050" dirty="0"/>
          </a:p>
        </p:txBody>
      </p:sp>
      <p:sp>
        <p:nvSpPr>
          <p:cNvPr id="12" name="Shape 10"/>
          <p:cNvSpPr/>
          <p:nvPr/>
        </p:nvSpPr>
        <p:spPr>
          <a:xfrm>
            <a:off x="3200400" y="1600200"/>
            <a:ext cx="2606040" cy="2194560"/>
          </a:xfrm>
          <a:prstGeom prst="rect">
            <a:avLst>
              <a:gd name="adj" fmla="val 2083"/>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3" name="Shape 11"/>
          <p:cNvSpPr/>
          <p:nvPr/>
        </p:nvSpPr>
        <p:spPr>
          <a:xfrm>
            <a:off x="3200400" y="1600200"/>
            <a:ext cx="2606040" cy="347472"/>
          </a:xfrm>
          <a:prstGeom prst="rect">
            <a:avLst/>
          </a:prstGeom>
          <a:solidFill>
            <a:srgbClr val="F59E0B"/>
          </a:solidFill>
          <a:ln w="12700">
            <a:solidFill>
              <a:srgbClr val="F59E0B"/>
            </a:solidFill>
            <a:prstDash val="solid"/>
          </a:ln>
        </p:spPr>
      </p:sp>
      <p:sp>
        <p:nvSpPr>
          <p:cNvPr id="14" name="Text 12"/>
          <p:cNvSpPr/>
          <p:nvPr/>
        </p:nvSpPr>
        <p:spPr>
          <a:xfrm>
            <a:off x="3291840" y="1600200"/>
            <a:ext cx="1645920" cy="347472"/>
          </a:xfrm>
          <a:prstGeom prst="rect">
            <a:avLst/>
          </a:prstGeom>
          <a:noFill/>
          <a:ln/>
        </p:spPr>
        <p:txBody>
          <a:bodyPr wrap="square" lIns="0" tIns="0" rIns="0" bIns="0" rtlCol="0" anchor="ctr"/>
          <a:lstStyle/>
          <a:p>
            <a:pPr indent="0" marL="0">
              <a:buNone/>
            </a:pPr>
            <a:r>
              <a:rPr lang="en-US" sz="1100" b="1" dirty="0">
                <a:solidFill>
                  <a:srgbClr val="FFFFFF"/>
                </a:solidFill>
              </a:rPr>
              <a:t>Regresión Logística</a:t>
            </a:r>
            <a:endParaRPr lang="en-US" sz="1100" dirty="0"/>
          </a:p>
        </p:txBody>
      </p:sp>
      <p:sp>
        <p:nvSpPr>
          <p:cNvPr id="15" name="Shape 13"/>
          <p:cNvSpPr/>
          <p:nvPr/>
        </p:nvSpPr>
        <p:spPr>
          <a:xfrm>
            <a:off x="5029200" y="1664208"/>
            <a:ext cx="685800" cy="219456"/>
          </a:xfrm>
          <a:prstGeom prst="roundRect">
            <a:avLst>
              <a:gd name="adj" fmla="val 41667"/>
            </a:avLst>
          </a:prstGeom>
          <a:solidFill>
            <a:srgbClr val="FFFFFF">
              <a:alpha val="20000"/>
            </a:srgbClr>
          </a:solidFill>
          <a:ln w="12700">
            <a:solidFill>
              <a:srgbClr val="FFFFFF"/>
            </a:solidFill>
            <a:prstDash val="solid"/>
          </a:ln>
        </p:spPr>
      </p:sp>
      <p:sp>
        <p:nvSpPr>
          <p:cNvPr id="16" name="Text 14"/>
          <p:cNvSpPr/>
          <p:nvPr/>
        </p:nvSpPr>
        <p:spPr>
          <a:xfrm>
            <a:off x="5029200" y="1664208"/>
            <a:ext cx="685800" cy="219456"/>
          </a:xfrm>
          <a:prstGeom prst="rect">
            <a:avLst/>
          </a:prstGeom>
          <a:noFill/>
          <a:ln/>
        </p:spPr>
        <p:txBody>
          <a:bodyPr wrap="square" lIns="0" tIns="0" rIns="0" bIns="0" rtlCol="0" anchor="ctr"/>
          <a:lstStyle/>
          <a:p>
            <a:pPr algn="ctr" indent="0" marL="0">
              <a:buNone/>
            </a:pPr>
            <a:r>
              <a:rPr lang="en-US" sz="750" b="1" dirty="0">
                <a:solidFill>
                  <a:srgbClr val="FFFFFF"/>
                </a:solidFill>
              </a:rPr>
              <a:t>Peso: 2</a:t>
            </a:r>
            <a:endParaRPr lang="en-US" sz="750" dirty="0"/>
          </a:p>
        </p:txBody>
      </p:sp>
      <p:sp>
        <p:nvSpPr>
          <p:cNvPr id="17" name="Text 15"/>
          <p:cNvSpPr/>
          <p:nvPr/>
        </p:nvSpPr>
        <p:spPr>
          <a:xfrm>
            <a:off x="3337560" y="2029968"/>
            <a:ext cx="2331720" cy="1691640"/>
          </a:xfrm>
          <a:prstGeom prst="rect">
            <a:avLst/>
          </a:prstGeom>
          <a:noFill/>
          <a:ln/>
        </p:spPr>
        <p:txBody>
          <a:bodyPr wrap="square" lIns="0" tIns="0" rIns="0" bIns="0" rtlCol="0" anchor="ctr"/>
          <a:lstStyle/>
          <a:p>
            <a:pPr indent="0" marL="0">
              <a:buNone/>
            </a:pPr>
            <a:r>
              <a:rPr lang="en-US" sz="1050" dirty="0">
                <a:solidFill>
                  <a:srgbClr val="CBD5E1"/>
                </a:solidFill>
              </a:rPr>
              <a:t>Combina señal TF-IDF con embeddings BERT. Excelente calibración de probabilidades.</a:t>
            </a:r>
            <a:endParaRPr lang="en-US" sz="1050" dirty="0"/>
          </a:p>
        </p:txBody>
      </p:sp>
      <p:sp>
        <p:nvSpPr>
          <p:cNvPr id="18" name="Shape 16"/>
          <p:cNvSpPr/>
          <p:nvPr/>
        </p:nvSpPr>
        <p:spPr>
          <a:xfrm>
            <a:off x="6035040" y="1600200"/>
            <a:ext cx="2606040" cy="2194560"/>
          </a:xfrm>
          <a:prstGeom prst="rect">
            <a:avLst>
              <a:gd name="adj" fmla="val 2083"/>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9" name="Shape 17"/>
          <p:cNvSpPr/>
          <p:nvPr/>
        </p:nvSpPr>
        <p:spPr>
          <a:xfrm>
            <a:off x="6035040" y="1600200"/>
            <a:ext cx="2606040" cy="347472"/>
          </a:xfrm>
          <a:prstGeom prst="rect">
            <a:avLst/>
          </a:prstGeom>
          <a:solidFill>
            <a:srgbClr val="7C3AED"/>
          </a:solidFill>
          <a:ln w="12700">
            <a:solidFill>
              <a:srgbClr val="7C3AED"/>
            </a:solidFill>
            <a:prstDash val="solid"/>
          </a:ln>
        </p:spPr>
      </p:sp>
      <p:sp>
        <p:nvSpPr>
          <p:cNvPr id="20" name="Text 18"/>
          <p:cNvSpPr/>
          <p:nvPr/>
        </p:nvSpPr>
        <p:spPr>
          <a:xfrm>
            <a:off x="6126480" y="1600200"/>
            <a:ext cx="1645920" cy="347472"/>
          </a:xfrm>
          <a:prstGeom prst="rect">
            <a:avLst/>
          </a:prstGeom>
          <a:noFill/>
          <a:ln/>
        </p:spPr>
        <p:txBody>
          <a:bodyPr wrap="square" lIns="0" tIns="0" rIns="0" bIns="0" rtlCol="0" anchor="ctr"/>
          <a:lstStyle/>
          <a:p>
            <a:pPr indent="0" marL="0">
              <a:buNone/>
            </a:pPr>
            <a:r>
              <a:rPr lang="en-US" sz="1100" b="1" dirty="0">
                <a:solidFill>
                  <a:srgbClr val="FFFFFF"/>
                </a:solidFill>
              </a:rPr>
              <a:t>LinearSVM Calibrado</a:t>
            </a:r>
            <a:endParaRPr lang="en-US" sz="1100" dirty="0"/>
          </a:p>
        </p:txBody>
      </p:sp>
      <p:sp>
        <p:nvSpPr>
          <p:cNvPr id="21" name="Shape 19"/>
          <p:cNvSpPr/>
          <p:nvPr/>
        </p:nvSpPr>
        <p:spPr>
          <a:xfrm>
            <a:off x="7863840" y="1664208"/>
            <a:ext cx="685800" cy="219456"/>
          </a:xfrm>
          <a:prstGeom prst="roundRect">
            <a:avLst>
              <a:gd name="adj" fmla="val 41667"/>
            </a:avLst>
          </a:prstGeom>
          <a:solidFill>
            <a:srgbClr val="FFFFFF">
              <a:alpha val="20000"/>
            </a:srgbClr>
          </a:solidFill>
          <a:ln w="12700">
            <a:solidFill>
              <a:srgbClr val="FFFFFF"/>
            </a:solidFill>
            <a:prstDash val="solid"/>
          </a:ln>
        </p:spPr>
      </p:sp>
      <p:sp>
        <p:nvSpPr>
          <p:cNvPr id="22" name="Text 20"/>
          <p:cNvSpPr/>
          <p:nvPr/>
        </p:nvSpPr>
        <p:spPr>
          <a:xfrm>
            <a:off x="7863840" y="1664208"/>
            <a:ext cx="685800" cy="219456"/>
          </a:xfrm>
          <a:prstGeom prst="rect">
            <a:avLst/>
          </a:prstGeom>
          <a:noFill/>
          <a:ln/>
        </p:spPr>
        <p:txBody>
          <a:bodyPr wrap="square" lIns="0" tIns="0" rIns="0" bIns="0" rtlCol="0" anchor="ctr"/>
          <a:lstStyle/>
          <a:p>
            <a:pPr algn="ctr" indent="0" marL="0">
              <a:buNone/>
            </a:pPr>
            <a:r>
              <a:rPr lang="en-US" sz="750" b="1" dirty="0">
                <a:solidFill>
                  <a:srgbClr val="FFFFFF"/>
                </a:solidFill>
              </a:rPr>
              <a:t>Peso: 2</a:t>
            </a:r>
            <a:endParaRPr lang="en-US" sz="750" dirty="0"/>
          </a:p>
        </p:txBody>
      </p:sp>
      <p:sp>
        <p:nvSpPr>
          <p:cNvPr id="23" name="Text 21"/>
          <p:cNvSpPr/>
          <p:nvPr/>
        </p:nvSpPr>
        <p:spPr>
          <a:xfrm>
            <a:off x="6172200" y="2029968"/>
            <a:ext cx="2331720" cy="1691640"/>
          </a:xfrm>
          <a:prstGeom prst="rect">
            <a:avLst/>
          </a:prstGeom>
          <a:noFill/>
          <a:ln/>
        </p:spPr>
        <p:txBody>
          <a:bodyPr wrap="square" lIns="0" tIns="0" rIns="0" bIns="0" rtlCol="0" anchor="ctr"/>
          <a:lstStyle/>
          <a:p>
            <a:pPr indent="0" marL="0">
              <a:buNone/>
            </a:pPr>
            <a:r>
              <a:rPr lang="en-US" sz="1050" dirty="0">
                <a:solidFill>
                  <a:srgbClr val="CBD5E1"/>
                </a:solidFill>
              </a:rPr>
              <a:t>Traza la frontera óptima entre «Queja Grave» y «Queja Leve». Robusto ante ruido y jerga.</a:t>
            </a:r>
            <a:endParaRPr lang="en-US" sz="1050" dirty="0"/>
          </a:p>
        </p:txBody>
      </p:sp>
      <p:sp>
        <p:nvSpPr>
          <p:cNvPr id="24" name="Shape 22"/>
          <p:cNvSpPr/>
          <p:nvPr/>
        </p:nvSpPr>
        <p:spPr>
          <a:xfrm>
            <a:off x="365760" y="3950208"/>
            <a:ext cx="8412480" cy="777240"/>
          </a:xfrm>
          <a:prstGeom prst="rect">
            <a:avLst>
              <a:gd name="adj" fmla="val 5882"/>
            </a:avLst>
          </a:prstGeom>
          <a:solidFill>
            <a:srgbClr val="0D2535"/>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25" name="Shape 23"/>
          <p:cNvSpPr/>
          <p:nvPr/>
        </p:nvSpPr>
        <p:spPr>
          <a:xfrm>
            <a:off x="365760" y="3950208"/>
            <a:ext cx="54864" cy="777240"/>
          </a:xfrm>
          <a:prstGeom prst="rect">
            <a:avLst/>
          </a:prstGeom>
          <a:solidFill>
            <a:srgbClr val="F59E0B"/>
          </a:solidFill>
          <a:ln w="12700">
            <a:solidFill>
              <a:srgbClr val="F59E0B"/>
            </a:solidFill>
            <a:prstDash val="solid"/>
          </a:ln>
        </p:spPr>
      </p:sp>
      <p:sp>
        <p:nvSpPr>
          <p:cNvPr id="26" name="Text 24"/>
          <p:cNvSpPr/>
          <p:nvPr/>
        </p:nvSpPr>
        <p:spPr>
          <a:xfrm>
            <a:off x="594360" y="4023360"/>
            <a:ext cx="2011680" cy="274320"/>
          </a:xfrm>
          <a:prstGeom prst="rect">
            <a:avLst/>
          </a:prstGeom>
          <a:noFill/>
          <a:ln/>
        </p:spPr>
        <p:txBody>
          <a:bodyPr wrap="square" lIns="0" tIns="0" rIns="0" bIns="0" rtlCol="0" anchor="ctr"/>
          <a:lstStyle/>
          <a:p>
            <a:pPr indent="0" marL="0">
              <a:buNone/>
            </a:pPr>
            <a:r>
              <a:rPr lang="en-US" sz="1000" b="1" dirty="0">
                <a:solidFill>
                  <a:srgbClr val="F59E0B"/>
                </a:solidFill>
              </a:rPr>
              <a:t>Fórmula de decisión:</a:t>
            </a:r>
            <a:endParaRPr lang="en-US" sz="1000" dirty="0"/>
          </a:p>
        </p:txBody>
      </p:sp>
      <p:sp>
        <p:nvSpPr>
          <p:cNvPr id="27" name="Text 25"/>
          <p:cNvSpPr/>
          <p:nvPr/>
        </p:nvSpPr>
        <p:spPr>
          <a:xfrm>
            <a:off x="2560320" y="4023360"/>
            <a:ext cx="6035040" cy="640080"/>
          </a:xfrm>
          <a:prstGeom prst="rect">
            <a:avLst/>
          </a:prstGeom>
          <a:noFill/>
          <a:ln/>
        </p:spPr>
        <p:txBody>
          <a:bodyPr wrap="square" lIns="0" tIns="0" rIns="0" bIns="0"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Predicción Final = (1 × P_CNB  +  2 × P_LR  +  2 × P_SVM) / 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256032"/>
            <a:ext cx="1280160" cy="237744"/>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1280160" cy="237744"/>
          </a:xfrm>
          <a:prstGeom prst="rect">
            <a:avLst/>
          </a:prstGeom>
          <a:noFill/>
          <a:ln/>
        </p:spPr>
        <p:txBody>
          <a:bodyPr wrap="square" lIns="0" tIns="0" rIns="0" bIns="0" rtlCol="0" anchor="ctr"/>
          <a:lstStyle/>
          <a:p>
            <a:pPr algn="ctr" indent="0" marL="0">
              <a:buNone/>
            </a:pPr>
            <a:r>
              <a:rPr lang="en-US" sz="800" b="1" dirty="0">
                <a:solidFill>
                  <a:srgbClr val="FFFFFF"/>
                </a:solidFill>
              </a:rPr>
              <a:t>TECNOLOGÍA</a:t>
            </a:r>
            <a:endParaRPr lang="en-US" sz="800" dirty="0"/>
          </a:p>
        </p:txBody>
      </p:sp>
      <p:sp>
        <p:nvSpPr>
          <p:cNvPr id="4" name="Text 2"/>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Stack Tecnológico del Proyecto</a:t>
            </a:r>
            <a:endParaRPr lang="en-US" sz="2600" dirty="0"/>
          </a:p>
        </p:txBody>
      </p:sp>
      <p:sp>
        <p:nvSpPr>
          <p:cNvPr id="5" name="Shape 3"/>
          <p:cNvSpPr/>
          <p:nvPr/>
        </p:nvSpPr>
        <p:spPr>
          <a:xfrm>
            <a:off x="365760" y="1234440"/>
            <a:ext cx="8412480" cy="347472"/>
          </a:xfrm>
          <a:prstGeom prst="rect">
            <a:avLst/>
          </a:prstGeom>
          <a:solidFill>
            <a:srgbClr val="0D9488"/>
          </a:solidFill>
          <a:ln w="12700">
            <a:solidFill>
              <a:srgbClr val="0D9488"/>
            </a:solidFill>
            <a:prstDash val="solid"/>
          </a:ln>
        </p:spPr>
      </p:sp>
      <p:sp>
        <p:nvSpPr>
          <p:cNvPr id="6" name="Text 4"/>
          <p:cNvSpPr/>
          <p:nvPr/>
        </p:nvSpPr>
        <p:spPr>
          <a:xfrm>
            <a:off x="502920" y="1234440"/>
            <a:ext cx="1737360" cy="347472"/>
          </a:xfrm>
          <a:prstGeom prst="rect">
            <a:avLst/>
          </a:prstGeom>
          <a:noFill/>
          <a:ln/>
        </p:spPr>
        <p:txBody>
          <a:bodyPr wrap="square" lIns="0" tIns="0" rIns="0" bIns="0" rtlCol="0" anchor="ctr"/>
          <a:lstStyle/>
          <a:p>
            <a:pPr indent="0" marL="0">
              <a:buNone/>
            </a:pPr>
            <a:r>
              <a:rPr lang="en-US" sz="1100" b="1" dirty="0">
                <a:solidFill>
                  <a:srgbClr val="FFFFFF"/>
                </a:solidFill>
              </a:rPr>
              <a:t>Categoría</a:t>
            </a:r>
            <a:endParaRPr lang="en-US" sz="1100" dirty="0"/>
          </a:p>
        </p:txBody>
      </p:sp>
      <p:sp>
        <p:nvSpPr>
          <p:cNvPr id="7" name="Text 5"/>
          <p:cNvSpPr/>
          <p:nvPr/>
        </p:nvSpPr>
        <p:spPr>
          <a:xfrm>
            <a:off x="3200400" y="1234440"/>
            <a:ext cx="2926080" cy="347472"/>
          </a:xfrm>
          <a:prstGeom prst="rect">
            <a:avLst/>
          </a:prstGeom>
          <a:noFill/>
          <a:ln/>
        </p:spPr>
        <p:txBody>
          <a:bodyPr wrap="square" lIns="0" tIns="0" rIns="0" bIns="0" rtlCol="0" anchor="ctr"/>
          <a:lstStyle/>
          <a:p>
            <a:pPr indent="0" marL="0">
              <a:buNone/>
            </a:pPr>
            <a:r>
              <a:rPr lang="en-US" sz="1100" b="1" dirty="0">
                <a:solidFill>
                  <a:srgbClr val="FFFFFF"/>
                </a:solidFill>
              </a:rPr>
              <a:t>Herramienta / Librería</a:t>
            </a:r>
            <a:endParaRPr lang="en-US" sz="1100" dirty="0"/>
          </a:p>
        </p:txBody>
      </p:sp>
      <p:sp>
        <p:nvSpPr>
          <p:cNvPr id="8" name="Text 6"/>
          <p:cNvSpPr/>
          <p:nvPr/>
        </p:nvSpPr>
        <p:spPr>
          <a:xfrm>
            <a:off x="6263640" y="1234440"/>
            <a:ext cx="2423160" cy="347472"/>
          </a:xfrm>
          <a:prstGeom prst="rect">
            <a:avLst/>
          </a:prstGeom>
          <a:noFill/>
          <a:ln/>
        </p:spPr>
        <p:txBody>
          <a:bodyPr wrap="square" lIns="0" tIns="0" rIns="0" bIns="0" rtlCol="0" anchor="ctr"/>
          <a:lstStyle/>
          <a:p>
            <a:pPr indent="0" marL="0">
              <a:buNone/>
            </a:pPr>
            <a:r>
              <a:rPr lang="en-US" sz="1100" b="1" dirty="0">
                <a:solidFill>
                  <a:srgbClr val="FFFFFF"/>
                </a:solidFill>
              </a:rPr>
              <a:t>Uso en el Proyecto</a:t>
            </a:r>
            <a:endParaRPr lang="en-US" sz="1100" dirty="0"/>
          </a:p>
        </p:txBody>
      </p:sp>
      <p:sp>
        <p:nvSpPr>
          <p:cNvPr id="9" name="Shape 7"/>
          <p:cNvSpPr/>
          <p:nvPr/>
        </p:nvSpPr>
        <p:spPr>
          <a:xfrm>
            <a:off x="365760" y="1581912"/>
            <a:ext cx="8412480" cy="530352"/>
          </a:xfrm>
          <a:prstGeom prst="rect">
            <a:avLst/>
          </a:prstGeom>
          <a:solidFill>
            <a:srgbClr val="1A2538"/>
          </a:solidFill>
          <a:ln w="12700">
            <a:solidFill>
              <a:srgbClr val="1E3A5A"/>
            </a:solidFill>
            <a:prstDash val="solid"/>
          </a:ln>
        </p:spPr>
      </p:sp>
      <p:sp>
        <p:nvSpPr>
          <p:cNvPr id="10" name="Shape 8"/>
          <p:cNvSpPr/>
          <p:nvPr/>
        </p:nvSpPr>
        <p:spPr>
          <a:xfrm>
            <a:off x="365760" y="1719072"/>
            <a:ext cx="54864" cy="256032"/>
          </a:xfrm>
          <a:prstGeom prst="rect">
            <a:avLst/>
          </a:prstGeom>
          <a:solidFill>
            <a:srgbClr val="0D9488"/>
          </a:solidFill>
          <a:ln w="12700">
            <a:solidFill>
              <a:srgbClr val="0D9488"/>
            </a:solidFill>
            <a:prstDash val="solid"/>
          </a:ln>
        </p:spPr>
      </p:sp>
      <p:sp>
        <p:nvSpPr>
          <p:cNvPr id="11" name="Text 9"/>
          <p:cNvSpPr/>
          <p:nvPr/>
        </p:nvSpPr>
        <p:spPr>
          <a:xfrm>
            <a:off x="548640" y="1581912"/>
            <a:ext cx="2560320" cy="530352"/>
          </a:xfrm>
          <a:prstGeom prst="rect">
            <a:avLst/>
          </a:prstGeom>
          <a:noFill/>
          <a:ln/>
        </p:spPr>
        <p:txBody>
          <a:bodyPr wrap="square" lIns="0" tIns="0" rIns="0" bIns="0" rtlCol="0" anchor="ctr"/>
          <a:lstStyle/>
          <a:p>
            <a:pPr indent="0" marL="0">
              <a:buNone/>
            </a:pPr>
            <a:r>
              <a:rPr lang="en-US" sz="1000" dirty="0">
                <a:solidFill>
                  <a:srgbClr val="CBD5E1"/>
                </a:solidFill>
              </a:rPr>
              <a:t>Lenguaje</a:t>
            </a:r>
            <a:endParaRPr lang="en-US" sz="1000" dirty="0"/>
          </a:p>
        </p:txBody>
      </p:sp>
      <p:sp>
        <p:nvSpPr>
          <p:cNvPr id="12" name="Text 10"/>
          <p:cNvSpPr/>
          <p:nvPr/>
        </p:nvSpPr>
        <p:spPr>
          <a:xfrm>
            <a:off x="3200400" y="1581912"/>
            <a:ext cx="2926080" cy="530352"/>
          </a:xfrm>
          <a:prstGeom prst="rect">
            <a:avLst/>
          </a:prstGeom>
          <a:noFill/>
          <a:ln/>
        </p:spPr>
        <p:txBody>
          <a:bodyPr wrap="square" lIns="0" tIns="0" rIns="0" bIns="0" rtlCol="0" anchor="ctr"/>
          <a:lstStyle/>
          <a:p>
            <a:pPr indent="0" marL="0">
              <a:buNone/>
            </a:pPr>
            <a:r>
              <a:rPr lang="en-US" sz="1050" b="1" dirty="0">
                <a:solidFill>
                  <a:srgbClr val="0D9488"/>
                </a:solidFill>
              </a:rPr>
              <a:t>Python 3.9+</a:t>
            </a:r>
            <a:endParaRPr lang="en-US" sz="1050" dirty="0"/>
          </a:p>
        </p:txBody>
      </p:sp>
      <p:sp>
        <p:nvSpPr>
          <p:cNvPr id="13" name="Text 11"/>
          <p:cNvSpPr/>
          <p:nvPr/>
        </p:nvSpPr>
        <p:spPr>
          <a:xfrm>
            <a:off x="6263640" y="1581912"/>
            <a:ext cx="2377440" cy="530352"/>
          </a:xfrm>
          <a:prstGeom prst="rect">
            <a:avLst/>
          </a:prstGeom>
          <a:noFill/>
          <a:ln/>
        </p:spPr>
        <p:txBody>
          <a:bodyPr wrap="square" lIns="0" tIns="0" rIns="0" bIns="0" rtlCol="0" anchor="ctr"/>
          <a:lstStyle/>
          <a:p>
            <a:pPr indent="0" marL="0">
              <a:buNone/>
            </a:pPr>
            <a:r>
              <a:rPr lang="en-US" sz="950" dirty="0">
                <a:solidFill>
                  <a:srgbClr val="CBD5E1"/>
                </a:solidFill>
              </a:rPr>
              <a:t>Lenguaje principal de desarrollo</a:t>
            </a:r>
            <a:endParaRPr lang="en-US" sz="950" dirty="0"/>
          </a:p>
        </p:txBody>
      </p:sp>
      <p:sp>
        <p:nvSpPr>
          <p:cNvPr id="14" name="Shape 12"/>
          <p:cNvSpPr/>
          <p:nvPr/>
        </p:nvSpPr>
        <p:spPr>
          <a:xfrm>
            <a:off x="365760" y="2148840"/>
            <a:ext cx="8412480" cy="530352"/>
          </a:xfrm>
          <a:prstGeom prst="rect">
            <a:avLst/>
          </a:prstGeom>
          <a:solidFill>
            <a:srgbClr val="162032"/>
          </a:solidFill>
          <a:ln w="12700">
            <a:solidFill>
              <a:srgbClr val="1E3A5A"/>
            </a:solidFill>
            <a:prstDash val="solid"/>
          </a:ln>
        </p:spPr>
      </p:sp>
      <p:sp>
        <p:nvSpPr>
          <p:cNvPr id="15" name="Shape 13"/>
          <p:cNvSpPr/>
          <p:nvPr/>
        </p:nvSpPr>
        <p:spPr>
          <a:xfrm>
            <a:off x="365760" y="2286000"/>
            <a:ext cx="54864" cy="256032"/>
          </a:xfrm>
          <a:prstGeom prst="rect">
            <a:avLst/>
          </a:prstGeom>
          <a:solidFill>
            <a:srgbClr val="F59E0B"/>
          </a:solidFill>
          <a:ln w="12700">
            <a:solidFill>
              <a:srgbClr val="F59E0B"/>
            </a:solidFill>
            <a:prstDash val="solid"/>
          </a:ln>
        </p:spPr>
      </p:sp>
      <p:sp>
        <p:nvSpPr>
          <p:cNvPr id="16" name="Text 14"/>
          <p:cNvSpPr/>
          <p:nvPr/>
        </p:nvSpPr>
        <p:spPr>
          <a:xfrm>
            <a:off x="548640" y="2148840"/>
            <a:ext cx="2560320" cy="530352"/>
          </a:xfrm>
          <a:prstGeom prst="rect">
            <a:avLst/>
          </a:prstGeom>
          <a:noFill/>
          <a:ln/>
        </p:spPr>
        <p:txBody>
          <a:bodyPr wrap="square" lIns="0" tIns="0" rIns="0" bIns="0" rtlCol="0" anchor="ctr"/>
          <a:lstStyle/>
          <a:p>
            <a:pPr indent="0" marL="0">
              <a:buNone/>
            </a:pPr>
            <a:r>
              <a:rPr lang="en-US" sz="1000" dirty="0">
                <a:solidFill>
                  <a:srgbClr val="CBD5E1"/>
                </a:solidFill>
              </a:rPr>
              <a:t>Entorno</a:t>
            </a:r>
            <a:endParaRPr lang="en-US" sz="1000" dirty="0"/>
          </a:p>
        </p:txBody>
      </p:sp>
      <p:sp>
        <p:nvSpPr>
          <p:cNvPr id="17" name="Text 15"/>
          <p:cNvSpPr/>
          <p:nvPr/>
        </p:nvSpPr>
        <p:spPr>
          <a:xfrm>
            <a:off x="3200400" y="2148840"/>
            <a:ext cx="2926080" cy="530352"/>
          </a:xfrm>
          <a:prstGeom prst="rect">
            <a:avLst/>
          </a:prstGeom>
          <a:noFill/>
          <a:ln/>
        </p:spPr>
        <p:txBody>
          <a:bodyPr wrap="square" lIns="0" tIns="0" rIns="0" bIns="0" rtlCol="0" anchor="ctr"/>
          <a:lstStyle/>
          <a:p>
            <a:pPr indent="0" marL="0">
              <a:buNone/>
            </a:pPr>
            <a:r>
              <a:rPr lang="en-US" sz="1050" b="1" dirty="0">
                <a:solidFill>
                  <a:srgbClr val="F59E0B"/>
                </a:solidFill>
              </a:rPr>
              <a:t>Google Colab / Jupyter</a:t>
            </a:r>
            <a:endParaRPr lang="en-US" sz="1050" dirty="0"/>
          </a:p>
        </p:txBody>
      </p:sp>
      <p:sp>
        <p:nvSpPr>
          <p:cNvPr id="18" name="Text 16"/>
          <p:cNvSpPr/>
          <p:nvPr/>
        </p:nvSpPr>
        <p:spPr>
          <a:xfrm>
            <a:off x="6263640" y="2148840"/>
            <a:ext cx="2377440" cy="530352"/>
          </a:xfrm>
          <a:prstGeom prst="rect">
            <a:avLst/>
          </a:prstGeom>
          <a:noFill/>
          <a:ln/>
        </p:spPr>
        <p:txBody>
          <a:bodyPr wrap="square" lIns="0" tIns="0" rIns="0" bIns="0" rtlCol="0" anchor="ctr"/>
          <a:lstStyle/>
          <a:p>
            <a:pPr indent="0" marL="0">
              <a:buNone/>
            </a:pPr>
            <a:r>
              <a:rPr lang="en-US" sz="950" dirty="0">
                <a:solidFill>
                  <a:srgbClr val="CBD5E1"/>
                </a:solidFill>
              </a:rPr>
              <a:t>Ejecución interactiva y acceso a GPUs gratuitas</a:t>
            </a:r>
            <a:endParaRPr lang="en-US" sz="950" dirty="0"/>
          </a:p>
        </p:txBody>
      </p:sp>
      <p:sp>
        <p:nvSpPr>
          <p:cNvPr id="19" name="Shape 17"/>
          <p:cNvSpPr/>
          <p:nvPr/>
        </p:nvSpPr>
        <p:spPr>
          <a:xfrm>
            <a:off x="365760" y="2715768"/>
            <a:ext cx="8412480" cy="530352"/>
          </a:xfrm>
          <a:prstGeom prst="rect">
            <a:avLst/>
          </a:prstGeom>
          <a:solidFill>
            <a:srgbClr val="1A2538"/>
          </a:solidFill>
          <a:ln w="12700">
            <a:solidFill>
              <a:srgbClr val="1E3A5A"/>
            </a:solidFill>
            <a:prstDash val="solid"/>
          </a:ln>
        </p:spPr>
      </p:sp>
      <p:sp>
        <p:nvSpPr>
          <p:cNvPr id="20" name="Shape 18"/>
          <p:cNvSpPr/>
          <p:nvPr/>
        </p:nvSpPr>
        <p:spPr>
          <a:xfrm>
            <a:off x="365760" y="2852928"/>
            <a:ext cx="54864" cy="256032"/>
          </a:xfrm>
          <a:prstGeom prst="rect">
            <a:avLst/>
          </a:prstGeom>
          <a:solidFill>
            <a:srgbClr val="7C3AED"/>
          </a:solidFill>
          <a:ln w="12700">
            <a:solidFill>
              <a:srgbClr val="7C3AED"/>
            </a:solidFill>
            <a:prstDash val="solid"/>
          </a:ln>
        </p:spPr>
      </p:sp>
      <p:sp>
        <p:nvSpPr>
          <p:cNvPr id="21" name="Text 19"/>
          <p:cNvSpPr/>
          <p:nvPr/>
        </p:nvSpPr>
        <p:spPr>
          <a:xfrm>
            <a:off x="548640" y="2715768"/>
            <a:ext cx="2560320" cy="530352"/>
          </a:xfrm>
          <a:prstGeom prst="rect">
            <a:avLst/>
          </a:prstGeom>
          <a:noFill/>
          <a:ln/>
        </p:spPr>
        <p:txBody>
          <a:bodyPr wrap="square" lIns="0" tIns="0" rIns="0" bIns="0" rtlCol="0" anchor="ctr"/>
          <a:lstStyle/>
          <a:p>
            <a:pPr indent="0" marL="0">
              <a:buNone/>
            </a:pPr>
            <a:r>
              <a:rPr lang="en-US" sz="1000" dirty="0">
                <a:solidFill>
                  <a:srgbClr val="CBD5E1"/>
                </a:solidFill>
              </a:rPr>
              <a:t>Manipulación de Datos</a:t>
            </a:r>
            <a:endParaRPr lang="en-US" sz="1000" dirty="0"/>
          </a:p>
        </p:txBody>
      </p:sp>
      <p:sp>
        <p:nvSpPr>
          <p:cNvPr id="22" name="Text 20"/>
          <p:cNvSpPr/>
          <p:nvPr/>
        </p:nvSpPr>
        <p:spPr>
          <a:xfrm>
            <a:off x="3200400" y="2715768"/>
            <a:ext cx="2926080" cy="530352"/>
          </a:xfrm>
          <a:prstGeom prst="rect">
            <a:avLst/>
          </a:prstGeom>
          <a:noFill/>
          <a:ln/>
        </p:spPr>
        <p:txBody>
          <a:bodyPr wrap="square" lIns="0" tIns="0" rIns="0" bIns="0" rtlCol="0" anchor="ctr"/>
          <a:lstStyle/>
          <a:p>
            <a:pPr indent="0" marL="0">
              <a:buNone/>
            </a:pPr>
            <a:r>
              <a:rPr lang="en-US" sz="1050" b="1" dirty="0">
                <a:solidFill>
                  <a:srgbClr val="7C3AED"/>
                </a:solidFill>
              </a:rPr>
              <a:t>Pandas, NumPy</a:t>
            </a:r>
            <a:endParaRPr lang="en-US" sz="1050" dirty="0"/>
          </a:p>
        </p:txBody>
      </p:sp>
      <p:sp>
        <p:nvSpPr>
          <p:cNvPr id="23" name="Text 21"/>
          <p:cNvSpPr/>
          <p:nvPr/>
        </p:nvSpPr>
        <p:spPr>
          <a:xfrm>
            <a:off x="6263640" y="2715768"/>
            <a:ext cx="2377440" cy="530352"/>
          </a:xfrm>
          <a:prstGeom prst="rect">
            <a:avLst/>
          </a:prstGeom>
          <a:noFill/>
          <a:ln/>
        </p:spPr>
        <p:txBody>
          <a:bodyPr wrap="square" lIns="0" tIns="0" rIns="0" bIns="0" rtlCol="0" anchor="ctr"/>
          <a:lstStyle/>
          <a:p>
            <a:pPr indent="0" marL="0">
              <a:buNone/>
            </a:pPr>
            <a:r>
              <a:rPr lang="en-US" sz="950" dirty="0">
                <a:solidFill>
                  <a:srgbClr val="CBD5E1"/>
                </a:solidFill>
              </a:rPr>
              <a:t>Carga, limpieza y transformación del corpus</a:t>
            </a:r>
            <a:endParaRPr lang="en-US" sz="950" dirty="0"/>
          </a:p>
        </p:txBody>
      </p:sp>
      <p:sp>
        <p:nvSpPr>
          <p:cNvPr id="24" name="Shape 22"/>
          <p:cNvSpPr/>
          <p:nvPr/>
        </p:nvSpPr>
        <p:spPr>
          <a:xfrm>
            <a:off x="365760" y="3282696"/>
            <a:ext cx="8412480" cy="530352"/>
          </a:xfrm>
          <a:prstGeom prst="rect">
            <a:avLst/>
          </a:prstGeom>
          <a:solidFill>
            <a:srgbClr val="162032"/>
          </a:solidFill>
          <a:ln w="12700">
            <a:solidFill>
              <a:srgbClr val="1E3A5A"/>
            </a:solidFill>
            <a:prstDash val="solid"/>
          </a:ln>
        </p:spPr>
      </p:sp>
      <p:sp>
        <p:nvSpPr>
          <p:cNvPr id="25" name="Shape 23"/>
          <p:cNvSpPr/>
          <p:nvPr/>
        </p:nvSpPr>
        <p:spPr>
          <a:xfrm>
            <a:off x="365760" y="3419856"/>
            <a:ext cx="54864" cy="256032"/>
          </a:xfrm>
          <a:prstGeom prst="rect">
            <a:avLst/>
          </a:prstGeom>
          <a:solidFill>
            <a:srgbClr val="F43F5E"/>
          </a:solidFill>
          <a:ln w="12700">
            <a:solidFill>
              <a:srgbClr val="F43F5E"/>
            </a:solidFill>
            <a:prstDash val="solid"/>
          </a:ln>
        </p:spPr>
      </p:sp>
      <p:sp>
        <p:nvSpPr>
          <p:cNvPr id="26" name="Text 24"/>
          <p:cNvSpPr/>
          <p:nvPr/>
        </p:nvSpPr>
        <p:spPr>
          <a:xfrm>
            <a:off x="548640" y="3282696"/>
            <a:ext cx="2560320" cy="530352"/>
          </a:xfrm>
          <a:prstGeom prst="rect">
            <a:avLst/>
          </a:prstGeom>
          <a:noFill/>
          <a:ln/>
        </p:spPr>
        <p:txBody>
          <a:bodyPr wrap="square" lIns="0" tIns="0" rIns="0" bIns="0" rtlCol="0" anchor="ctr"/>
          <a:lstStyle/>
          <a:p>
            <a:pPr indent="0" marL="0">
              <a:buNone/>
            </a:pPr>
            <a:r>
              <a:rPr lang="en-US" sz="1000" dirty="0">
                <a:solidFill>
                  <a:srgbClr val="CBD5E1"/>
                </a:solidFill>
              </a:rPr>
              <a:t>Machine Learning</a:t>
            </a:r>
            <a:endParaRPr lang="en-US" sz="1000" dirty="0"/>
          </a:p>
        </p:txBody>
      </p:sp>
      <p:sp>
        <p:nvSpPr>
          <p:cNvPr id="27" name="Text 25"/>
          <p:cNvSpPr/>
          <p:nvPr/>
        </p:nvSpPr>
        <p:spPr>
          <a:xfrm>
            <a:off x="3200400" y="3282696"/>
            <a:ext cx="2926080" cy="530352"/>
          </a:xfrm>
          <a:prstGeom prst="rect">
            <a:avLst/>
          </a:prstGeom>
          <a:noFill/>
          <a:ln/>
        </p:spPr>
        <p:txBody>
          <a:bodyPr wrap="square" lIns="0" tIns="0" rIns="0" bIns="0" rtlCol="0" anchor="ctr"/>
          <a:lstStyle/>
          <a:p>
            <a:pPr indent="0" marL="0">
              <a:buNone/>
            </a:pPr>
            <a:r>
              <a:rPr lang="en-US" sz="1050" b="1" dirty="0">
                <a:solidFill>
                  <a:srgbClr val="F43F5E"/>
                </a:solidFill>
              </a:rPr>
              <a:t>Scikit-learn</a:t>
            </a:r>
            <a:endParaRPr lang="en-US" sz="1050" dirty="0"/>
          </a:p>
        </p:txBody>
      </p:sp>
      <p:sp>
        <p:nvSpPr>
          <p:cNvPr id="28" name="Text 26"/>
          <p:cNvSpPr/>
          <p:nvPr/>
        </p:nvSpPr>
        <p:spPr>
          <a:xfrm>
            <a:off x="6263640" y="3282696"/>
            <a:ext cx="2377440" cy="530352"/>
          </a:xfrm>
          <a:prstGeom prst="rect">
            <a:avLst/>
          </a:prstGeom>
          <a:noFill/>
          <a:ln/>
        </p:spPr>
        <p:txBody>
          <a:bodyPr wrap="square" lIns="0" tIns="0" rIns="0" bIns="0" rtlCol="0" anchor="ctr"/>
          <a:lstStyle/>
          <a:p>
            <a:pPr indent="0" marL="0">
              <a:buNone/>
            </a:pPr>
            <a:r>
              <a:rPr lang="en-US" sz="950" dirty="0">
                <a:solidFill>
                  <a:srgbClr val="CBD5E1"/>
                </a:solidFill>
              </a:rPr>
              <a:t>ComplementNB, Regresión Logística, SVM y Validación Cruzada</a:t>
            </a:r>
            <a:endParaRPr lang="en-US" sz="950" dirty="0"/>
          </a:p>
        </p:txBody>
      </p:sp>
      <p:sp>
        <p:nvSpPr>
          <p:cNvPr id="29" name="Shape 27"/>
          <p:cNvSpPr/>
          <p:nvPr/>
        </p:nvSpPr>
        <p:spPr>
          <a:xfrm>
            <a:off x="365760" y="3849624"/>
            <a:ext cx="8412480" cy="530352"/>
          </a:xfrm>
          <a:prstGeom prst="rect">
            <a:avLst/>
          </a:prstGeom>
          <a:solidFill>
            <a:srgbClr val="1A2538"/>
          </a:solidFill>
          <a:ln w="12700">
            <a:solidFill>
              <a:srgbClr val="1E3A5A"/>
            </a:solidFill>
            <a:prstDash val="solid"/>
          </a:ln>
        </p:spPr>
      </p:sp>
      <p:sp>
        <p:nvSpPr>
          <p:cNvPr id="30" name="Shape 28"/>
          <p:cNvSpPr/>
          <p:nvPr/>
        </p:nvSpPr>
        <p:spPr>
          <a:xfrm>
            <a:off x="365760" y="3986784"/>
            <a:ext cx="54864" cy="256032"/>
          </a:xfrm>
          <a:prstGeom prst="rect">
            <a:avLst/>
          </a:prstGeom>
          <a:solidFill>
            <a:srgbClr val="10B981"/>
          </a:solidFill>
          <a:ln w="12700">
            <a:solidFill>
              <a:srgbClr val="10B981"/>
            </a:solidFill>
            <a:prstDash val="solid"/>
          </a:ln>
        </p:spPr>
      </p:sp>
      <p:sp>
        <p:nvSpPr>
          <p:cNvPr id="31" name="Text 29"/>
          <p:cNvSpPr/>
          <p:nvPr/>
        </p:nvSpPr>
        <p:spPr>
          <a:xfrm>
            <a:off x="548640" y="3849624"/>
            <a:ext cx="2560320" cy="530352"/>
          </a:xfrm>
          <a:prstGeom prst="rect">
            <a:avLst/>
          </a:prstGeom>
          <a:noFill/>
          <a:ln/>
        </p:spPr>
        <p:txBody>
          <a:bodyPr wrap="square" lIns="0" tIns="0" rIns="0" bIns="0" rtlCol="0" anchor="ctr"/>
          <a:lstStyle/>
          <a:p>
            <a:pPr indent="0" marL="0">
              <a:buNone/>
            </a:pPr>
            <a:r>
              <a:rPr lang="en-US" sz="1000" dirty="0">
                <a:solidFill>
                  <a:srgbClr val="CBD5E1"/>
                </a:solidFill>
              </a:rPr>
              <a:t>Deep Learning / NLP</a:t>
            </a:r>
            <a:endParaRPr lang="en-US" sz="1000" dirty="0"/>
          </a:p>
        </p:txBody>
      </p:sp>
      <p:sp>
        <p:nvSpPr>
          <p:cNvPr id="32" name="Text 30"/>
          <p:cNvSpPr/>
          <p:nvPr/>
        </p:nvSpPr>
        <p:spPr>
          <a:xfrm>
            <a:off x="3200400" y="3849624"/>
            <a:ext cx="2926080" cy="530352"/>
          </a:xfrm>
          <a:prstGeom prst="rect">
            <a:avLst/>
          </a:prstGeom>
          <a:noFill/>
          <a:ln/>
        </p:spPr>
        <p:txBody>
          <a:bodyPr wrap="square" lIns="0" tIns="0" rIns="0" bIns="0" rtlCol="0" anchor="ctr"/>
          <a:lstStyle/>
          <a:p>
            <a:pPr indent="0" marL="0">
              <a:buNone/>
            </a:pPr>
            <a:r>
              <a:rPr lang="en-US" sz="1050" b="1" dirty="0">
                <a:solidFill>
                  <a:srgbClr val="10B981"/>
                </a:solidFill>
              </a:rPr>
              <a:t>Transformers (Hugging Face)</a:t>
            </a:r>
            <a:endParaRPr lang="en-US" sz="1050" dirty="0"/>
          </a:p>
        </p:txBody>
      </p:sp>
      <p:sp>
        <p:nvSpPr>
          <p:cNvPr id="33" name="Text 31"/>
          <p:cNvSpPr/>
          <p:nvPr/>
        </p:nvSpPr>
        <p:spPr>
          <a:xfrm>
            <a:off x="6263640" y="3849624"/>
            <a:ext cx="2377440" cy="530352"/>
          </a:xfrm>
          <a:prstGeom prst="rect">
            <a:avLst/>
          </a:prstGeom>
          <a:noFill/>
          <a:ln/>
        </p:spPr>
        <p:txBody>
          <a:bodyPr wrap="square" lIns="0" tIns="0" rIns="0" bIns="0" rtlCol="0" anchor="ctr"/>
          <a:lstStyle/>
          <a:p>
            <a:pPr indent="0" marL="0">
              <a:buNone/>
            </a:pPr>
            <a:r>
              <a:rPr lang="en-US" sz="950" dirty="0">
                <a:solidFill>
                  <a:srgbClr val="CBD5E1"/>
                </a:solidFill>
              </a:rPr>
              <a:t>Carga del modelo BETO (BERT para español)</a:t>
            </a:r>
            <a:endParaRPr lang="en-US" sz="950" dirty="0"/>
          </a:p>
        </p:txBody>
      </p:sp>
      <p:sp>
        <p:nvSpPr>
          <p:cNvPr id="34" name="Shape 32"/>
          <p:cNvSpPr/>
          <p:nvPr/>
        </p:nvSpPr>
        <p:spPr>
          <a:xfrm>
            <a:off x="365760" y="4416552"/>
            <a:ext cx="8412480" cy="530352"/>
          </a:xfrm>
          <a:prstGeom prst="rect">
            <a:avLst/>
          </a:prstGeom>
          <a:solidFill>
            <a:srgbClr val="162032"/>
          </a:solidFill>
          <a:ln w="12700">
            <a:solidFill>
              <a:srgbClr val="1E3A5A"/>
            </a:solidFill>
            <a:prstDash val="solid"/>
          </a:ln>
        </p:spPr>
      </p:sp>
      <p:sp>
        <p:nvSpPr>
          <p:cNvPr id="35" name="Shape 33"/>
          <p:cNvSpPr/>
          <p:nvPr/>
        </p:nvSpPr>
        <p:spPr>
          <a:xfrm>
            <a:off x="365760" y="4553712"/>
            <a:ext cx="54864" cy="256032"/>
          </a:xfrm>
          <a:prstGeom prst="rect">
            <a:avLst/>
          </a:prstGeom>
          <a:solidFill>
            <a:srgbClr val="14B8A6"/>
          </a:solidFill>
          <a:ln w="12700">
            <a:solidFill>
              <a:srgbClr val="14B8A6"/>
            </a:solidFill>
            <a:prstDash val="solid"/>
          </a:ln>
        </p:spPr>
      </p:sp>
      <p:sp>
        <p:nvSpPr>
          <p:cNvPr id="36" name="Text 34"/>
          <p:cNvSpPr/>
          <p:nvPr/>
        </p:nvSpPr>
        <p:spPr>
          <a:xfrm>
            <a:off x="548640" y="4416552"/>
            <a:ext cx="2560320" cy="530352"/>
          </a:xfrm>
          <a:prstGeom prst="rect">
            <a:avLst/>
          </a:prstGeom>
          <a:noFill/>
          <a:ln/>
        </p:spPr>
        <p:txBody>
          <a:bodyPr wrap="square" lIns="0" tIns="0" rIns="0" bIns="0" rtlCol="0" anchor="ctr"/>
          <a:lstStyle/>
          <a:p>
            <a:pPr indent="0" marL="0">
              <a:buNone/>
            </a:pPr>
            <a:r>
              <a:rPr lang="en-US" sz="1000" dirty="0">
                <a:solidFill>
                  <a:srgbClr val="CBD5E1"/>
                </a:solidFill>
              </a:rPr>
              <a:t>Visualización</a:t>
            </a:r>
            <a:endParaRPr lang="en-US" sz="1000" dirty="0"/>
          </a:p>
        </p:txBody>
      </p:sp>
      <p:sp>
        <p:nvSpPr>
          <p:cNvPr id="37" name="Text 35"/>
          <p:cNvSpPr/>
          <p:nvPr/>
        </p:nvSpPr>
        <p:spPr>
          <a:xfrm>
            <a:off x="3200400" y="4416552"/>
            <a:ext cx="2926080" cy="530352"/>
          </a:xfrm>
          <a:prstGeom prst="rect">
            <a:avLst/>
          </a:prstGeom>
          <a:noFill/>
          <a:ln/>
        </p:spPr>
        <p:txBody>
          <a:bodyPr wrap="square" lIns="0" tIns="0" rIns="0" bIns="0" rtlCol="0" anchor="ctr"/>
          <a:lstStyle/>
          <a:p>
            <a:pPr indent="0" marL="0">
              <a:buNone/>
            </a:pPr>
            <a:r>
              <a:rPr lang="en-US" sz="1050" b="1" dirty="0">
                <a:solidFill>
                  <a:srgbClr val="14B8A6"/>
                </a:solidFill>
              </a:rPr>
              <a:t>Matplotlib, Seaborn</a:t>
            </a:r>
            <a:endParaRPr lang="en-US" sz="1050" dirty="0"/>
          </a:p>
        </p:txBody>
      </p:sp>
      <p:sp>
        <p:nvSpPr>
          <p:cNvPr id="38" name="Text 36"/>
          <p:cNvSpPr/>
          <p:nvPr/>
        </p:nvSpPr>
        <p:spPr>
          <a:xfrm>
            <a:off x="6263640" y="4416552"/>
            <a:ext cx="2377440" cy="530352"/>
          </a:xfrm>
          <a:prstGeom prst="rect">
            <a:avLst/>
          </a:prstGeom>
          <a:noFill/>
          <a:ln/>
        </p:spPr>
        <p:txBody>
          <a:bodyPr wrap="square" lIns="0" tIns="0" rIns="0" bIns="0" rtlCol="0" anchor="ctr"/>
          <a:lstStyle/>
          <a:p>
            <a:pPr indent="0" marL="0">
              <a:buNone/>
            </a:pPr>
            <a:r>
              <a:rPr lang="en-US" sz="950" dirty="0">
                <a:solidFill>
                  <a:srgbClr val="CBD5E1"/>
                </a:solidFill>
              </a:rPr>
              <a:t>Histogramas, boxplots y matrices de confusión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256032"/>
            <a:ext cx="2386584" cy="237744"/>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2386584" cy="237744"/>
          </a:xfrm>
          <a:prstGeom prst="rect">
            <a:avLst/>
          </a:prstGeom>
          <a:noFill/>
          <a:ln/>
        </p:spPr>
        <p:txBody>
          <a:bodyPr wrap="square" lIns="0" tIns="0" rIns="0" bIns="0" rtlCol="0" anchor="ctr"/>
          <a:lstStyle/>
          <a:p>
            <a:pPr algn="ctr" indent="0" marL="0">
              <a:buNone/>
            </a:pPr>
            <a:r>
              <a:rPr lang="en-US" sz="800" b="1" dirty="0">
                <a:solidFill>
                  <a:srgbClr val="FFFFFF"/>
                </a:solidFill>
              </a:rPr>
              <a:t>ETIQUETADO DEL CORPUS</a:t>
            </a:r>
            <a:endParaRPr lang="en-US" sz="800" dirty="0"/>
          </a:p>
        </p:txBody>
      </p:sp>
      <p:sp>
        <p:nvSpPr>
          <p:cNvPr id="4" name="Text 2"/>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¿Cómo definimos una «Falla Sistémica Grave»?</a:t>
            </a:r>
            <a:endParaRPr lang="en-US" sz="2600" dirty="0"/>
          </a:p>
        </p:txBody>
      </p:sp>
      <p:sp>
        <p:nvSpPr>
          <p:cNvPr id="5" name="Text 3"/>
          <p:cNvSpPr/>
          <p:nvPr/>
        </p:nvSpPr>
        <p:spPr>
          <a:xfrm>
            <a:off x="457200" y="1188720"/>
            <a:ext cx="8229600" cy="256032"/>
          </a:xfrm>
          <a:prstGeom prst="rect">
            <a:avLst/>
          </a:prstGeom>
          <a:noFill/>
          <a:ln/>
        </p:spPr>
        <p:txBody>
          <a:bodyPr wrap="square" lIns="0" tIns="0" rIns="0" bIns="0" rtlCol="0" anchor="ctr"/>
          <a:lstStyle/>
          <a:p>
            <a:pPr indent="0" marL="0">
              <a:buNone/>
            </a:pPr>
            <a:r>
              <a:rPr lang="en-US" sz="1100" b="1" dirty="0">
                <a:solidFill>
                  <a:srgbClr val="FFFFFF"/>
                </a:solidFill>
              </a:rPr>
              <a:t>Distribución del Corpus — 18,915 comentarios:</a:t>
            </a:r>
            <a:endParaRPr lang="en-US" sz="1100" dirty="0"/>
          </a:p>
        </p:txBody>
      </p:sp>
      <p:sp>
        <p:nvSpPr>
          <p:cNvPr id="6" name="Shape 4"/>
          <p:cNvSpPr/>
          <p:nvPr/>
        </p:nvSpPr>
        <p:spPr>
          <a:xfrm>
            <a:off x="365760" y="1554480"/>
            <a:ext cx="4206240" cy="2834640"/>
          </a:xfrm>
          <a:prstGeom prst="rect">
            <a:avLst>
              <a:gd name="adj" fmla="val 1613"/>
            </a:avLst>
          </a:prstGeom>
          <a:solidFill>
            <a:srgbClr val="0D2535"/>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7" name="Shape 5"/>
          <p:cNvSpPr/>
          <p:nvPr/>
        </p:nvSpPr>
        <p:spPr>
          <a:xfrm>
            <a:off x="365760" y="1554480"/>
            <a:ext cx="4206240" cy="347472"/>
          </a:xfrm>
          <a:prstGeom prst="rect">
            <a:avLst/>
          </a:prstGeom>
          <a:solidFill>
            <a:srgbClr val="F43F5E"/>
          </a:solidFill>
          <a:ln w="12700">
            <a:solidFill>
              <a:srgbClr val="F43F5E"/>
            </a:solidFill>
            <a:prstDash val="solid"/>
          </a:ln>
        </p:spPr>
      </p:sp>
      <p:sp>
        <p:nvSpPr>
          <p:cNvPr id="8" name="Text 6"/>
          <p:cNvSpPr/>
          <p:nvPr/>
        </p:nvSpPr>
        <p:spPr>
          <a:xfrm>
            <a:off x="502920" y="1554480"/>
            <a:ext cx="2926080" cy="347472"/>
          </a:xfrm>
          <a:prstGeom prst="rect">
            <a:avLst/>
          </a:prstGeom>
          <a:noFill/>
          <a:ln/>
        </p:spPr>
        <p:txBody>
          <a:bodyPr wrap="square" lIns="0" tIns="0" rIns="0" bIns="0" rtlCol="0" anchor="ctr"/>
          <a:lstStyle/>
          <a:p>
            <a:pPr indent="0" marL="0">
              <a:buNone/>
            </a:pPr>
            <a:r>
              <a:rPr lang="en-US" sz="1100" b="1" dirty="0">
                <a:solidFill>
                  <a:srgbClr val="FFFFFF"/>
                </a:solidFill>
              </a:rPr>
              <a:t>Clase 1 — Queja Grave</a:t>
            </a:r>
            <a:endParaRPr lang="en-US" sz="1100" dirty="0"/>
          </a:p>
        </p:txBody>
      </p:sp>
      <p:sp>
        <p:nvSpPr>
          <p:cNvPr id="9" name="Text 7"/>
          <p:cNvSpPr/>
          <p:nvPr/>
        </p:nvSpPr>
        <p:spPr>
          <a:xfrm>
            <a:off x="3383280" y="1572768"/>
            <a:ext cx="1005840" cy="310896"/>
          </a:xfrm>
          <a:prstGeom prst="rect">
            <a:avLst/>
          </a:prstGeom>
          <a:noFill/>
          <a:ln/>
        </p:spPr>
        <p:txBody>
          <a:bodyPr wrap="square" lIns="0" tIns="0" rIns="0" bIns="0" rtlCol="0" anchor="ctr"/>
          <a:lstStyle/>
          <a:p>
            <a:pPr algn="ctr" indent="0" marL="0">
              <a:buNone/>
            </a:pPr>
            <a:r>
              <a:rPr lang="en-US" sz="2000" b="1" dirty="0">
                <a:solidFill>
                  <a:srgbClr val="FFFFFF"/>
                </a:solidFill>
              </a:rPr>
              <a:t>24.6%</a:t>
            </a:r>
            <a:endParaRPr lang="en-US" sz="2000" dirty="0"/>
          </a:p>
        </p:txBody>
      </p:sp>
      <p:sp>
        <p:nvSpPr>
          <p:cNvPr id="10" name="Text 8"/>
          <p:cNvSpPr/>
          <p:nvPr/>
        </p:nvSpPr>
        <p:spPr>
          <a:xfrm>
            <a:off x="502920" y="2011680"/>
            <a:ext cx="3840480" cy="274320"/>
          </a:xfrm>
          <a:prstGeom prst="rect">
            <a:avLst/>
          </a:prstGeom>
          <a:noFill/>
          <a:ln/>
        </p:spPr>
        <p:txBody>
          <a:bodyPr wrap="square" lIns="0" tIns="0" rIns="0" bIns="0" rtlCol="0" anchor="ctr"/>
          <a:lstStyle/>
          <a:p>
            <a:pPr indent="0" marL="0">
              <a:buNone/>
            </a:pPr>
            <a:r>
              <a:rPr lang="en-US" sz="1200" b="1" dirty="0">
                <a:solidFill>
                  <a:srgbClr val="F43F5E"/>
                </a:solidFill>
              </a:rPr>
              <a:t>4,660 comentarios</a:t>
            </a:r>
            <a:endParaRPr lang="en-US" sz="1200" dirty="0"/>
          </a:p>
        </p:txBody>
      </p:sp>
      <p:sp>
        <p:nvSpPr>
          <p:cNvPr id="11" name="Text 9"/>
          <p:cNvSpPr/>
          <p:nvPr/>
        </p:nvSpPr>
        <p:spPr>
          <a:xfrm>
            <a:off x="502920" y="2331720"/>
            <a:ext cx="3840480" cy="685800"/>
          </a:xfrm>
          <a:prstGeom prst="rect">
            <a:avLst/>
          </a:prstGeom>
          <a:noFill/>
          <a:ln/>
        </p:spPr>
        <p:txBody>
          <a:bodyPr wrap="square" lIns="0" tIns="0" rIns="0" bIns="0" rtlCol="0" anchor="ctr"/>
          <a:lstStyle/>
          <a:p>
            <a:pPr indent="0" marL="0">
              <a:buNone/>
            </a:pPr>
            <a:r>
              <a:rPr lang="en-US" sz="1050" dirty="0">
                <a:solidFill>
                  <a:srgbClr val="CBD5E1"/>
                </a:solidFill>
              </a:rPr>
              <a:t>Mención explícita de muerte, corrupción, negligencia, desabasto total, espera &gt;6h o consecuencias clínicas graves.</a:t>
            </a:r>
            <a:endParaRPr lang="en-US" sz="1050" dirty="0"/>
          </a:p>
        </p:txBody>
      </p:sp>
      <p:sp>
        <p:nvSpPr>
          <p:cNvPr id="12" name="Shape 10"/>
          <p:cNvSpPr/>
          <p:nvPr/>
        </p:nvSpPr>
        <p:spPr>
          <a:xfrm>
            <a:off x="502920" y="3090672"/>
            <a:ext cx="3840480" cy="22860"/>
          </a:xfrm>
          <a:prstGeom prst="rect">
            <a:avLst/>
          </a:prstGeom>
          <a:solidFill>
            <a:srgbClr val="F43F5E">
              <a:alpha val="40000"/>
            </a:srgbClr>
          </a:solidFill>
          <a:ln w="12700">
            <a:solidFill>
              <a:srgbClr val="F43F5E"/>
            </a:solidFill>
            <a:prstDash val="solid"/>
          </a:ln>
        </p:spPr>
      </p:sp>
      <p:sp>
        <p:nvSpPr>
          <p:cNvPr id="13" name="Text 11"/>
          <p:cNvSpPr/>
          <p:nvPr/>
        </p:nvSpPr>
        <p:spPr>
          <a:xfrm>
            <a:off x="502920" y="3154680"/>
            <a:ext cx="3840480" cy="914400"/>
          </a:xfrm>
          <a:prstGeom prst="rect">
            <a:avLst/>
          </a:prstGeom>
          <a:noFill/>
          <a:ln/>
        </p:spPr>
        <p:txBody>
          <a:bodyPr wrap="square" lIns="0" tIns="0" rIns="0" bIns="0" rtlCol="0" anchor="ctr"/>
          <a:lstStyle/>
          <a:p>
            <a:pPr indent="0" marL="0">
              <a:buNone/>
            </a:pPr>
            <a:r>
              <a:rPr lang="en-US" sz="1000" i="1" dirty="0">
                <a:solidFill>
                  <a:srgbClr val="CBD5E1"/>
                </a:solidFill>
              </a:rPr>
              <a:t>«Mi tío falleció porque en el IMSS no tenían el antiviral y lo rebotaron entre tres hospitales.»</a:t>
            </a:r>
            <a:endParaRPr lang="en-US" sz="1000" dirty="0"/>
          </a:p>
        </p:txBody>
      </p:sp>
      <p:sp>
        <p:nvSpPr>
          <p:cNvPr id="14" name="Shape 12"/>
          <p:cNvSpPr/>
          <p:nvPr/>
        </p:nvSpPr>
        <p:spPr>
          <a:xfrm>
            <a:off x="4754880" y="1554480"/>
            <a:ext cx="4023360" cy="2834640"/>
          </a:xfrm>
          <a:prstGeom prst="rect">
            <a:avLst>
              <a:gd name="adj" fmla="val 1613"/>
            </a:avLst>
          </a:prstGeom>
          <a:solidFill>
            <a:srgbClr val="0D2535"/>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5" name="Shape 13"/>
          <p:cNvSpPr/>
          <p:nvPr/>
        </p:nvSpPr>
        <p:spPr>
          <a:xfrm>
            <a:off x="4754880" y="1554480"/>
            <a:ext cx="4023360" cy="347472"/>
          </a:xfrm>
          <a:prstGeom prst="rect">
            <a:avLst/>
          </a:prstGeom>
          <a:solidFill>
            <a:srgbClr val="0D9488"/>
          </a:solidFill>
          <a:ln w="12700">
            <a:solidFill>
              <a:srgbClr val="0D9488"/>
            </a:solidFill>
            <a:prstDash val="solid"/>
          </a:ln>
        </p:spPr>
      </p:sp>
      <p:sp>
        <p:nvSpPr>
          <p:cNvPr id="16" name="Text 14"/>
          <p:cNvSpPr/>
          <p:nvPr/>
        </p:nvSpPr>
        <p:spPr>
          <a:xfrm>
            <a:off x="4892040" y="1554480"/>
            <a:ext cx="2743200" cy="347472"/>
          </a:xfrm>
          <a:prstGeom prst="rect">
            <a:avLst/>
          </a:prstGeom>
          <a:noFill/>
          <a:ln/>
        </p:spPr>
        <p:txBody>
          <a:bodyPr wrap="square" lIns="0" tIns="0" rIns="0" bIns="0" rtlCol="0" anchor="ctr"/>
          <a:lstStyle/>
          <a:p>
            <a:pPr indent="0" marL="0">
              <a:buNone/>
            </a:pPr>
            <a:r>
              <a:rPr lang="en-US" sz="1100" b="1" dirty="0">
                <a:solidFill>
                  <a:srgbClr val="FFFFFF"/>
                </a:solidFill>
              </a:rPr>
              <a:t>Clase 0 — Informativa / Leve</a:t>
            </a:r>
            <a:endParaRPr lang="en-US" sz="1100" dirty="0"/>
          </a:p>
        </p:txBody>
      </p:sp>
      <p:sp>
        <p:nvSpPr>
          <p:cNvPr id="17" name="Text 15"/>
          <p:cNvSpPr/>
          <p:nvPr/>
        </p:nvSpPr>
        <p:spPr>
          <a:xfrm>
            <a:off x="7223760" y="1572768"/>
            <a:ext cx="1005840" cy="310896"/>
          </a:xfrm>
          <a:prstGeom prst="rect">
            <a:avLst/>
          </a:prstGeom>
          <a:noFill/>
          <a:ln/>
        </p:spPr>
        <p:txBody>
          <a:bodyPr wrap="square" lIns="0" tIns="0" rIns="0" bIns="0" rtlCol="0" anchor="ctr"/>
          <a:lstStyle/>
          <a:p>
            <a:pPr algn="ctr" indent="0" marL="0">
              <a:buNone/>
            </a:pPr>
            <a:r>
              <a:rPr lang="en-US" sz="2000" b="1" dirty="0">
                <a:solidFill>
                  <a:srgbClr val="FFFFFF"/>
                </a:solidFill>
              </a:rPr>
              <a:t>75.4%</a:t>
            </a:r>
            <a:endParaRPr lang="en-US" sz="2000" dirty="0"/>
          </a:p>
        </p:txBody>
      </p:sp>
      <p:sp>
        <p:nvSpPr>
          <p:cNvPr id="18" name="Text 16"/>
          <p:cNvSpPr/>
          <p:nvPr/>
        </p:nvSpPr>
        <p:spPr>
          <a:xfrm>
            <a:off x="4892040" y="2011680"/>
            <a:ext cx="3657600" cy="274320"/>
          </a:xfrm>
          <a:prstGeom prst="rect">
            <a:avLst/>
          </a:prstGeom>
          <a:noFill/>
          <a:ln/>
        </p:spPr>
        <p:txBody>
          <a:bodyPr wrap="square" lIns="0" tIns="0" rIns="0" bIns="0" rtlCol="0" anchor="ctr"/>
          <a:lstStyle/>
          <a:p>
            <a:pPr indent="0" marL="0">
              <a:buNone/>
            </a:pPr>
            <a:r>
              <a:rPr lang="en-US" sz="1200" b="1" dirty="0">
                <a:solidFill>
                  <a:srgbClr val="14B8A6"/>
                </a:solidFill>
              </a:rPr>
              <a:t>14,255 comentarios</a:t>
            </a:r>
            <a:endParaRPr lang="en-US" sz="1200" dirty="0"/>
          </a:p>
        </p:txBody>
      </p:sp>
      <p:sp>
        <p:nvSpPr>
          <p:cNvPr id="19" name="Text 17"/>
          <p:cNvSpPr/>
          <p:nvPr/>
        </p:nvSpPr>
        <p:spPr>
          <a:xfrm>
            <a:off x="4892040" y="2331720"/>
            <a:ext cx="3657600" cy="685800"/>
          </a:xfrm>
          <a:prstGeom prst="rect">
            <a:avLst/>
          </a:prstGeom>
          <a:noFill/>
          <a:ln/>
        </p:spPr>
        <p:txBody>
          <a:bodyPr wrap="square" lIns="0" tIns="0" rIns="0" bIns="0" rtlCol="0" anchor="ctr"/>
          <a:lstStyle/>
          <a:p>
            <a:pPr indent="0" marL="0">
              <a:buNone/>
            </a:pPr>
            <a:r>
              <a:rPr lang="en-US" sz="1050" dirty="0">
                <a:solidFill>
                  <a:srgbClr val="CBD5E1"/>
                </a:solidFill>
              </a:rPr>
              <a:t>Comentarios informativos, quejas menores sin evidencia de falla crítica o interacciones neutras.</a:t>
            </a:r>
            <a:endParaRPr lang="en-US" sz="1050" dirty="0"/>
          </a:p>
        </p:txBody>
      </p:sp>
      <p:sp>
        <p:nvSpPr>
          <p:cNvPr id="20" name="Shape 18"/>
          <p:cNvSpPr/>
          <p:nvPr/>
        </p:nvSpPr>
        <p:spPr>
          <a:xfrm>
            <a:off x="4892040" y="3090672"/>
            <a:ext cx="3657600" cy="22860"/>
          </a:xfrm>
          <a:prstGeom prst="rect">
            <a:avLst/>
          </a:prstGeom>
          <a:solidFill>
            <a:srgbClr val="0D9488">
              <a:alpha val="40000"/>
            </a:srgbClr>
          </a:solidFill>
          <a:ln w="12700">
            <a:solidFill>
              <a:srgbClr val="0D9488"/>
            </a:solidFill>
            <a:prstDash val="solid"/>
          </a:ln>
        </p:spPr>
      </p:sp>
      <p:sp>
        <p:nvSpPr>
          <p:cNvPr id="21" name="Text 19"/>
          <p:cNvSpPr/>
          <p:nvPr/>
        </p:nvSpPr>
        <p:spPr>
          <a:xfrm>
            <a:off x="4892040" y="3154680"/>
            <a:ext cx="3657600" cy="914400"/>
          </a:xfrm>
          <a:prstGeom prst="rect">
            <a:avLst/>
          </a:prstGeom>
          <a:noFill/>
          <a:ln/>
        </p:spPr>
        <p:txBody>
          <a:bodyPr wrap="square" lIns="0" tIns="0" rIns="0" bIns="0" rtlCol="0" anchor="ctr"/>
          <a:lstStyle/>
          <a:p>
            <a:pPr indent="0" marL="0">
              <a:buNone/>
            </a:pPr>
            <a:r>
              <a:rPr lang="en-US" sz="1000" i="1" dirty="0">
                <a:solidFill>
                  <a:srgbClr val="CBD5E1"/>
                </a:solidFill>
              </a:rPr>
              <a:t>«¿Alguien sabe si la clínica 20 abre el sábado?» o «Me tardé 30 min en consulta, pero todo bien.»</a:t>
            </a:r>
            <a:endParaRPr lang="en-US" sz="1000" dirty="0"/>
          </a:p>
        </p:txBody>
      </p:sp>
      <p:sp>
        <p:nvSpPr>
          <p:cNvPr id="22" name="Shape 20"/>
          <p:cNvSpPr/>
          <p:nvPr/>
        </p:nvSpPr>
        <p:spPr>
          <a:xfrm>
            <a:off x="365760" y="4526280"/>
            <a:ext cx="8412480" cy="384048"/>
          </a:xfrm>
          <a:prstGeom prst="rect">
            <a:avLst/>
          </a:prstGeom>
          <a:solidFill>
            <a:srgbClr val="F59E0B">
              <a:alpha val="15000"/>
            </a:srgbClr>
          </a:solidFill>
          <a:ln w="12700">
            <a:solidFill>
              <a:srgbClr val="F59E0B"/>
            </a:solidFill>
            <a:prstDash val="solid"/>
          </a:ln>
        </p:spPr>
      </p:sp>
      <p:sp>
        <p:nvSpPr>
          <p:cNvPr id="23" name="Text 21"/>
          <p:cNvSpPr/>
          <p:nvPr/>
        </p:nvSpPr>
        <p:spPr>
          <a:xfrm>
            <a:off x="502920" y="4544568"/>
            <a:ext cx="8229600" cy="347472"/>
          </a:xfrm>
          <a:prstGeom prst="rect">
            <a:avLst/>
          </a:prstGeom>
          <a:noFill/>
          <a:ln/>
        </p:spPr>
        <p:txBody>
          <a:bodyPr wrap="square" lIns="0" tIns="0" rIns="0" bIns="0" rtlCol="0" anchor="ctr"/>
          <a:lstStyle/>
          <a:p>
            <a:pPr indent="0" marL="0">
              <a:buNone/>
            </a:pPr>
            <a:r>
              <a:rPr lang="en-US" sz="1000" dirty="0">
                <a:solidFill>
                  <a:srgbClr val="FFFFFF"/>
                </a:solidFill>
              </a:rPr>
              <a:t>⚠  Hallazgo estructural: Casi 1 de cada 4 comentarios voluntarios sobre el sistema de salud en Reddit constituye una queja grave.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71220"/>
          </a:solidFill>
          <a:ln w="12700">
            <a:solidFill>
              <a:srgbClr val="071220"/>
            </a:solidFill>
            <a:prstDash val="solid"/>
          </a:ln>
        </p:spPr>
      </p:sp>
      <p:sp>
        <p:nvSpPr>
          <p:cNvPr id="3" name="Shape 1"/>
          <p:cNvSpPr/>
          <p:nvPr/>
        </p:nvSpPr>
        <p:spPr>
          <a:xfrm>
            <a:off x="-914400" y="-914400"/>
            <a:ext cx="4572000" cy="4572000"/>
          </a:xfrm>
          <a:prstGeom prst="ellipse">
            <a:avLst/>
          </a:prstGeom>
          <a:solidFill>
            <a:srgbClr val="0D9488">
              <a:alpha val="10000"/>
            </a:srgbClr>
          </a:solidFill>
          <a:ln w="12700">
            <a:solidFill>
              <a:srgbClr val="0D9488"/>
            </a:solidFill>
            <a:prstDash val="solid"/>
          </a:ln>
        </p:spPr>
      </p:sp>
      <p:sp>
        <p:nvSpPr>
          <p:cNvPr id="4" name="Shape 2"/>
          <p:cNvSpPr/>
          <p:nvPr/>
        </p:nvSpPr>
        <p:spPr>
          <a:xfrm>
            <a:off x="5943600" y="1371600"/>
            <a:ext cx="3657600" cy="3657600"/>
          </a:xfrm>
          <a:prstGeom prst="ellipse">
            <a:avLst/>
          </a:prstGeom>
          <a:solidFill>
            <a:srgbClr val="F59E0B">
              <a:alpha val="8000"/>
            </a:srgbClr>
          </a:solidFill>
          <a:ln w="12700">
            <a:solidFill>
              <a:srgbClr val="F59E0B"/>
            </a:solidFill>
            <a:prstDash val="solid"/>
          </a:ln>
        </p:spPr>
      </p:sp>
      <p:sp>
        <p:nvSpPr>
          <p:cNvPr id="5" name="Text 3"/>
          <p:cNvSpPr/>
          <p:nvPr/>
        </p:nvSpPr>
        <p:spPr>
          <a:xfrm>
            <a:off x="457200" y="1097280"/>
            <a:ext cx="8229600" cy="457200"/>
          </a:xfrm>
          <a:prstGeom prst="rect">
            <a:avLst/>
          </a:prstGeom>
          <a:noFill/>
          <a:ln/>
        </p:spPr>
        <p:txBody>
          <a:bodyPr wrap="square" lIns="0" tIns="0" rIns="0" bIns="0" rtlCol="0" anchor="ctr"/>
          <a:lstStyle/>
          <a:p>
            <a:pPr algn="ctr" indent="0" marL="0">
              <a:buNone/>
            </a:pPr>
            <a:r>
              <a:rPr lang="en-US" sz="1300" b="1" spc="600" kern="0" dirty="0">
                <a:solidFill>
                  <a:srgbClr val="0D9488"/>
                </a:solidFill>
              </a:rPr>
              <a:t>VALIDACIÓN</a:t>
            </a:r>
            <a:endParaRPr lang="en-US" sz="1300" dirty="0"/>
          </a:p>
        </p:txBody>
      </p:sp>
      <p:sp>
        <p:nvSpPr>
          <p:cNvPr id="6" name="Text 4"/>
          <p:cNvSpPr/>
          <p:nvPr/>
        </p:nvSpPr>
        <p:spPr>
          <a:xfrm>
            <a:off x="457200" y="1645920"/>
            <a:ext cx="8229600" cy="182880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¿Qué tan bueno es</a:t>
            </a:r>
            <a:endParaRPr lang="en-US" sz="4000" dirty="0"/>
          </a:p>
          <a:p>
            <a:pPr algn="ctr" indent="0" marL="0">
              <a:buNone/>
            </a:pPr>
            <a:r>
              <a:rPr lang="en-US" sz="4000" b="1" dirty="0">
                <a:solidFill>
                  <a:srgbClr val="FFFFFF"/>
                </a:solidFill>
                <a:latin typeface="Calibri" pitchFamily="34" charset="0"/>
                <a:ea typeface="Calibri" pitchFamily="34" charset="-122"/>
                <a:cs typeface="Calibri" pitchFamily="34" charset="-120"/>
              </a:rPr>
              <a:t>nuestro modelo?</a:t>
            </a:r>
            <a:endParaRPr lang="en-US" sz="4000" dirty="0"/>
          </a:p>
        </p:txBody>
      </p:sp>
      <p:sp>
        <p:nvSpPr>
          <p:cNvPr id="7" name="Text 5"/>
          <p:cNvSpPr/>
          <p:nvPr/>
        </p:nvSpPr>
        <p:spPr>
          <a:xfrm>
            <a:off x="914400" y="3657600"/>
            <a:ext cx="7315200" cy="365760"/>
          </a:xfrm>
          <a:prstGeom prst="rect">
            <a:avLst/>
          </a:prstGeom>
          <a:noFill/>
          <a:ln/>
        </p:spPr>
        <p:txBody>
          <a:bodyPr wrap="square" lIns="0" tIns="0" rIns="0" bIns="0" rtlCol="0" anchor="ctr"/>
          <a:lstStyle/>
          <a:p>
            <a:pPr algn="ctr" indent="0" marL="0">
              <a:buNone/>
            </a:pPr>
            <a:r>
              <a:rPr lang="en-US" sz="1100" i="1" dirty="0">
                <a:solidFill>
                  <a:srgbClr val="64748B"/>
                </a:solidFill>
              </a:rPr>
              <a:t>Validación Estadística Rigurosa — Resultados del Modelo de Clasificación de Quejas en Salud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256032"/>
            <a:ext cx="2788920" cy="237744"/>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2788920" cy="237744"/>
          </a:xfrm>
          <a:prstGeom prst="rect">
            <a:avLst/>
          </a:prstGeom>
          <a:noFill/>
          <a:ln/>
        </p:spPr>
        <p:txBody>
          <a:bodyPr wrap="square" lIns="0" tIns="0" rIns="0" bIns="0" rtlCol="0" anchor="ctr"/>
          <a:lstStyle/>
          <a:p>
            <a:pPr algn="ctr" indent="0" marL="0">
              <a:buNone/>
            </a:pPr>
            <a:r>
              <a:rPr lang="en-US" sz="800" b="1" dirty="0">
                <a:solidFill>
                  <a:srgbClr val="FFFFFF"/>
                </a:solidFill>
              </a:rPr>
              <a:t>METODOLOGÍA DE VALIDACIÓN</a:t>
            </a:r>
            <a:endParaRPr lang="en-US" sz="800" dirty="0"/>
          </a:p>
        </p:txBody>
      </p:sp>
      <p:sp>
        <p:nvSpPr>
          <p:cNvPr id="4" name="Text 2"/>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Validación Cruzada Estratificada de 10 Pliegues</a:t>
            </a:r>
            <a:endParaRPr lang="en-US" sz="2600" dirty="0"/>
          </a:p>
        </p:txBody>
      </p:sp>
      <p:sp>
        <p:nvSpPr>
          <p:cNvPr id="5" name="Shape 3"/>
          <p:cNvSpPr/>
          <p:nvPr/>
        </p:nvSpPr>
        <p:spPr>
          <a:xfrm>
            <a:off x="365760" y="1234440"/>
            <a:ext cx="4572000" cy="3383280"/>
          </a:xfrm>
          <a:prstGeom prst="rect">
            <a:avLst>
              <a:gd name="adj" fmla="val 1351"/>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6" name="Shape 4"/>
          <p:cNvSpPr/>
          <p:nvPr/>
        </p:nvSpPr>
        <p:spPr>
          <a:xfrm>
            <a:off x="365760" y="1234440"/>
            <a:ext cx="54864" cy="3383280"/>
          </a:xfrm>
          <a:prstGeom prst="rect">
            <a:avLst/>
          </a:prstGeom>
          <a:solidFill>
            <a:srgbClr val="0D9488"/>
          </a:solidFill>
          <a:ln w="12700">
            <a:solidFill>
              <a:srgbClr val="0D9488"/>
            </a:solidFill>
            <a:prstDash val="solid"/>
          </a:ln>
        </p:spPr>
      </p:sp>
      <p:sp>
        <p:nvSpPr>
          <p:cNvPr id="7" name="Text 5"/>
          <p:cNvSpPr/>
          <p:nvPr/>
        </p:nvSpPr>
        <p:spPr>
          <a:xfrm>
            <a:off x="566928" y="1325880"/>
            <a:ext cx="4206240" cy="320040"/>
          </a:xfrm>
          <a:prstGeom prst="rect">
            <a:avLst/>
          </a:prstGeom>
          <a:noFill/>
          <a:ln/>
        </p:spPr>
        <p:txBody>
          <a:bodyPr wrap="square" lIns="0" tIns="0" rIns="0" bIns="0" rtlCol="0" anchor="ctr"/>
          <a:lstStyle/>
          <a:p>
            <a:pPr indent="0" marL="0">
              <a:buNone/>
            </a:pPr>
            <a:r>
              <a:rPr lang="en-US" sz="1200" b="1" dirty="0">
                <a:solidFill>
                  <a:srgbClr val="0D9488"/>
                </a:solidFill>
              </a:rPr>
              <a:t>¿Qué es la 10-Fold Cross-Validation?</a:t>
            </a:r>
            <a:endParaRPr lang="en-US" sz="1200" dirty="0"/>
          </a:p>
        </p:txBody>
      </p:sp>
      <p:sp>
        <p:nvSpPr>
          <p:cNvPr id="8" name="Text 6"/>
          <p:cNvSpPr/>
          <p:nvPr/>
        </p:nvSpPr>
        <p:spPr>
          <a:xfrm>
            <a:off x="566928" y="1719072"/>
            <a:ext cx="4251960" cy="2743200"/>
          </a:xfrm>
          <a:prstGeom prst="rect">
            <a:avLst/>
          </a:prstGeom>
          <a:noFill/>
          <a:ln/>
        </p:spPr>
        <p:txBody>
          <a:bodyPr wrap="square" lIns="0" tIns="0" rIns="0" bIns="0" rtlCol="0" anchor="ctr"/>
          <a:lstStyle/>
          <a:p>
            <a:pPr indent="0" marL="0">
              <a:buNone/>
            </a:pPr>
            <a:r>
              <a:rPr lang="en-US" sz="1050" dirty="0">
                <a:solidFill>
                  <a:srgbClr val="CBD5E1"/>
                </a:solidFill>
              </a:rPr>
              <a:t>El corpus completo se divide en 10 partes iguales. El modelo se entrena con 9 partes y se evalúa con la parte restante, rotando este proceso 10 veces de forma sistemática.</a:t>
            </a:r>
            <a:endParaRPr lang="en-US" sz="1050" dirty="0"/>
          </a:p>
          <a:p>
            <a:pPr indent="0" marL="0">
              <a:buNone/>
            </a:pPr>
            <a:endParaRPr lang="en-US" sz="1050" dirty="0"/>
          </a:p>
          <a:p>
            <a:pPr indent="0" marL="0">
              <a:buNone/>
            </a:pPr>
            <a:r>
              <a:rPr lang="en-US" sz="1050" dirty="0">
                <a:solidFill>
                  <a:srgbClr val="CBD5E1"/>
                </a:solidFill>
              </a:rPr>
              <a:t>De este modo, cada observación actúa exactamente una vez como dato de prueba, eliminando el sesgo de selección y garantizando resultados generalizables y no producto del azar.</a:t>
            </a:r>
            <a:endParaRPr lang="en-US" sz="1050" dirty="0"/>
          </a:p>
          <a:p>
            <a:pPr indent="0" marL="0">
              <a:buNone/>
            </a:pPr>
            <a:endParaRPr lang="en-US" sz="1050" dirty="0"/>
          </a:p>
          <a:p>
            <a:pPr indent="0" marL="0">
              <a:buNone/>
            </a:pPr>
            <a:r>
              <a:rPr lang="en-US" sz="1050" dirty="0">
                <a:solidFill>
                  <a:srgbClr val="CBD5E1"/>
                </a:solidFill>
              </a:rPr>
              <a:t>Este estándar es ampliamente reconocido en la literatura de aprendizaje automático como uno de los procedimientos de validación más robustos.</a:t>
            </a:r>
            <a:endParaRPr lang="en-US" sz="1050" dirty="0"/>
          </a:p>
        </p:txBody>
      </p:sp>
      <p:sp>
        <p:nvSpPr>
          <p:cNvPr id="9" name="Shape 7"/>
          <p:cNvSpPr/>
          <p:nvPr/>
        </p:nvSpPr>
        <p:spPr>
          <a:xfrm>
            <a:off x="5212080" y="1344168"/>
            <a:ext cx="548640" cy="548640"/>
          </a:xfrm>
          <a:prstGeom prst="ellipse">
            <a:avLst/>
          </a:prstGeom>
          <a:solidFill>
            <a:srgbClr val="0D9488"/>
          </a:solidFill>
          <a:ln w="12700">
            <a:solidFill>
              <a:srgbClr val="0D9488"/>
            </a:solidFill>
            <a:prstDash val="solid"/>
          </a:ln>
        </p:spPr>
      </p:sp>
      <p:sp>
        <p:nvSpPr>
          <p:cNvPr id="10" name="Text 8"/>
          <p:cNvSpPr/>
          <p:nvPr/>
        </p:nvSpPr>
        <p:spPr>
          <a:xfrm>
            <a:off x="5212080" y="134416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1" name="Shape 9"/>
          <p:cNvSpPr/>
          <p:nvPr/>
        </p:nvSpPr>
        <p:spPr>
          <a:xfrm>
            <a:off x="5943600" y="1280160"/>
            <a:ext cx="2834640" cy="685800"/>
          </a:xfrm>
          <a:prstGeom prst="rect">
            <a:avLst>
              <a:gd name="adj" fmla="val 6667"/>
            </a:avLst>
          </a:prstGeom>
          <a:solidFill>
            <a:srgbClr val="162032"/>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2" name="Shape 10"/>
          <p:cNvSpPr/>
          <p:nvPr/>
        </p:nvSpPr>
        <p:spPr>
          <a:xfrm>
            <a:off x="5943600" y="1280160"/>
            <a:ext cx="54864" cy="685800"/>
          </a:xfrm>
          <a:prstGeom prst="rect">
            <a:avLst/>
          </a:prstGeom>
          <a:solidFill>
            <a:srgbClr val="0D9488"/>
          </a:solidFill>
          <a:ln w="12700">
            <a:solidFill>
              <a:srgbClr val="0D9488"/>
            </a:solidFill>
            <a:prstDash val="solid"/>
          </a:ln>
        </p:spPr>
      </p:sp>
      <p:sp>
        <p:nvSpPr>
          <p:cNvPr id="13" name="Text 11"/>
          <p:cNvSpPr/>
          <p:nvPr/>
        </p:nvSpPr>
        <p:spPr>
          <a:xfrm>
            <a:off x="6144768" y="1307592"/>
            <a:ext cx="2468880" cy="274320"/>
          </a:xfrm>
          <a:prstGeom prst="rect">
            <a:avLst/>
          </a:prstGeom>
          <a:noFill/>
          <a:ln/>
        </p:spPr>
        <p:txBody>
          <a:bodyPr wrap="square" lIns="0" tIns="0" rIns="0" bIns="0" rtlCol="0" anchor="ctr"/>
          <a:lstStyle/>
          <a:p>
            <a:pPr indent="0" marL="0">
              <a:buNone/>
            </a:pPr>
            <a:r>
              <a:rPr lang="en-US" sz="1100" b="1" dirty="0">
                <a:solidFill>
                  <a:srgbClr val="0D9488"/>
                </a:solidFill>
              </a:rPr>
              <a:t>Dividir corpus</a:t>
            </a:r>
            <a:endParaRPr lang="en-US" sz="1100" dirty="0"/>
          </a:p>
        </p:txBody>
      </p:sp>
      <p:sp>
        <p:nvSpPr>
          <p:cNvPr id="14" name="Text 12"/>
          <p:cNvSpPr/>
          <p:nvPr/>
        </p:nvSpPr>
        <p:spPr>
          <a:xfrm>
            <a:off x="6144768" y="1581912"/>
            <a:ext cx="2468880" cy="274320"/>
          </a:xfrm>
          <a:prstGeom prst="rect">
            <a:avLst/>
          </a:prstGeom>
          <a:noFill/>
          <a:ln/>
        </p:spPr>
        <p:txBody>
          <a:bodyPr wrap="square" lIns="0" tIns="0" rIns="0" bIns="0" rtlCol="0" anchor="ctr"/>
          <a:lstStyle/>
          <a:p>
            <a:pPr indent="0" marL="0">
              <a:buNone/>
            </a:pPr>
            <a:r>
              <a:rPr lang="en-US" sz="950" dirty="0">
                <a:solidFill>
                  <a:srgbClr val="CBD5E1"/>
                </a:solidFill>
              </a:rPr>
              <a:t>En 10 partes iguales y estratificadas</a:t>
            </a:r>
            <a:endParaRPr lang="en-US" sz="950" dirty="0"/>
          </a:p>
        </p:txBody>
      </p:sp>
      <p:sp>
        <p:nvSpPr>
          <p:cNvPr id="15" name="Shape 13"/>
          <p:cNvSpPr/>
          <p:nvPr/>
        </p:nvSpPr>
        <p:spPr>
          <a:xfrm>
            <a:off x="5468112" y="1892808"/>
            <a:ext cx="0" cy="146304"/>
          </a:xfrm>
          <a:prstGeom prst="line">
            <a:avLst/>
          </a:prstGeom>
          <a:noFill/>
          <a:ln w="19050">
            <a:solidFill>
              <a:srgbClr val="64748B"/>
            </a:solidFill>
            <a:prstDash val="dash"/>
          </a:ln>
        </p:spPr>
      </p:sp>
      <p:sp>
        <p:nvSpPr>
          <p:cNvPr id="16" name="Shape 14"/>
          <p:cNvSpPr/>
          <p:nvPr/>
        </p:nvSpPr>
        <p:spPr>
          <a:xfrm>
            <a:off x="5212080" y="2148840"/>
            <a:ext cx="548640" cy="548640"/>
          </a:xfrm>
          <a:prstGeom prst="ellipse">
            <a:avLst/>
          </a:prstGeom>
          <a:solidFill>
            <a:srgbClr val="F59E0B"/>
          </a:solidFill>
          <a:ln w="12700">
            <a:solidFill>
              <a:srgbClr val="F59E0B"/>
            </a:solidFill>
            <a:prstDash val="solid"/>
          </a:ln>
        </p:spPr>
      </p:sp>
      <p:sp>
        <p:nvSpPr>
          <p:cNvPr id="17" name="Text 15"/>
          <p:cNvSpPr/>
          <p:nvPr/>
        </p:nvSpPr>
        <p:spPr>
          <a:xfrm>
            <a:off x="5212080" y="214884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8" name="Shape 16"/>
          <p:cNvSpPr/>
          <p:nvPr/>
        </p:nvSpPr>
        <p:spPr>
          <a:xfrm>
            <a:off x="5943600" y="2084832"/>
            <a:ext cx="2834640" cy="685800"/>
          </a:xfrm>
          <a:prstGeom prst="rect">
            <a:avLst>
              <a:gd name="adj" fmla="val 6667"/>
            </a:avLst>
          </a:prstGeom>
          <a:solidFill>
            <a:srgbClr val="162032"/>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9" name="Shape 17"/>
          <p:cNvSpPr/>
          <p:nvPr/>
        </p:nvSpPr>
        <p:spPr>
          <a:xfrm>
            <a:off x="5943600" y="2084832"/>
            <a:ext cx="54864" cy="685800"/>
          </a:xfrm>
          <a:prstGeom prst="rect">
            <a:avLst/>
          </a:prstGeom>
          <a:solidFill>
            <a:srgbClr val="F59E0B"/>
          </a:solidFill>
          <a:ln w="12700">
            <a:solidFill>
              <a:srgbClr val="F59E0B"/>
            </a:solidFill>
            <a:prstDash val="solid"/>
          </a:ln>
        </p:spPr>
      </p:sp>
      <p:sp>
        <p:nvSpPr>
          <p:cNvPr id="20" name="Text 18"/>
          <p:cNvSpPr/>
          <p:nvPr/>
        </p:nvSpPr>
        <p:spPr>
          <a:xfrm>
            <a:off x="6144768" y="2112264"/>
            <a:ext cx="2468880" cy="274320"/>
          </a:xfrm>
          <a:prstGeom prst="rect">
            <a:avLst/>
          </a:prstGeom>
          <a:noFill/>
          <a:ln/>
        </p:spPr>
        <p:txBody>
          <a:bodyPr wrap="square" lIns="0" tIns="0" rIns="0" bIns="0" rtlCol="0" anchor="ctr"/>
          <a:lstStyle/>
          <a:p>
            <a:pPr indent="0" marL="0">
              <a:buNone/>
            </a:pPr>
            <a:r>
              <a:rPr lang="en-US" sz="1100" b="1" dirty="0">
                <a:solidFill>
                  <a:srgbClr val="F59E0B"/>
                </a:solidFill>
              </a:rPr>
              <a:t>Entrenar 9/10</a:t>
            </a:r>
            <a:endParaRPr lang="en-US" sz="1100" dirty="0"/>
          </a:p>
        </p:txBody>
      </p:sp>
      <p:sp>
        <p:nvSpPr>
          <p:cNvPr id="21" name="Text 19"/>
          <p:cNvSpPr/>
          <p:nvPr/>
        </p:nvSpPr>
        <p:spPr>
          <a:xfrm>
            <a:off x="6144768" y="2386584"/>
            <a:ext cx="2468880" cy="274320"/>
          </a:xfrm>
          <a:prstGeom prst="rect">
            <a:avLst/>
          </a:prstGeom>
          <a:noFill/>
          <a:ln/>
        </p:spPr>
        <p:txBody>
          <a:bodyPr wrap="square" lIns="0" tIns="0" rIns="0" bIns="0" rtlCol="0" anchor="ctr"/>
          <a:lstStyle/>
          <a:p>
            <a:pPr indent="0" marL="0">
              <a:buNone/>
            </a:pPr>
            <a:r>
              <a:rPr lang="en-US" sz="950" dirty="0">
                <a:solidFill>
                  <a:srgbClr val="CBD5E1"/>
                </a:solidFill>
              </a:rPr>
              <a:t>El modelo aprende con 9 pliegues</a:t>
            </a:r>
            <a:endParaRPr lang="en-US" sz="950" dirty="0"/>
          </a:p>
        </p:txBody>
      </p:sp>
      <p:sp>
        <p:nvSpPr>
          <p:cNvPr id="22" name="Shape 20"/>
          <p:cNvSpPr/>
          <p:nvPr/>
        </p:nvSpPr>
        <p:spPr>
          <a:xfrm>
            <a:off x="5468112" y="2697480"/>
            <a:ext cx="0" cy="146304"/>
          </a:xfrm>
          <a:prstGeom prst="line">
            <a:avLst/>
          </a:prstGeom>
          <a:noFill/>
          <a:ln w="19050">
            <a:solidFill>
              <a:srgbClr val="64748B"/>
            </a:solidFill>
            <a:prstDash val="dash"/>
          </a:ln>
        </p:spPr>
      </p:sp>
      <p:sp>
        <p:nvSpPr>
          <p:cNvPr id="23" name="Shape 21"/>
          <p:cNvSpPr/>
          <p:nvPr/>
        </p:nvSpPr>
        <p:spPr>
          <a:xfrm>
            <a:off x="5212080" y="2953512"/>
            <a:ext cx="548640" cy="548640"/>
          </a:xfrm>
          <a:prstGeom prst="ellipse">
            <a:avLst/>
          </a:prstGeom>
          <a:solidFill>
            <a:srgbClr val="7C3AED"/>
          </a:solidFill>
          <a:ln w="12700">
            <a:solidFill>
              <a:srgbClr val="7C3AED"/>
            </a:solidFill>
            <a:prstDash val="solid"/>
          </a:ln>
        </p:spPr>
      </p:sp>
      <p:sp>
        <p:nvSpPr>
          <p:cNvPr id="24" name="Text 22"/>
          <p:cNvSpPr/>
          <p:nvPr/>
        </p:nvSpPr>
        <p:spPr>
          <a:xfrm>
            <a:off x="5212080" y="295351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5" name="Shape 23"/>
          <p:cNvSpPr/>
          <p:nvPr/>
        </p:nvSpPr>
        <p:spPr>
          <a:xfrm>
            <a:off x="5943600" y="2889504"/>
            <a:ext cx="2834640" cy="685800"/>
          </a:xfrm>
          <a:prstGeom prst="rect">
            <a:avLst>
              <a:gd name="adj" fmla="val 6667"/>
            </a:avLst>
          </a:prstGeom>
          <a:solidFill>
            <a:srgbClr val="162032"/>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26" name="Shape 24"/>
          <p:cNvSpPr/>
          <p:nvPr/>
        </p:nvSpPr>
        <p:spPr>
          <a:xfrm>
            <a:off x="5943600" y="2889504"/>
            <a:ext cx="54864" cy="685800"/>
          </a:xfrm>
          <a:prstGeom prst="rect">
            <a:avLst/>
          </a:prstGeom>
          <a:solidFill>
            <a:srgbClr val="7C3AED"/>
          </a:solidFill>
          <a:ln w="12700">
            <a:solidFill>
              <a:srgbClr val="7C3AED"/>
            </a:solidFill>
            <a:prstDash val="solid"/>
          </a:ln>
        </p:spPr>
      </p:sp>
      <p:sp>
        <p:nvSpPr>
          <p:cNvPr id="27" name="Text 25"/>
          <p:cNvSpPr/>
          <p:nvPr/>
        </p:nvSpPr>
        <p:spPr>
          <a:xfrm>
            <a:off x="6144768" y="2916936"/>
            <a:ext cx="2468880" cy="274320"/>
          </a:xfrm>
          <a:prstGeom prst="rect">
            <a:avLst/>
          </a:prstGeom>
          <a:noFill/>
          <a:ln/>
        </p:spPr>
        <p:txBody>
          <a:bodyPr wrap="square" lIns="0" tIns="0" rIns="0" bIns="0" rtlCol="0" anchor="ctr"/>
          <a:lstStyle/>
          <a:p>
            <a:pPr indent="0" marL="0">
              <a:buNone/>
            </a:pPr>
            <a:r>
              <a:rPr lang="en-US" sz="1100" b="1" dirty="0">
                <a:solidFill>
                  <a:srgbClr val="7C3AED"/>
                </a:solidFill>
              </a:rPr>
              <a:t>Probar 1/10</a:t>
            </a:r>
            <a:endParaRPr lang="en-US" sz="1100" dirty="0"/>
          </a:p>
        </p:txBody>
      </p:sp>
      <p:sp>
        <p:nvSpPr>
          <p:cNvPr id="28" name="Text 26"/>
          <p:cNvSpPr/>
          <p:nvPr/>
        </p:nvSpPr>
        <p:spPr>
          <a:xfrm>
            <a:off x="6144768" y="3191256"/>
            <a:ext cx="2468880" cy="274320"/>
          </a:xfrm>
          <a:prstGeom prst="rect">
            <a:avLst/>
          </a:prstGeom>
          <a:noFill/>
          <a:ln/>
        </p:spPr>
        <p:txBody>
          <a:bodyPr wrap="square" lIns="0" tIns="0" rIns="0" bIns="0" rtlCol="0" anchor="ctr"/>
          <a:lstStyle/>
          <a:p>
            <a:pPr indent="0" marL="0">
              <a:buNone/>
            </a:pPr>
            <a:r>
              <a:rPr lang="en-US" sz="950" dirty="0">
                <a:solidFill>
                  <a:srgbClr val="CBD5E1"/>
                </a:solidFill>
              </a:rPr>
              <a:t>Se evalúa con el pliegue restante</a:t>
            </a:r>
            <a:endParaRPr lang="en-US" sz="950" dirty="0"/>
          </a:p>
        </p:txBody>
      </p:sp>
      <p:sp>
        <p:nvSpPr>
          <p:cNvPr id="29" name="Shape 27"/>
          <p:cNvSpPr/>
          <p:nvPr/>
        </p:nvSpPr>
        <p:spPr>
          <a:xfrm>
            <a:off x="5468112" y="3502152"/>
            <a:ext cx="0" cy="146304"/>
          </a:xfrm>
          <a:prstGeom prst="line">
            <a:avLst/>
          </a:prstGeom>
          <a:noFill/>
          <a:ln w="19050">
            <a:solidFill>
              <a:srgbClr val="64748B"/>
            </a:solidFill>
            <a:prstDash val="dash"/>
          </a:ln>
        </p:spPr>
      </p:sp>
      <p:sp>
        <p:nvSpPr>
          <p:cNvPr id="30" name="Shape 28"/>
          <p:cNvSpPr/>
          <p:nvPr/>
        </p:nvSpPr>
        <p:spPr>
          <a:xfrm>
            <a:off x="5212080" y="3758184"/>
            <a:ext cx="548640" cy="548640"/>
          </a:xfrm>
          <a:prstGeom prst="ellipse">
            <a:avLst/>
          </a:prstGeom>
          <a:solidFill>
            <a:srgbClr val="10B981"/>
          </a:solidFill>
          <a:ln w="12700">
            <a:solidFill>
              <a:srgbClr val="10B981"/>
            </a:solidFill>
            <a:prstDash val="solid"/>
          </a:ln>
        </p:spPr>
      </p:sp>
      <p:sp>
        <p:nvSpPr>
          <p:cNvPr id="31" name="Text 29"/>
          <p:cNvSpPr/>
          <p:nvPr/>
        </p:nvSpPr>
        <p:spPr>
          <a:xfrm>
            <a:off x="5212080" y="375818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32" name="Shape 30"/>
          <p:cNvSpPr/>
          <p:nvPr/>
        </p:nvSpPr>
        <p:spPr>
          <a:xfrm>
            <a:off x="5943600" y="3694176"/>
            <a:ext cx="2834640" cy="685800"/>
          </a:xfrm>
          <a:prstGeom prst="rect">
            <a:avLst>
              <a:gd name="adj" fmla="val 6667"/>
            </a:avLst>
          </a:prstGeom>
          <a:solidFill>
            <a:srgbClr val="162032"/>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33" name="Shape 31"/>
          <p:cNvSpPr/>
          <p:nvPr/>
        </p:nvSpPr>
        <p:spPr>
          <a:xfrm>
            <a:off x="5943600" y="3694176"/>
            <a:ext cx="54864" cy="685800"/>
          </a:xfrm>
          <a:prstGeom prst="rect">
            <a:avLst/>
          </a:prstGeom>
          <a:solidFill>
            <a:srgbClr val="10B981"/>
          </a:solidFill>
          <a:ln w="12700">
            <a:solidFill>
              <a:srgbClr val="10B981"/>
            </a:solidFill>
            <a:prstDash val="solid"/>
          </a:ln>
        </p:spPr>
      </p:sp>
      <p:sp>
        <p:nvSpPr>
          <p:cNvPr id="34" name="Text 32"/>
          <p:cNvSpPr/>
          <p:nvPr/>
        </p:nvSpPr>
        <p:spPr>
          <a:xfrm>
            <a:off x="6144768" y="3721608"/>
            <a:ext cx="2468880" cy="274320"/>
          </a:xfrm>
          <a:prstGeom prst="rect">
            <a:avLst/>
          </a:prstGeom>
          <a:noFill/>
          <a:ln/>
        </p:spPr>
        <p:txBody>
          <a:bodyPr wrap="square" lIns="0" tIns="0" rIns="0" bIns="0" rtlCol="0" anchor="ctr"/>
          <a:lstStyle/>
          <a:p>
            <a:pPr indent="0" marL="0">
              <a:buNone/>
            </a:pPr>
            <a:r>
              <a:rPr lang="en-US" sz="1100" b="1" dirty="0">
                <a:solidFill>
                  <a:srgbClr val="10B981"/>
                </a:solidFill>
              </a:rPr>
              <a:t>Promediar métricas</a:t>
            </a:r>
            <a:endParaRPr lang="en-US" sz="1100" dirty="0"/>
          </a:p>
        </p:txBody>
      </p:sp>
      <p:sp>
        <p:nvSpPr>
          <p:cNvPr id="35" name="Text 33"/>
          <p:cNvSpPr/>
          <p:nvPr/>
        </p:nvSpPr>
        <p:spPr>
          <a:xfrm>
            <a:off x="6144768" y="3995928"/>
            <a:ext cx="2468880" cy="274320"/>
          </a:xfrm>
          <a:prstGeom prst="rect">
            <a:avLst/>
          </a:prstGeom>
          <a:noFill/>
          <a:ln/>
        </p:spPr>
        <p:txBody>
          <a:bodyPr wrap="square" lIns="0" tIns="0" rIns="0" bIns="0" rtlCol="0" anchor="ctr"/>
          <a:lstStyle/>
          <a:p>
            <a:pPr indent="0" marL="0">
              <a:buNone/>
            </a:pPr>
            <a:r>
              <a:rPr lang="en-US" sz="950" dirty="0">
                <a:solidFill>
                  <a:srgbClr val="CBD5E1"/>
                </a:solidFill>
              </a:rPr>
              <a:t>Se repite 10 veces y se promedia</a:t>
            </a:r>
            <a:endParaRPr lang="en-US" sz="950" dirty="0"/>
          </a:p>
        </p:txBody>
      </p:sp>
      <p:sp>
        <p:nvSpPr>
          <p:cNvPr id="36" name="Shape 34"/>
          <p:cNvSpPr/>
          <p:nvPr/>
        </p:nvSpPr>
        <p:spPr>
          <a:xfrm>
            <a:off x="5074920" y="4343400"/>
            <a:ext cx="3703320" cy="475488"/>
          </a:xfrm>
          <a:prstGeom prst="rect">
            <a:avLst/>
          </a:prstGeom>
          <a:solidFill>
            <a:srgbClr val="0D9488">
              <a:alpha val="14000"/>
            </a:srgbClr>
          </a:solidFill>
          <a:ln w="12700">
            <a:solidFill>
              <a:srgbClr val="0D9488"/>
            </a:solidFill>
            <a:prstDash val="solid"/>
          </a:ln>
        </p:spPr>
      </p:sp>
      <p:sp>
        <p:nvSpPr>
          <p:cNvPr id="37" name="Text 35"/>
          <p:cNvSpPr/>
          <p:nvPr/>
        </p:nvSpPr>
        <p:spPr>
          <a:xfrm>
            <a:off x="5166360" y="4361688"/>
            <a:ext cx="3520440" cy="438912"/>
          </a:xfrm>
          <a:prstGeom prst="rect">
            <a:avLst/>
          </a:prstGeom>
          <a:noFill/>
          <a:ln/>
        </p:spPr>
        <p:txBody>
          <a:bodyPr wrap="square" lIns="0" tIns="0" rIns="0" bIns="0" rtlCol="0" anchor="ctr"/>
          <a:lstStyle/>
          <a:p>
            <a:pPr indent="0" marL="0">
              <a:buNone/>
            </a:pPr>
            <a:r>
              <a:rPr lang="en-US" sz="900" dirty="0">
                <a:solidFill>
                  <a:srgbClr val="FFFFFF"/>
                </a:solidFill>
              </a:rPr>
              <a:t>La estratificación garantiza que la proporción de clases (Grave / Leve) se mantiene constante en cada pliegue.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256032"/>
            <a:ext cx="1280160" cy="237744"/>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1280160" cy="237744"/>
          </a:xfrm>
          <a:prstGeom prst="rect">
            <a:avLst/>
          </a:prstGeom>
          <a:noFill/>
          <a:ln/>
        </p:spPr>
        <p:txBody>
          <a:bodyPr wrap="square" lIns="0" tIns="0" rIns="0" bIns="0" rtlCol="0" anchor="ctr"/>
          <a:lstStyle/>
          <a:p>
            <a:pPr algn="ctr" indent="0" marL="0">
              <a:buNone/>
            </a:pPr>
            <a:r>
              <a:rPr lang="en-US" sz="800" b="1" dirty="0">
                <a:solidFill>
                  <a:srgbClr val="FFFFFF"/>
                </a:solidFill>
              </a:rPr>
              <a:t>RESULTADOS</a:t>
            </a:r>
            <a:endParaRPr lang="en-US" sz="800" dirty="0"/>
          </a:p>
        </p:txBody>
      </p:sp>
      <p:sp>
        <p:nvSpPr>
          <p:cNvPr id="4" name="Text 2"/>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Métricas Clave Obtenidas</a:t>
            </a:r>
            <a:endParaRPr lang="en-US" sz="2600" dirty="0"/>
          </a:p>
        </p:txBody>
      </p:sp>
      <p:sp>
        <p:nvSpPr>
          <p:cNvPr id="5" name="Text 3"/>
          <p:cNvSpPr/>
          <p:nvPr/>
        </p:nvSpPr>
        <p:spPr>
          <a:xfrm>
            <a:off x="457200" y="1188720"/>
            <a:ext cx="8229600" cy="256032"/>
          </a:xfrm>
          <a:prstGeom prst="rect">
            <a:avLst/>
          </a:prstGeom>
          <a:noFill/>
          <a:ln/>
        </p:spPr>
        <p:txBody>
          <a:bodyPr wrap="square" lIns="0" tIns="0" rIns="0" bIns="0" rtlCol="0" anchor="ctr"/>
          <a:lstStyle/>
          <a:p>
            <a:pPr indent="0" marL="0">
              <a:buNone/>
            </a:pPr>
            <a:r>
              <a:rPr lang="en-US" sz="1050" dirty="0">
                <a:solidFill>
                  <a:srgbClr val="64748B"/>
                </a:solidFill>
              </a:rPr>
              <a:t>Promedio de los 10 pliegues de validación cruzada estratificada — rendimiento esperado sobre datos nuevos.</a:t>
            </a:r>
            <a:endParaRPr lang="en-US" sz="1050" dirty="0"/>
          </a:p>
        </p:txBody>
      </p:sp>
      <p:sp>
        <p:nvSpPr>
          <p:cNvPr id="6" name="Shape 4"/>
          <p:cNvSpPr/>
          <p:nvPr/>
        </p:nvSpPr>
        <p:spPr>
          <a:xfrm>
            <a:off x="365760" y="1572768"/>
            <a:ext cx="4114800" cy="1508760"/>
          </a:xfrm>
          <a:prstGeom prst="rect">
            <a:avLst>
              <a:gd name="adj" fmla="val 3030"/>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7" name="Shape 5"/>
          <p:cNvSpPr/>
          <p:nvPr/>
        </p:nvSpPr>
        <p:spPr>
          <a:xfrm>
            <a:off x="365760" y="1572768"/>
            <a:ext cx="54864" cy="1508760"/>
          </a:xfrm>
          <a:prstGeom prst="rect">
            <a:avLst/>
          </a:prstGeom>
          <a:solidFill>
            <a:srgbClr val="0D9488"/>
          </a:solidFill>
          <a:ln w="12700">
            <a:solidFill>
              <a:srgbClr val="0D9488"/>
            </a:solidFill>
            <a:prstDash val="solid"/>
          </a:ln>
        </p:spPr>
      </p:sp>
      <p:sp>
        <p:nvSpPr>
          <p:cNvPr id="8" name="Text 6"/>
          <p:cNvSpPr/>
          <p:nvPr/>
        </p:nvSpPr>
        <p:spPr>
          <a:xfrm>
            <a:off x="566928" y="1755648"/>
            <a:ext cx="1463040" cy="822960"/>
          </a:xfrm>
          <a:prstGeom prst="rect">
            <a:avLst/>
          </a:prstGeom>
          <a:noFill/>
          <a:ln/>
        </p:spPr>
        <p:txBody>
          <a:bodyPr wrap="square" lIns="0" tIns="0" rIns="0" bIns="0" rtlCol="0" anchor="ctr"/>
          <a:lstStyle/>
          <a:p>
            <a:pPr indent="0" marL="0">
              <a:buNone/>
            </a:pPr>
            <a:r>
              <a:rPr lang="en-US" sz="4200" b="1" dirty="0">
                <a:solidFill>
                  <a:srgbClr val="0D9488"/>
                </a:solidFill>
              </a:rPr>
              <a:t>0.949</a:t>
            </a:r>
            <a:endParaRPr lang="en-US" sz="4200" dirty="0"/>
          </a:p>
        </p:txBody>
      </p:sp>
      <p:sp>
        <p:nvSpPr>
          <p:cNvPr id="9" name="Text 7"/>
          <p:cNvSpPr/>
          <p:nvPr/>
        </p:nvSpPr>
        <p:spPr>
          <a:xfrm>
            <a:off x="566928" y="2578608"/>
            <a:ext cx="1463040" cy="365760"/>
          </a:xfrm>
          <a:prstGeom prst="rect">
            <a:avLst/>
          </a:prstGeom>
          <a:noFill/>
          <a:ln/>
        </p:spPr>
        <p:txBody>
          <a:bodyPr wrap="square" lIns="0" tIns="0" rIns="0" bIns="0" rtlCol="0" anchor="ctr"/>
          <a:lstStyle/>
          <a:p>
            <a:pPr indent="0" marL="0">
              <a:buNone/>
            </a:pPr>
            <a:r>
              <a:rPr lang="en-US" sz="1100" b="1" dirty="0">
                <a:solidFill>
                  <a:srgbClr val="0D9488"/>
                </a:solidFill>
              </a:rPr>
              <a:t>AUC-ROC</a:t>
            </a:r>
            <a:endParaRPr lang="en-US" sz="1100" dirty="0"/>
          </a:p>
        </p:txBody>
      </p:sp>
      <p:sp>
        <p:nvSpPr>
          <p:cNvPr id="10" name="Text 8"/>
          <p:cNvSpPr/>
          <p:nvPr/>
        </p:nvSpPr>
        <p:spPr>
          <a:xfrm>
            <a:off x="2194560" y="1755648"/>
            <a:ext cx="2148840" cy="1188720"/>
          </a:xfrm>
          <a:prstGeom prst="rect">
            <a:avLst/>
          </a:prstGeom>
          <a:noFill/>
          <a:ln/>
        </p:spPr>
        <p:txBody>
          <a:bodyPr wrap="square" lIns="0" tIns="0" rIns="0" bIns="0" rtlCol="0" anchor="ctr"/>
          <a:lstStyle/>
          <a:p>
            <a:pPr indent="0" marL="0">
              <a:buNone/>
            </a:pPr>
            <a:r>
              <a:rPr lang="en-US" sz="1000" dirty="0">
                <a:solidFill>
                  <a:srgbClr val="CBD5E1"/>
                </a:solidFill>
              </a:rPr>
              <a:t>Capacidad excelente para distinguir entre una queja grave real y una falsa alarma. (1.0 = perfecto; 0.5 = azar).</a:t>
            </a:r>
            <a:endParaRPr lang="en-US" sz="1000" dirty="0"/>
          </a:p>
        </p:txBody>
      </p:sp>
      <p:sp>
        <p:nvSpPr>
          <p:cNvPr id="11" name="Shape 9"/>
          <p:cNvSpPr/>
          <p:nvPr/>
        </p:nvSpPr>
        <p:spPr>
          <a:xfrm>
            <a:off x="4800600" y="1572768"/>
            <a:ext cx="4114800" cy="1508760"/>
          </a:xfrm>
          <a:prstGeom prst="rect">
            <a:avLst>
              <a:gd name="adj" fmla="val 3030"/>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2" name="Shape 10"/>
          <p:cNvSpPr/>
          <p:nvPr/>
        </p:nvSpPr>
        <p:spPr>
          <a:xfrm>
            <a:off x="4800600" y="1572768"/>
            <a:ext cx="54864" cy="1508760"/>
          </a:xfrm>
          <a:prstGeom prst="rect">
            <a:avLst/>
          </a:prstGeom>
          <a:solidFill>
            <a:srgbClr val="F59E0B"/>
          </a:solidFill>
          <a:ln w="12700">
            <a:solidFill>
              <a:srgbClr val="F59E0B"/>
            </a:solidFill>
            <a:prstDash val="solid"/>
          </a:ln>
        </p:spPr>
      </p:sp>
      <p:sp>
        <p:nvSpPr>
          <p:cNvPr id="13" name="Text 11"/>
          <p:cNvSpPr/>
          <p:nvPr/>
        </p:nvSpPr>
        <p:spPr>
          <a:xfrm>
            <a:off x="5001768" y="1755648"/>
            <a:ext cx="1463040" cy="822960"/>
          </a:xfrm>
          <a:prstGeom prst="rect">
            <a:avLst/>
          </a:prstGeom>
          <a:noFill/>
          <a:ln/>
        </p:spPr>
        <p:txBody>
          <a:bodyPr wrap="square" lIns="0" tIns="0" rIns="0" bIns="0" rtlCol="0" anchor="ctr"/>
          <a:lstStyle/>
          <a:p>
            <a:pPr indent="0" marL="0">
              <a:buNone/>
            </a:pPr>
            <a:r>
              <a:rPr lang="en-US" sz="4200" b="1" dirty="0">
                <a:solidFill>
                  <a:srgbClr val="F59E0B"/>
                </a:solidFill>
              </a:rPr>
              <a:t>0.904</a:t>
            </a:r>
            <a:endParaRPr lang="en-US" sz="4200" dirty="0"/>
          </a:p>
        </p:txBody>
      </p:sp>
      <p:sp>
        <p:nvSpPr>
          <p:cNvPr id="14" name="Text 12"/>
          <p:cNvSpPr/>
          <p:nvPr/>
        </p:nvSpPr>
        <p:spPr>
          <a:xfrm>
            <a:off x="5001768" y="2578608"/>
            <a:ext cx="1463040" cy="365760"/>
          </a:xfrm>
          <a:prstGeom prst="rect">
            <a:avLst/>
          </a:prstGeom>
          <a:noFill/>
          <a:ln/>
        </p:spPr>
        <p:txBody>
          <a:bodyPr wrap="square" lIns="0" tIns="0" rIns="0" bIns="0" rtlCol="0" anchor="ctr"/>
          <a:lstStyle/>
          <a:p>
            <a:pPr indent="0" marL="0">
              <a:buNone/>
            </a:pPr>
            <a:r>
              <a:rPr lang="en-US" sz="1100" b="1" dirty="0">
                <a:solidFill>
                  <a:srgbClr val="F59E0B"/>
                </a:solidFill>
              </a:rPr>
              <a:t>F1-Weighted</a:t>
            </a:r>
            <a:endParaRPr lang="en-US" sz="1100" dirty="0"/>
          </a:p>
        </p:txBody>
      </p:sp>
      <p:sp>
        <p:nvSpPr>
          <p:cNvPr id="15" name="Text 13"/>
          <p:cNvSpPr/>
          <p:nvPr/>
        </p:nvSpPr>
        <p:spPr>
          <a:xfrm>
            <a:off x="6629400" y="1755648"/>
            <a:ext cx="2148840" cy="1188720"/>
          </a:xfrm>
          <a:prstGeom prst="rect">
            <a:avLst/>
          </a:prstGeom>
          <a:noFill/>
          <a:ln/>
        </p:spPr>
        <p:txBody>
          <a:bodyPr wrap="square" lIns="0" tIns="0" rIns="0" bIns="0" rtlCol="0" anchor="ctr"/>
          <a:lstStyle/>
          <a:p>
            <a:pPr indent="0" marL="0">
              <a:buNone/>
            </a:pPr>
            <a:r>
              <a:rPr lang="en-US" sz="1000" dirty="0">
                <a:solidFill>
                  <a:srgbClr val="CBD5E1"/>
                </a:solidFill>
              </a:rPr>
              <a:t>Superamos ampliamente la meta del 85%. El modelo es muy equilibrado en precisión y exhaustividad.</a:t>
            </a:r>
            <a:endParaRPr lang="en-US" sz="1000" dirty="0"/>
          </a:p>
        </p:txBody>
      </p:sp>
      <p:sp>
        <p:nvSpPr>
          <p:cNvPr id="16" name="Shape 14"/>
          <p:cNvSpPr/>
          <p:nvPr/>
        </p:nvSpPr>
        <p:spPr>
          <a:xfrm>
            <a:off x="365760" y="3264408"/>
            <a:ext cx="4114800" cy="1508760"/>
          </a:xfrm>
          <a:prstGeom prst="rect">
            <a:avLst>
              <a:gd name="adj" fmla="val 3030"/>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7" name="Shape 15"/>
          <p:cNvSpPr/>
          <p:nvPr/>
        </p:nvSpPr>
        <p:spPr>
          <a:xfrm>
            <a:off x="365760" y="3264408"/>
            <a:ext cx="54864" cy="1508760"/>
          </a:xfrm>
          <a:prstGeom prst="rect">
            <a:avLst/>
          </a:prstGeom>
          <a:solidFill>
            <a:srgbClr val="7C3AED"/>
          </a:solidFill>
          <a:ln w="12700">
            <a:solidFill>
              <a:srgbClr val="7C3AED"/>
            </a:solidFill>
            <a:prstDash val="solid"/>
          </a:ln>
        </p:spPr>
      </p:sp>
      <p:sp>
        <p:nvSpPr>
          <p:cNvPr id="18" name="Text 16"/>
          <p:cNvSpPr/>
          <p:nvPr/>
        </p:nvSpPr>
        <p:spPr>
          <a:xfrm>
            <a:off x="566928" y="3447288"/>
            <a:ext cx="1463040" cy="822960"/>
          </a:xfrm>
          <a:prstGeom prst="rect">
            <a:avLst/>
          </a:prstGeom>
          <a:noFill/>
          <a:ln/>
        </p:spPr>
        <p:txBody>
          <a:bodyPr wrap="square" lIns="0" tIns="0" rIns="0" bIns="0" rtlCol="0" anchor="ctr"/>
          <a:lstStyle/>
          <a:p>
            <a:pPr indent="0" marL="0">
              <a:buNone/>
            </a:pPr>
            <a:r>
              <a:rPr lang="en-US" sz="4200" b="1" dirty="0">
                <a:solidFill>
                  <a:srgbClr val="7C3AED"/>
                </a:solidFill>
              </a:rPr>
              <a:t>0.803</a:t>
            </a:r>
            <a:endParaRPr lang="en-US" sz="4200" dirty="0"/>
          </a:p>
        </p:txBody>
      </p:sp>
      <p:sp>
        <p:nvSpPr>
          <p:cNvPr id="19" name="Text 17"/>
          <p:cNvSpPr/>
          <p:nvPr/>
        </p:nvSpPr>
        <p:spPr>
          <a:xfrm>
            <a:off x="566928" y="4270248"/>
            <a:ext cx="1463040" cy="365760"/>
          </a:xfrm>
          <a:prstGeom prst="rect">
            <a:avLst/>
          </a:prstGeom>
          <a:noFill/>
          <a:ln/>
        </p:spPr>
        <p:txBody>
          <a:bodyPr wrap="square" lIns="0" tIns="0" rIns="0" bIns="0" rtlCol="0" anchor="ctr"/>
          <a:lstStyle/>
          <a:p>
            <a:pPr indent="0" marL="0">
              <a:buNone/>
            </a:pPr>
            <a:r>
              <a:rPr lang="en-US" sz="1100" b="1" dirty="0">
                <a:solidFill>
                  <a:srgbClr val="7C3AED"/>
                </a:solidFill>
              </a:rPr>
              <a:t>F1 Clase «Grave»</a:t>
            </a:r>
            <a:endParaRPr lang="en-US" sz="1100" dirty="0"/>
          </a:p>
        </p:txBody>
      </p:sp>
      <p:sp>
        <p:nvSpPr>
          <p:cNvPr id="20" name="Text 18"/>
          <p:cNvSpPr/>
          <p:nvPr/>
        </p:nvSpPr>
        <p:spPr>
          <a:xfrm>
            <a:off x="2194560" y="3447288"/>
            <a:ext cx="2148840" cy="1188720"/>
          </a:xfrm>
          <a:prstGeom prst="rect">
            <a:avLst/>
          </a:prstGeom>
          <a:noFill/>
          <a:ln/>
        </p:spPr>
        <p:txBody>
          <a:bodyPr wrap="square" lIns="0" tIns="0" rIns="0" bIns="0" rtlCol="0" anchor="ctr"/>
          <a:lstStyle/>
          <a:p>
            <a:pPr indent="0" marL="0">
              <a:buNone/>
            </a:pPr>
            <a:r>
              <a:rPr lang="en-US" sz="1000" dirty="0">
                <a:solidFill>
                  <a:srgbClr val="CBD5E1"/>
                </a:solidFill>
              </a:rPr>
              <a:t>Detectamos 8 de cada 10 quejas graves reales con alta precisión — crítico dado el coste de los falsos negativos.</a:t>
            </a:r>
            <a:endParaRPr lang="en-US" sz="1000" dirty="0"/>
          </a:p>
        </p:txBody>
      </p:sp>
      <p:sp>
        <p:nvSpPr>
          <p:cNvPr id="21" name="Shape 19"/>
          <p:cNvSpPr/>
          <p:nvPr/>
        </p:nvSpPr>
        <p:spPr>
          <a:xfrm>
            <a:off x="4800600" y="3264408"/>
            <a:ext cx="4114800" cy="1508760"/>
          </a:xfrm>
          <a:prstGeom prst="rect">
            <a:avLst>
              <a:gd name="adj" fmla="val 3030"/>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22" name="Shape 20"/>
          <p:cNvSpPr/>
          <p:nvPr/>
        </p:nvSpPr>
        <p:spPr>
          <a:xfrm>
            <a:off x="4800600" y="3264408"/>
            <a:ext cx="54864" cy="1508760"/>
          </a:xfrm>
          <a:prstGeom prst="rect">
            <a:avLst/>
          </a:prstGeom>
          <a:solidFill>
            <a:srgbClr val="F43F5E"/>
          </a:solidFill>
          <a:ln w="12700">
            <a:solidFill>
              <a:srgbClr val="F43F5E"/>
            </a:solidFill>
            <a:prstDash val="solid"/>
          </a:ln>
        </p:spPr>
      </p:sp>
      <p:sp>
        <p:nvSpPr>
          <p:cNvPr id="23" name="Text 21"/>
          <p:cNvSpPr/>
          <p:nvPr/>
        </p:nvSpPr>
        <p:spPr>
          <a:xfrm>
            <a:off x="5001768" y="3447288"/>
            <a:ext cx="1463040" cy="822960"/>
          </a:xfrm>
          <a:prstGeom prst="rect">
            <a:avLst/>
          </a:prstGeom>
          <a:noFill/>
          <a:ln/>
        </p:spPr>
        <p:txBody>
          <a:bodyPr wrap="square" lIns="0" tIns="0" rIns="0" bIns="0" rtlCol="0" anchor="ctr"/>
          <a:lstStyle/>
          <a:p>
            <a:pPr indent="0" marL="0">
              <a:buNone/>
            </a:pPr>
            <a:r>
              <a:rPr lang="en-US" sz="4200" b="1" dirty="0">
                <a:solidFill>
                  <a:srgbClr val="F43F5E"/>
                </a:solidFill>
              </a:rPr>
              <a:t>0.078</a:t>
            </a:r>
            <a:endParaRPr lang="en-US" sz="4200" dirty="0"/>
          </a:p>
        </p:txBody>
      </p:sp>
      <p:sp>
        <p:nvSpPr>
          <p:cNvPr id="24" name="Text 22"/>
          <p:cNvSpPr/>
          <p:nvPr/>
        </p:nvSpPr>
        <p:spPr>
          <a:xfrm>
            <a:off x="5001768" y="4270248"/>
            <a:ext cx="1463040" cy="365760"/>
          </a:xfrm>
          <a:prstGeom prst="rect">
            <a:avLst/>
          </a:prstGeom>
          <a:noFill/>
          <a:ln/>
        </p:spPr>
        <p:txBody>
          <a:bodyPr wrap="square" lIns="0" tIns="0" rIns="0" bIns="0" rtlCol="0" anchor="ctr"/>
          <a:lstStyle/>
          <a:p>
            <a:pPr indent="0" marL="0">
              <a:buNone/>
            </a:pPr>
            <a:r>
              <a:rPr lang="en-US" sz="1100" b="1" dirty="0">
                <a:solidFill>
                  <a:srgbClr val="F43F5E"/>
                </a:solidFill>
              </a:rPr>
              <a:t>Brier Score</a:t>
            </a:r>
            <a:endParaRPr lang="en-US" sz="1100" dirty="0"/>
          </a:p>
        </p:txBody>
      </p:sp>
      <p:sp>
        <p:nvSpPr>
          <p:cNvPr id="25" name="Text 23"/>
          <p:cNvSpPr/>
          <p:nvPr/>
        </p:nvSpPr>
        <p:spPr>
          <a:xfrm>
            <a:off x="6629400" y="3447288"/>
            <a:ext cx="2148840" cy="1188720"/>
          </a:xfrm>
          <a:prstGeom prst="rect">
            <a:avLst/>
          </a:prstGeom>
          <a:noFill/>
          <a:ln/>
        </p:spPr>
        <p:txBody>
          <a:bodyPr wrap="square" lIns="0" tIns="0" rIns="0" bIns="0" rtlCol="0" anchor="ctr"/>
          <a:lstStyle/>
          <a:p>
            <a:pPr indent="0" marL="0">
              <a:buNone/>
            </a:pPr>
            <a:r>
              <a:rPr lang="en-US" sz="1000" dirty="0">
                <a:solidFill>
                  <a:srgbClr val="CBD5E1"/>
                </a:solidFill>
              </a:rPr>
              <a:t>Las probabilidades emitidas están muy bien calibradas. (0 = calibración perfecta).</a:t>
            </a:r>
            <a:endParaRPr lang="en-US" sz="1000" dirty="0"/>
          </a:p>
        </p:txBody>
      </p:sp>
      <p:sp>
        <p:nvSpPr>
          <p:cNvPr id="26" name="Shape 24"/>
          <p:cNvSpPr/>
          <p:nvPr/>
        </p:nvSpPr>
        <p:spPr>
          <a:xfrm>
            <a:off x="365760" y="4736592"/>
            <a:ext cx="8412480" cy="201168"/>
          </a:xfrm>
          <a:prstGeom prst="rect">
            <a:avLst/>
          </a:prstGeom>
          <a:solidFill>
            <a:srgbClr val="0D9488">
              <a:alpha val="15000"/>
            </a:srgbClr>
          </a:solidFill>
          <a:ln w="12700">
            <a:solidFill>
              <a:srgbClr val="0D9488"/>
            </a:solidFill>
            <a:prstDash val="solid"/>
          </a:ln>
        </p:spPr>
      </p:sp>
      <p:sp>
        <p:nvSpPr>
          <p:cNvPr id="27" name="Text 25"/>
          <p:cNvSpPr/>
          <p:nvPr/>
        </p:nvSpPr>
        <p:spPr>
          <a:xfrm>
            <a:off x="502920" y="4754880"/>
            <a:ext cx="8229600" cy="164592"/>
          </a:xfrm>
          <a:prstGeom prst="rect">
            <a:avLst/>
          </a:prstGeom>
          <a:noFill/>
          <a:ln/>
        </p:spPr>
        <p:txBody>
          <a:bodyPr wrap="square" lIns="0" tIns="0" rIns="0" bIns="0" rtlCol="0" anchor="ctr"/>
          <a:lstStyle/>
          <a:p>
            <a:pPr indent="0" marL="0">
              <a:buNone/>
            </a:pPr>
            <a:r>
              <a:rPr lang="en-US" sz="900" dirty="0">
                <a:solidFill>
                  <a:srgbClr val="FFFFFF"/>
                </a:solidFill>
              </a:rPr>
              <a:t>El AUC-ROC de 0.949 coloca nuestro modelo en un nivel comparable a sistemas de diagnóstico automático utilizados en la industria.</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256032"/>
            <a:ext cx="2084832" cy="237744"/>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2084832" cy="237744"/>
          </a:xfrm>
          <a:prstGeom prst="rect">
            <a:avLst/>
          </a:prstGeom>
          <a:noFill/>
          <a:ln/>
        </p:spPr>
        <p:txBody>
          <a:bodyPr wrap="square" lIns="0" tIns="0" rIns="0" bIns="0" rtlCol="0" anchor="ctr"/>
          <a:lstStyle/>
          <a:p>
            <a:pPr algn="ctr" indent="0" marL="0">
              <a:buNone/>
            </a:pPr>
            <a:r>
              <a:rPr lang="en-US" sz="800" b="1" dirty="0">
                <a:solidFill>
                  <a:srgbClr val="FFFFFF"/>
                </a:solidFill>
              </a:rPr>
              <a:t>HALLAZGO PRINCIPAL</a:t>
            </a:r>
            <a:endParaRPr lang="en-US" sz="800" dirty="0"/>
          </a:p>
        </p:txBody>
      </p:sp>
      <p:sp>
        <p:nvSpPr>
          <p:cNvPr id="4" name="Text 2"/>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El Lenguaje del Colapso: ¿De qué se queja la gente exactamente?</a:t>
            </a:r>
            <a:endParaRPr lang="en-US" sz="2600" dirty="0"/>
          </a:p>
        </p:txBody>
      </p:sp>
      <p:sp>
        <p:nvSpPr>
          <p:cNvPr id="5" name="Shape 3"/>
          <p:cNvSpPr/>
          <p:nvPr/>
        </p:nvSpPr>
        <p:spPr>
          <a:xfrm>
            <a:off x="365760" y="1261872"/>
            <a:ext cx="8412480" cy="777240"/>
          </a:xfrm>
          <a:prstGeom prst="rect">
            <a:avLst/>
          </a:prstGeom>
          <a:solidFill>
            <a:srgbClr val="1A2538"/>
          </a:solidFill>
          <a:ln w="12700">
            <a:solidFill>
              <a:srgbClr val="1E3A5A"/>
            </a:solidFill>
            <a:prstDash val="solid"/>
          </a:ln>
        </p:spPr>
      </p:sp>
      <p:sp>
        <p:nvSpPr>
          <p:cNvPr id="6" name="Text 4"/>
          <p:cNvSpPr/>
          <p:nvPr/>
        </p:nvSpPr>
        <p:spPr>
          <a:xfrm>
            <a:off x="502920" y="1353312"/>
            <a:ext cx="1188720" cy="594360"/>
          </a:xfrm>
          <a:prstGeom prst="rect">
            <a:avLst/>
          </a:prstGeom>
          <a:noFill/>
          <a:ln/>
        </p:spPr>
        <p:txBody>
          <a:bodyPr wrap="square" lIns="0" tIns="0" rIns="0" bIns="0" rtlCol="0" anchor="ctr"/>
          <a:lstStyle/>
          <a:p>
            <a:pPr indent="0" marL="0">
              <a:buNone/>
            </a:pPr>
            <a:r>
              <a:rPr lang="en-US" sz="2200" b="1" dirty="0">
                <a:solidFill>
                  <a:srgbClr val="F43F5E"/>
                </a:solidFill>
              </a:rPr>
              <a:t>10.46%</a:t>
            </a:r>
            <a:endParaRPr lang="en-US" sz="2200" dirty="0"/>
          </a:p>
        </p:txBody>
      </p:sp>
      <p:sp>
        <p:nvSpPr>
          <p:cNvPr id="7" name="Shape 5"/>
          <p:cNvSpPr/>
          <p:nvPr/>
        </p:nvSpPr>
        <p:spPr>
          <a:xfrm>
            <a:off x="1783080" y="1581912"/>
            <a:ext cx="8412480" cy="164592"/>
          </a:xfrm>
          <a:prstGeom prst="rect">
            <a:avLst/>
          </a:prstGeom>
          <a:solidFill>
            <a:srgbClr val="F43F5E">
              <a:alpha val="50000"/>
            </a:srgbClr>
          </a:solidFill>
          <a:ln w="12700">
            <a:solidFill>
              <a:srgbClr val="F43F5E"/>
            </a:solidFill>
            <a:prstDash val="solid"/>
          </a:ln>
        </p:spPr>
      </p:sp>
      <p:sp>
        <p:nvSpPr>
          <p:cNvPr id="8" name="Shape 6"/>
          <p:cNvSpPr/>
          <p:nvPr/>
        </p:nvSpPr>
        <p:spPr>
          <a:xfrm>
            <a:off x="1783080" y="1581912"/>
            <a:ext cx="4206240" cy="164592"/>
          </a:xfrm>
          <a:prstGeom prst="rect">
            <a:avLst/>
          </a:prstGeom>
          <a:solidFill>
            <a:srgbClr val="F43F5E"/>
          </a:solidFill>
          <a:ln w="12700">
            <a:solidFill>
              <a:srgbClr val="F43F5E"/>
            </a:solidFill>
            <a:prstDash val="solid"/>
          </a:ln>
        </p:spPr>
      </p:sp>
      <p:sp>
        <p:nvSpPr>
          <p:cNvPr id="9" name="Text 7"/>
          <p:cNvSpPr/>
          <p:nvPr/>
        </p:nvSpPr>
        <p:spPr>
          <a:xfrm>
            <a:off x="1783080" y="1325880"/>
            <a:ext cx="4114800" cy="256032"/>
          </a:xfrm>
          <a:prstGeom prst="rect">
            <a:avLst/>
          </a:prstGeom>
          <a:noFill/>
          <a:ln/>
        </p:spPr>
        <p:txBody>
          <a:bodyPr wrap="square" lIns="0" tIns="0" rIns="0" bIns="0" rtlCol="0" anchor="ctr"/>
          <a:lstStyle/>
          <a:p>
            <a:pPr indent="0" marL="0">
              <a:buNone/>
            </a:pPr>
            <a:r>
              <a:rPr lang="en-US" sz="1100" b="1" dirty="0">
                <a:solidFill>
                  <a:srgbClr val="F43F5E"/>
                </a:solidFill>
              </a:rPr>
              <a:t>Tiempo de espera extremo</a:t>
            </a:r>
            <a:endParaRPr lang="en-US" sz="1100" dirty="0"/>
          </a:p>
        </p:txBody>
      </p:sp>
      <p:sp>
        <p:nvSpPr>
          <p:cNvPr id="10" name="Text 8"/>
          <p:cNvSpPr/>
          <p:nvPr/>
        </p:nvSpPr>
        <p:spPr>
          <a:xfrm>
            <a:off x="1783080" y="1792224"/>
            <a:ext cx="6858000" cy="228600"/>
          </a:xfrm>
          <a:prstGeom prst="rect">
            <a:avLst/>
          </a:prstGeom>
          <a:noFill/>
          <a:ln/>
        </p:spPr>
        <p:txBody>
          <a:bodyPr wrap="square" lIns="0" tIns="0" rIns="0" bIns="0" rtlCol="0" anchor="ctr"/>
          <a:lstStyle/>
          <a:p>
            <a:pPr indent="0" marL="0">
              <a:buNone/>
            </a:pPr>
            <a:r>
              <a:rPr lang="en-US" sz="900" dirty="0">
                <a:solidFill>
                  <a:srgbClr val="64748B"/>
                </a:solidFill>
              </a:rPr>
              <a:t>Keywords: esperar, horas, eterno, demora — La dimensión más prevalente. Refleja la saturación estructural del sistema de urgencias.</a:t>
            </a:r>
            <a:endParaRPr lang="en-US" sz="900" dirty="0"/>
          </a:p>
        </p:txBody>
      </p:sp>
      <p:sp>
        <p:nvSpPr>
          <p:cNvPr id="11" name="Shape 9"/>
          <p:cNvSpPr/>
          <p:nvPr/>
        </p:nvSpPr>
        <p:spPr>
          <a:xfrm>
            <a:off x="365760" y="2157984"/>
            <a:ext cx="8412480" cy="777240"/>
          </a:xfrm>
          <a:prstGeom prst="rect">
            <a:avLst/>
          </a:prstGeom>
          <a:solidFill>
            <a:srgbClr val="1A2538"/>
          </a:solidFill>
          <a:ln w="12700">
            <a:solidFill>
              <a:srgbClr val="1E3A5A"/>
            </a:solidFill>
            <a:prstDash val="solid"/>
          </a:ln>
        </p:spPr>
      </p:sp>
      <p:sp>
        <p:nvSpPr>
          <p:cNvPr id="12" name="Text 10"/>
          <p:cNvSpPr/>
          <p:nvPr/>
        </p:nvSpPr>
        <p:spPr>
          <a:xfrm>
            <a:off x="502920" y="2249424"/>
            <a:ext cx="1188720" cy="594360"/>
          </a:xfrm>
          <a:prstGeom prst="rect">
            <a:avLst/>
          </a:prstGeom>
          <a:noFill/>
          <a:ln/>
        </p:spPr>
        <p:txBody>
          <a:bodyPr wrap="square" lIns="0" tIns="0" rIns="0" bIns="0" rtlCol="0" anchor="ctr"/>
          <a:lstStyle/>
          <a:p>
            <a:pPr indent="0" marL="0">
              <a:buNone/>
            </a:pPr>
            <a:r>
              <a:rPr lang="en-US" sz="2200" b="1" dirty="0">
                <a:solidFill>
                  <a:srgbClr val="F59E0B"/>
                </a:solidFill>
              </a:rPr>
              <a:t>6.78%</a:t>
            </a:r>
            <a:endParaRPr lang="en-US" sz="2200" dirty="0"/>
          </a:p>
        </p:txBody>
      </p:sp>
      <p:sp>
        <p:nvSpPr>
          <p:cNvPr id="13" name="Shape 11"/>
          <p:cNvSpPr/>
          <p:nvPr/>
        </p:nvSpPr>
        <p:spPr>
          <a:xfrm>
            <a:off x="1783080" y="2478024"/>
            <a:ext cx="5440680" cy="164592"/>
          </a:xfrm>
          <a:prstGeom prst="rect">
            <a:avLst/>
          </a:prstGeom>
          <a:solidFill>
            <a:srgbClr val="F59E0B">
              <a:alpha val="50000"/>
            </a:srgbClr>
          </a:solidFill>
          <a:ln w="12700">
            <a:solidFill>
              <a:srgbClr val="F59E0B"/>
            </a:solidFill>
            <a:prstDash val="solid"/>
          </a:ln>
        </p:spPr>
      </p:sp>
      <p:sp>
        <p:nvSpPr>
          <p:cNvPr id="14" name="Shape 12"/>
          <p:cNvSpPr/>
          <p:nvPr/>
        </p:nvSpPr>
        <p:spPr>
          <a:xfrm>
            <a:off x="1783080" y="2478024"/>
            <a:ext cx="2720340" cy="164592"/>
          </a:xfrm>
          <a:prstGeom prst="rect">
            <a:avLst/>
          </a:prstGeom>
          <a:solidFill>
            <a:srgbClr val="F59E0B"/>
          </a:solidFill>
          <a:ln w="12700">
            <a:solidFill>
              <a:srgbClr val="F59E0B"/>
            </a:solidFill>
            <a:prstDash val="solid"/>
          </a:ln>
        </p:spPr>
      </p:sp>
      <p:sp>
        <p:nvSpPr>
          <p:cNvPr id="15" name="Text 13"/>
          <p:cNvSpPr/>
          <p:nvPr/>
        </p:nvSpPr>
        <p:spPr>
          <a:xfrm>
            <a:off x="1783080" y="2221992"/>
            <a:ext cx="4114800" cy="256032"/>
          </a:xfrm>
          <a:prstGeom prst="rect">
            <a:avLst/>
          </a:prstGeom>
          <a:noFill/>
          <a:ln/>
        </p:spPr>
        <p:txBody>
          <a:bodyPr wrap="square" lIns="0" tIns="0" rIns="0" bIns="0" rtlCol="0" anchor="ctr"/>
          <a:lstStyle/>
          <a:p>
            <a:pPr indent="0" marL="0">
              <a:buNone/>
            </a:pPr>
            <a:r>
              <a:rPr lang="en-US" sz="1100" b="1" dirty="0">
                <a:solidFill>
                  <a:srgbClr val="F59E0B"/>
                </a:solidFill>
              </a:rPr>
              <a:t>Corrupción / Negligencia</a:t>
            </a:r>
            <a:endParaRPr lang="en-US" sz="1100" dirty="0"/>
          </a:p>
        </p:txBody>
      </p:sp>
      <p:sp>
        <p:nvSpPr>
          <p:cNvPr id="16" name="Text 14"/>
          <p:cNvSpPr/>
          <p:nvPr/>
        </p:nvSpPr>
        <p:spPr>
          <a:xfrm>
            <a:off x="1783080" y="2688336"/>
            <a:ext cx="6858000" cy="228600"/>
          </a:xfrm>
          <a:prstGeom prst="rect">
            <a:avLst/>
          </a:prstGeom>
          <a:noFill/>
          <a:ln/>
        </p:spPr>
        <p:txBody>
          <a:bodyPr wrap="square" lIns="0" tIns="0" rIns="0" bIns="0" rtlCol="0" anchor="ctr"/>
          <a:lstStyle/>
          <a:p>
            <a:pPr indent="0" marL="0">
              <a:buNone/>
            </a:pPr>
            <a:r>
              <a:rPr lang="en-US" sz="900" dirty="0">
                <a:solidFill>
                  <a:srgbClr val="64748B"/>
                </a:solidFill>
              </a:rPr>
              <a:t>Keywords: corrupción, negligencia, maltrato, indiferencia — Percepción ciudadana de abandono institucional intencional.</a:t>
            </a:r>
            <a:endParaRPr lang="en-US" sz="900" dirty="0"/>
          </a:p>
        </p:txBody>
      </p:sp>
      <p:sp>
        <p:nvSpPr>
          <p:cNvPr id="17" name="Shape 15"/>
          <p:cNvSpPr/>
          <p:nvPr/>
        </p:nvSpPr>
        <p:spPr>
          <a:xfrm>
            <a:off x="365760" y="3054096"/>
            <a:ext cx="8412480" cy="777240"/>
          </a:xfrm>
          <a:prstGeom prst="rect">
            <a:avLst/>
          </a:prstGeom>
          <a:solidFill>
            <a:srgbClr val="1A2538"/>
          </a:solidFill>
          <a:ln w="12700">
            <a:solidFill>
              <a:srgbClr val="1E3A5A"/>
            </a:solidFill>
            <a:prstDash val="solid"/>
          </a:ln>
        </p:spPr>
      </p:sp>
      <p:sp>
        <p:nvSpPr>
          <p:cNvPr id="18" name="Text 16"/>
          <p:cNvSpPr/>
          <p:nvPr/>
        </p:nvSpPr>
        <p:spPr>
          <a:xfrm>
            <a:off x="502920" y="3145536"/>
            <a:ext cx="1188720" cy="594360"/>
          </a:xfrm>
          <a:prstGeom prst="rect">
            <a:avLst/>
          </a:prstGeom>
          <a:noFill/>
          <a:ln/>
        </p:spPr>
        <p:txBody>
          <a:bodyPr wrap="square" lIns="0" tIns="0" rIns="0" bIns="0" rtlCol="0" anchor="ctr"/>
          <a:lstStyle/>
          <a:p>
            <a:pPr indent="0" marL="0">
              <a:buNone/>
            </a:pPr>
            <a:r>
              <a:rPr lang="en-US" sz="2200" b="1" dirty="0">
                <a:solidFill>
                  <a:srgbClr val="7C3AED"/>
                </a:solidFill>
              </a:rPr>
              <a:t>6.24%</a:t>
            </a:r>
            <a:endParaRPr lang="en-US" sz="2200" dirty="0"/>
          </a:p>
        </p:txBody>
      </p:sp>
      <p:sp>
        <p:nvSpPr>
          <p:cNvPr id="19" name="Shape 17"/>
          <p:cNvSpPr/>
          <p:nvPr/>
        </p:nvSpPr>
        <p:spPr>
          <a:xfrm>
            <a:off x="1783080" y="3374136"/>
            <a:ext cx="5001768" cy="164592"/>
          </a:xfrm>
          <a:prstGeom prst="rect">
            <a:avLst/>
          </a:prstGeom>
          <a:solidFill>
            <a:srgbClr val="7C3AED">
              <a:alpha val="50000"/>
            </a:srgbClr>
          </a:solidFill>
          <a:ln w="12700">
            <a:solidFill>
              <a:srgbClr val="7C3AED"/>
            </a:solidFill>
            <a:prstDash val="solid"/>
          </a:ln>
        </p:spPr>
      </p:sp>
      <p:sp>
        <p:nvSpPr>
          <p:cNvPr id="20" name="Shape 18"/>
          <p:cNvSpPr/>
          <p:nvPr/>
        </p:nvSpPr>
        <p:spPr>
          <a:xfrm>
            <a:off x="1783080" y="3374136"/>
            <a:ext cx="2500884" cy="164592"/>
          </a:xfrm>
          <a:prstGeom prst="rect">
            <a:avLst/>
          </a:prstGeom>
          <a:solidFill>
            <a:srgbClr val="7C3AED"/>
          </a:solidFill>
          <a:ln w="12700">
            <a:solidFill>
              <a:srgbClr val="7C3AED"/>
            </a:solidFill>
            <a:prstDash val="solid"/>
          </a:ln>
        </p:spPr>
      </p:sp>
      <p:sp>
        <p:nvSpPr>
          <p:cNvPr id="21" name="Text 19"/>
          <p:cNvSpPr/>
          <p:nvPr/>
        </p:nvSpPr>
        <p:spPr>
          <a:xfrm>
            <a:off x="1783080" y="3118104"/>
            <a:ext cx="4114800" cy="256032"/>
          </a:xfrm>
          <a:prstGeom prst="rect">
            <a:avLst/>
          </a:prstGeom>
          <a:noFill/>
          <a:ln/>
        </p:spPr>
        <p:txBody>
          <a:bodyPr wrap="square" lIns="0" tIns="0" rIns="0" bIns="0" rtlCol="0" anchor="ctr"/>
          <a:lstStyle/>
          <a:p>
            <a:pPr indent="0" marL="0">
              <a:buNone/>
            </a:pPr>
            <a:r>
              <a:rPr lang="en-US" sz="1100" b="1" dirty="0">
                <a:solidFill>
                  <a:srgbClr val="7C3AED"/>
                </a:solidFill>
              </a:rPr>
              <a:t>Falta de insumos / Desabasto</a:t>
            </a:r>
            <a:endParaRPr lang="en-US" sz="1100" dirty="0"/>
          </a:p>
        </p:txBody>
      </p:sp>
      <p:sp>
        <p:nvSpPr>
          <p:cNvPr id="22" name="Text 20"/>
          <p:cNvSpPr/>
          <p:nvPr/>
        </p:nvSpPr>
        <p:spPr>
          <a:xfrm>
            <a:off x="1783080" y="3584448"/>
            <a:ext cx="6858000" cy="228600"/>
          </a:xfrm>
          <a:prstGeom prst="rect">
            <a:avLst/>
          </a:prstGeom>
          <a:noFill/>
          <a:ln/>
        </p:spPr>
        <p:txBody>
          <a:bodyPr wrap="square" lIns="0" tIns="0" rIns="0" bIns="0" rtlCol="0" anchor="ctr"/>
          <a:lstStyle/>
          <a:p>
            <a:pPr indent="0" marL="0">
              <a:buNone/>
            </a:pPr>
            <a:r>
              <a:rPr lang="en-US" sz="900" dirty="0">
                <a:solidFill>
                  <a:srgbClr val="64748B"/>
                </a:solidFill>
              </a:rPr>
              <a:t>Keywords: desabasto, escasez, no había, faltante — Denota la cadena de suministro rota del sistema público.</a:t>
            </a:r>
            <a:endParaRPr lang="en-US" sz="900" dirty="0"/>
          </a:p>
        </p:txBody>
      </p:sp>
      <p:sp>
        <p:nvSpPr>
          <p:cNvPr id="23" name="Shape 21"/>
          <p:cNvSpPr/>
          <p:nvPr/>
        </p:nvSpPr>
        <p:spPr>
          <a:xfrm>
            <a:off x="365760" y="3950208"/>
            <a:ext cx="8412480" cy="777240"/>
          </a:xfrm>
          <a:prstGeom prst="rect">
            <a:avLst/>
          </a:prstGeom>
          <a:solidFill>
            <a:srgbClr val="1A2538"/>
          </a:solidFill>
          <a:ln w="12700">
            <a:solidFill>
              <a:srgbClr val="1E3A5A"/>
            </a:solidFill>
            <a:prstDash val="solid"/>
          </a:ln>
        </p:spPr>
      </p:sp>
      <p:sp>
        <p:nvSpPr>
          <p:cNvPr id="24" name="Text 22"/>
          <p:cNvSpPr/>
          <p:nvPr/>
        </p:nvSpPr>
        <p:spPr>
          <a:xfrm>
            <a:off x="502920" y="4041648"/>
            <a:ext cx="1188720" cy="594360"/>
          </a:xfrm>
          <a:prstGeom prst="rect">
            <a:avLst/>
          </a:prstGeom>
          <a:noFill/>
          <a:ln/>
        </p:spPr>
        <p:txBody>
          <a:bodyPr wrap="square" lIns="0" tIns="0" rIns="0" bIns="0" rtlCol="0" anchor="ctr"/>
          <a:lstStyle/>
          <a:p>
            <a:pPr indent="0" marL="0">
              <a:buNone/>
            </a:pPr>
            <a:r>
              <a:rPr lang="en-US" sz="2200" b="1" dirty="0">
                <a:solidFill>
                  <a:srgbClr val="0D9488"/>
                </a:solidFill>
              </a:rPr>
              <a:t>5.72%</a:t>
            </a:r>
            <a:endParaRPr lang="en-US" sz="2200" dirty="0"/>
          </a:p>
        </p:txBody>
      </p:sp>
      <p:sp>
        <p:nvSpPr>
          <p:cNvPr id="25" name="Shape 23"/>
          <p:cNvSpPr/>
          <p:nvPr/>
        </p:nvSpPr>
        <p:spPr>
          <a:xfrm>
            <a:off x="1783080" y="4270248"/>
            <a:ext cx="4590288" cy="164592"/>
          </a:xfrm>
          <a:prstGeom prst="rect">
            <a:avLst/>
          </a:prstGeom>
          <a:solidFill>
            <a:srgbClr val="0D9488">
              <a:alpha val="50000"/>
            </a:srgbClr>
          </a:solidFill>
          <a:ln w="12700">
            <a:solidFill>
              <a:srgbClr val="0D9488"/>
            </a:solidFill>
            <a:prstDash val="solid"/>
          </a:ln>
        </p:spPr>
      </p:sp>
      <p:sp>
        <p:nvSpPr>
          <p:cNvPr id="26" name="Shape 24"/>
          <p:cNvSpPr/>
          <p:nvPr/>
        </p:nvSpPr>
        <p:spPr>
          <a:xfrm>
            <a:off x="1783080" y="4270248"/>
            <a:ext cx="2295144" cy="164592"/>
          </a:xfrm>
          <a:prstGeom prst="rect">
            <a:avLst/>
          </a:prstGeom>
          <a:solidFill>
            <a:srgbClr val="0D9488"/>
          </a:solidFill>
          <a:ln w="12700">
            <a:solidFill>
              <a:srgbClr val="0D9488"/>
            </a:solidFill>
            <a:prstDash val="solid"/>
          </a:ln>
        </p:spPr>
      </p:sp>
      <p:sp>
        <p:nvSpPr>
          <p:cNvPr id="27" name="Text 25"/>
          <p:cNvSpPr/>
          <p:nvPr/>
        </p:nvSpPr>
        <p:spPr>
          <a:xfrm>
            <a:off x="1783080" y="4014216"/>
            <a:ext cx="4114800" cy="256032"/>
          </a:xfrm>
          <a:prstGeom prst="rect">
            <a:avLst/>
          </a:prstGeom>
          <a:noFill/>
          <a:ln/>
        </p:spPr>
        <p:txBody>
          <a:bodyPr wrap="square" lIns="0" tIns="0" rIns="0" bIns="0" rtlCol="0" anchor="ctr"/>
          <a:lstStyle/>
          <a:p>
            <a:pPr indent="0" marL="0">
              <a:buNone/>
            </a:pPr>
            <a:r>
              <a:rPr lang="en-US" sz="1100" b="1" dirty="0">
                <a:solidFill>
                  <a:srgbClr val="0D9488"/>
                </a:solidFill>
              </a:rPr>
              <a:t>Sistema roto / Saturación</a:t>
            </a:r>
            <a:endParaRPr lang="en-US" sz="1100" dirty="0"/>
          </a:p>
        </p:txBody>
      </p:sp>
      <p:sp>
        <p:nvSpPr>
          <p:cNvPr id="28" name="Text 26"/>
          <p:cNvSpPr/>
          <p:nvPr/>
        </p:nvSpPr>
        <p:spPr>
          <a:xfrm>
            <a:off x="1783080" y="4480560"/>
            <a:ext cx="6858000" cy="228600"/>
          </a:xfrm>
          <a:prstGeom prst="rect">
            <a:avLst/>
          </a:prstGeom>
          <a:noFill/>
          <a:ln/>
        </p:spPr>
        <p:txBody>
          <a:bodyPr wrap="square" lIns="0" tIns="0" rIns="0" bIns="0" rtlCol="0" anchor="ctr"/>
          <a:lstStyle/>
          <a:p>
            <a:pPr indent="0" marL="0">
              <a:buNone/>
            </a:pPr>
            <a:r>
              <a:rPr lang="en-US" sz="900" dirty="0">
                <a:solidFill>
                  <a:srgbClr val="64748B"/>
                </a:solidFill>
              </a:rPr>
              <a:t>Keywords: saturado, colapsado, lleno, sin camas — Señal directa de colapso operativo hospitalario.</a:t>
            </a:r>
            <a:endParaRPr lang="en-US" sz="900" dirty="0"/>
          </a:p>
        </p:txBody>
      </p:sp>
      <p:sp>
        <p:nvSpPr>
          <p:cNvPr id="29" name="Shape 27"/>
          <p:cNvSpPr/>
          <p:nvPr/>
        </p:nvSpPr>
        <p:spPr>
          <a:xfrm>
            <a:off x="365760" y="4892040"/>
            <a:ext cx="8412480" cy="0"/>
          </a:xfrm>
          <a:prstGeom prst="rect">
            <a:avLst/>
          </a:prstGeom>
          <a:solidFill>
            <a:srgbClr val="64748B"/>
          </a:solidFill>
          <a:ln w="12700">
            <a:solidFill>
              <a:srgbClr val="64748B"/>
            </a:solidFill>
            <a:prstDash val="solid"/>
          </a:ln>
        </p:spPr>
      </p:sp>
      <p:sp>
        <p:nvSpPr>
          <p:cNvPr id="30" name="Text 28"/>
          <p:cNvSpPr/>
          <p:nvPr/>
        </p:nvSpPr>
        <p:spPr>
          <a:xfrm>
            <a:off x="365760" y="4846320"/>
            <a:ext cx="8412480" cy="182880"/>
          </a:xfrm>
          <a:prstGeom prst="rect">
            <a:avLst/>
          </a:prstGeom>
          <a:noFill/>
          <a:ln/>
        </p:spPr>
        <p:txBody>
          <a:bodyPr wrap="square" lIns="0" tIns="0" rIns="0" bIns="0" rtlCol="0" anchor="ctr"/>
          <a:lstStyle/>
          <a:p>
            <a:pPr algn="ctr" indent="0" marL="0">
              <a:buNone/>
            </a:pPr>
            <a:r>
              <a:rPr lang="en-US" sz="950" dirty="0">
                <a:solidFill>
                  <a:srgbClr val="64748B"/>
                </a:solidFill>
              </a:rPr>
              <a:t>Las principales quejas no son sobre la enfermedad en sí, sino sobre la burocracia del sistema: esperas, desabasto y percepción de corrupción.</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256032"/>
            <a:ext cx="3191256" cy="237744"/>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3191256" cy="237744"/>
          </a:xfrm>
          <a:prstGeom prst="rect">
            <a:avLst/>
          </a:prstGeom>
          <a:noFill/>
          <a:ln/>
        </p:spPr>
        <p:txBody>
          <a:bodyPr wrap="square" lIns="0" tIns="0" rIns="0" bIns="0" rtlCol="0" anchor="ctr"/>
          <a:lstStyle/>
          <a:p>
            <a:pPr algn="ctr" indent="0" marL="0">
              <a:buNone/>
            </a:pPr>
            <a:r>
              <a:rPr lang="en-US" sz="800" b="1" dirty="0">
                <a:solidFill>
                  <a:srgbClr val="FFFFFF"/>
                </a:solidFill>
              </a:rPr>
              <a:t>EL FENÓMENO DE LA «ZONA GRIS»</a:t>
            </a:r>
            <a:endParaRPr lang="en-US" sz="800" dirty="0"/>
          </a:p>
        </p:txBody>
      </p:sp>
      <p:sp>
        <p:nvSpPr>
          <p:cNvPr id="4" name="Text 2"/>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Más Allá de la Clasificación Binaria: La Ambigüedad como Dato</a:t>
            </a:r>
            <a:endParaRPr lang="en-US" sz="2600" dirty="0"/>
          </a:p>
        </p:txBody>
      </p:sp>
      <p:sp>
        <p:nvSpPr>
          <p:cNvPr id="5" name="Shape 3"/>
          <p:cNvSpPr/>
          <p:nvPr/>
        </p:nvSpPr>
        <p:spPr>
          <a:xfrm>
            <a:off x="365760" y="1261872"/>
            <a:ext cx="5029200" cy="2743200"/>
          </a:xfrm>
          <a:prstGeom prst="rect">
            <a:avLst>
              <a:gd name="adj" fmla="val 1667"/>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6" name="Shape 4"/>
          <p:cNvSpPr/>
          <p:nvPr/>
        </p:nvSpPr>
        <p:spPr>
          <a:xfrm>
            <a:off x="365760" y="1261872"/>
            <a:ext cx="54864" cy="2743200"/>
          </a:xfrm>
          <a:prstGeom prst="rect">
            <a:avLst/>
          </a:prstGeom>
          <a:solidFill>
            <a:srgbClr val="F59E0B"/>
          </a:solidFill>
          <a:ln w="12700">
            <a:solidFill>
              <a:srgbClr val="F59E0B"/>
            </a:solidFill>
            <a:prstDash val="solid"/>
          </a:ln>
        </p:spPr>
      </p:sp>
      <p:sp>
        <p:nvSpPr>
          <p:cNvPr id="7" name="Text 5"/>
          <p:cNvSpPr/>
          <p:nvPr/>
        </p:nvSpPr>
        <p:spPr>
          <a:xfrm>
            <a:off x="566928" y="1353312"/>
            <a:ext cx="4663440" cy="320040"/>
          </a:xfrm>
          <a:prstGeom prst="rect">
            <a:avLst/>
          </a:prstGeom>
          <a:noFill/>
          <a:ln/>
        </p:spPr>
        <p:txBody>
          <a:bodyPr wrap="square" lIns="0" tIns="0" rIns="0" bIns="0" rtlCol="0" anchor="ctr"/>
          <a:lstStyle/>
          <a:p>
            <a:pPr indent="0" marL="0">
              <a:buNone/>
            </a:pPr>
            <a:r>
              <a:rPr lang="en-US" sz="1300" b="1" dirty="0">
                <a:solidFill>
                  <a:srgbClr val="F59E0B"/>
                </a:solidFill>
              </a:rPr>
              <a:t>Observación Clave</a:t>
            </a:r>
            <a:endParaRPr lang="en-US" sz="1300" dirty="0"/>
          </a:p>
        </p:txBody>
      </p:sp>
      <p:sp>
        <p:nvSpPr>
          <p:cNvPr id="8" name="Text 6"/>
          <p:cNvSpPr/>
          <p:nvPr/>
        </p:nvSpPr>
        <p:spPr>
          <a:xfrm>
            <a:off x="566928" y="1737360"/>
            <a:ext cx="4663440" cy="2148840"/>
          </a:xfrm>
          <a:prstGeom prst="rect">
            <a:avLst/>
          </a:prstGeom>
          <a:noFill/>
          <a:ln/>
        </p:spPr>
        <p:txBody>
          <a:bodyPr wrap="square" lIns="0" tIns="0" rIns="0" bIns="0" rtlCol="0" anchor="ctr"/>
          <a:lstStyle/>
          <a:p>
            <a:pPr indent="0" marL="0">
              <a:buNone/>
            </a:pPr>
            <a:r>
              <a:rPr lang="en-US" sz="1050" dirty="0">
                <a:solidFill>
                  <a:srgbClr val="CBD5E1"/>
                </a:solidFill>
              </a:rPr>
              <a:t>Durante el proceso de evaluación, se identificó que para el 27.2% de los comentarios, los tres clasificadores individuales no se ponían de acuerdo: uno etiquetaba el comentario como «Grave» mientras otro lo clasificaba como «Leve».</a:t>
            </a:r>
            <a:endParaRPr lang="en-US" sz="1050" dirty="0"/>
          </a:p>
          <a:p>
            <a:pPr indent="0" marL="0">
              <a:buNone/>
            </a:pPr>
            <a:endParaRPr lang="en-US" sz="1050" dirty="0"/>
          </a:p>
          <a:p>
            <a:pPr indent="0" marL="0">
              <a:buNone/>
            </a:pPr>
            <a:r>
              <a:rPr lang="en-US" sz="1050" dirty="0">
                <a:solidFill>
                  <a:srgbClr val="CBD5E1"/>
                </a:solidFill>
              </a:rPr>
              <a:t>Esta discrepancia no es un artefacto ni un error del modelo. Es un hallazgo sustantivo que define una «Zona Gris»: comentarios cuya gravedad es semánticamente ambigua.</a:t>
            </a:r>
            <a:endParaRPr lang="en-US" sz="1050" dirty="0"/>
          </a:p>
        </p:txBody>
      </p:sp>
      <p:sp>
        <p:nvSpPr>
          <p:cNvPr id="9" name="Shape 7"/>
          <p:cNvSpPr/>
          <p:nvPr/>
        </p:nvSpPr>
        <p:spPr>
          <a:xfrm>
            <a:off x="365760" y="4069080"/>
            <a:ext cx="5029200" cy="822960"/>
          </a:xfrm>
          <a:prstGeom prst="rect">
            <a:avLst>
              <a:gd name="adj" fmla="val 5556"/>
            </a:avLst>
          </a:prstGeom>
          <a:solidFill>
            <a:srgbClr val="0D2535"/>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0" name="Text 8"/>
          <p:cNvSpPr/>
          <p:nvPr/>
        </p:nvSpPr>
        <p:spPr>
          <a:xfrm>
            <a:off x="548640" y="4133088"/>
            <a:ext cx="4754880" cy="685800"/>
          </a:xfrm>
          <a:prstGeom prst="rect">
            <a:avLst/>
          </a:prstGeom>
          <a:noFill/>
          <a:ln/>
        </p:spPr>
        <p:txBody>
          <a:bodyPr wrap="square" lIns="0" tIns="0" rIns="0" bIns="0" rtlCol="0" anchor="ctr"/>
          <a:lstStyle/>
          <a:p>
            <a:pPr indent="0" marL="0">
              <a:buNone/>
            </a:pPr>
            <a:r>
              <a:rPr lang="en-US" sz="1050" i="1" dirty="0">
                <a:solidFill>
                  <a:srgbClr val="CBD5E1"/>
                </a:solidFill>
              </a:rPr>
              <a:t>«Me dijeron que no había cita, pero me apuntaron en una lista y ya veremos.»</a:t>
            </a:r>
            <a:endParaRPr lang="en-US" sz="1050" dirty="0"/>
          </a:p>
        </p:txBody>
      </p:sp>
      <p:sp>
        <p:nvSpPr>
          <p:cNvPr id="11" name="Shape 9"/>
          <p:cNvSpPr/>
          <p:nvPr/>
        </p:nvSpPr>
        <p:spPr>
          <a:xfrm>
            <a:off x="5669280" y="1261872"/>
            <a:ext cx="3063240" cy="1554480"/>
          </a:xfrm>
          <a:prstGeom prst="rect">
            <a:avLst>
              <a:gd name="adj" fmla="val 2941"/>
            </a:avLst>
          </a:prstGeom>
          <a:solidFill>
            <a:srgbClr val="162032"/>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2" name="Shape 10"/>
          <p:cNvSpPr/>
          <p:nvPr/>
        </p:nvSpPr>
        <p:spPr>
          <a:xfrm>
            <a:off x="5669280" y="1261872"/>
            <a:ext cx="3063240" cy="54864"/>
          </a:xfrm>
          <a:prstGeom prst="rect">
            <a:avLst/>
          </a:prstGeom>
          <a:solidFill>
            <a:srgbClr val="F59E0B"/>
          </a:solidFill>
          <a:ln w="12700">
            <a:solidFill>
              <a:srgbClr val="F59E0B"/>
            </a:solidFill>
            <a:prstDash val="solid"/>
          </a:ln>
        </p:spPr>
      </p:sp>
      <p:sp>
        <p:nvSpPr>
          <p:cNvPr id="13" name="Text 11"/>
          <p:cNvSpPr/>
          <p:nvPr/>
        </p:nvSpPr>
        <p:spPr>
          <a:xfrm>
            <a:off x="5760720" y="1353312"/>
            <a:ext cx="2880360" cy="777240"/>
          </a:xfrm>
          <a:prstGeom prst="rect">
            <a:avLst/>
          </a:prstGeom>
          <a:noFill/>
          <a:ln/>
        </p:spPr>
        <p:txBody>
          <a:bodyPr wrap="square" lIns="0" tIns="0" rIns="0" bIns="0" rtlCol="0" anchor="ctr"/>
          <a:lstStyle/>
          <a:p>
            <a:pPr algn="ctr" indent="0" marL="0">
              <a:buNone/>
            </a:pPr>
            <a:r>
              <a:rPr lang="en-US" sz="4800" b="1" dirty="0">
                <a:solidFill>
                  <a:srgbClr val="F59E0B"/>
                </a:solidFill>
              </a:rPr>
              <a:t>27.2%</a:t>
            </a:r>
            <a:endParaRPr lang="en-US" sz="4800" dirty="0"/>
          </a:p>
        </p:txBody>
      </p:sp>
      <p:sp>
        <p:nvSpPr>
          <p:cNvPr id="14" name="Text 12"/>
          <p:cNvSpPr/>
          <p:nvPr/>
        </p:nvSpPr>
        <p:spPr>
          <a:xfrm>
            <a:off x="5760720" y="2103120"/>
            <a:ext cx="2880360" cy="274320"/>
          </a:xfrm>
          <a:prstGeom prst="rect">
            <a:avLst/>
          </a:prstGeom>
          <a:noFill/>
          <a:ln/>
        </p:spPr>
        <p:txBody>
          <a:bodyPr wrap="square" lIns="0" tIns="0" rIns="0" bIns="0" rtlCol="0" anchor="ctr"/>
          <a:lstStyle/>
          <a:p>
            <a:pPr algn="ctr" indent="0" marL="0">
              <a:buNone/>
            </a:pPr>
            <a:r>
              <a:rPr lang="en-US" sz="1100" b="1" dirty="0">
                <a:solidFill>
                  <a:srgbClr val="F59E0B"/>
                </a:solidFill>
              </a:rPr>
              <a:t>Zona Gris</a:t>
            </a:r>
            <a:endParaRPr lang="en-US" sz="1100" dirty="0"/>
          </a:p>
        </p:txBody>
      </p:sp>
      <p:sp>
        <p:nvSpPr>
          <p:cNvPr id="15" name="Text 13"/>
          <p:cNvSpPr/>
          <p:nvPr/>
        </p:nvSpPr>
        <p:spPr>
          <a:xfrm>
            <a:off x="5760720" y="2377440"/>
            <a:ext cx="2880360" cy="384048"/>
          </a:xfrm>
          <a:prstGeom prst="rect">
            <a:avLst/>
          </a:prstGeom>
          <a:noFill/>
          <a:ln/>
        </p:spPr>
        <p:txBody>
          <a:bodyPr wrap="square" lIns="0" tIns="0" rIns="0" bIns="0" rtlCol="0" anchor="ctr"/>
          <a:lstStyle/>
          <a:p>
            <a:pPr algn="ctr" indent="0" marL="0">
              <a:buNone/>
            </a:pPr>
            <a:r>
              <a:rPr lang="en-US" sz="950" dirty="0">
                <a:solidFill>
                  <a:srgbClr val="CBD5E1"/>
                </a:solidFill>
              </a:rPr>
              <a:t>Proporción de comentarios donde los clasificadores individuales discreparon.</a:t>
            </a:r>
            <a:endParaRPr lang="en-US" sz="950" dirty="0"/>
          </a:p>
        </p:txBody>
      </p:sp>
      <p:sp>
        <p:nvSpPr>
          <p:cNvPr id="16" name="Shape 14"/>
          <p:cNvSpPr/>
          <p:nvPr/>
        </p:nvSpPr>
        <p:spPr>
          <a:xfrm>
            <a:off x="5669280" y="3090672"/>
            <a:ext cx="3063240" cy="1554480"/>
          </a:xfrm>
          <a:prstGeom prst="rect">
            <a:avLst>
              <a:gd name="adj" fmla="val 2941"/>
            </a:avLst>
          </a:prstGeom>
          <a:solidFill>
            <a:srgbClr val="162032"/>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7" name="Shape 15"/>
          <p:cNvSpPr/>
          <p:nvPr/>
        </p:nvSpPr>
        <p:spPr>
          <a:xfrm>
            <a:off x="5669280" y="3090672"/>
            <a:ext cx="3063240" cy="54864"/>
          </a:xfrm>
          <a:prstGeom prst="rect">
            <a:avLst/>
          </a:prstGeom>
          <a:solidFill>
            <a:srgbClr val="10B981"/>
          </a:solidFill>
          <a:ln w="12700">
            <a:solidFill>
              <a:srgbClr val="10B981"/>
            </a:solidFill>
            <a:prstDash val="solid"/>
          </a:ln>
        </p:spPr>
      </p:sp>
      <p:sp>
        <p:nvSpPr>
          <p:cNvPr id="18" name="Text 16"/>
          <p:cNvSpPr/>
          <p:nvPr/>
        </p:nvSpPr>
        <p:spPr>
          <a:xfrm>
            <a:off x="5760720" y="3182112"/>
            <a:ext cx="2880360" cy="777240"/>
          </a:xfrm>
          <a:prstGeom prst="rect">
            <a:avLst/>
          </a:prstGeom>
          <a:noFill/>
          <a:ln/>
        </p:spPr>
        <p:txBody>
          <a:bodyPr wrap="square" lIns="0" tIns="0" rIns="0" bIns="0" rtlCol="0" anchor="ctr"/>
          <a:lstStyle/>
          <a:p>
            <a:pPr algn="ctr" indent="0" marL="0">
              <a:buNone/>
            </a:pPr>
            <a:r>
              <a:rPr lang="en-US" sz="4800" b="1" dirty="0">
                <a:solidFill>
                  <a:srgbClr val="10B981"/>
                </a:solidFill>
              </a:rPr>
              <a:t>78.4%</a:t>
            </a:r>
            <a:endParaRPr lang="en-US" sz="4800" dirty="0"/>
          </a:p>
        </p:txBody>
      </p:sp>
      <p:sp>
        <p:nvSpPr>
          <p:cNvPr id="19" name="Text 17"/>
          <p:cNvSpPr/>
          <p:nvPr/>
        </p:nvSpPr>
        <p:spPr>
          <a:xfrm>
            <a:off x="5760720" y="3931920"/>
            <a:ext cx="2880360" cy="274320"/>
          </a:xfrm>
          <a:prstGeom prst="rect">
            <a:avLst/>
          </a:prstGeom>
          <a:noFill/>
          <a:ln/>
        </p:spPr>
        <p:txBody>
          <a:bodyPr wrap="square" lIns="0" tIns="0" rIns="0" bIns="0" rtlCol="0" anchor="ctr"/>
          <a:lstStyle/>
          <a:p>
            <a:pPr algn="ctr" indent="0" marL="0">
              <a:buNone/>
            </a:pPr>
            <a:r>
              <a:rPr lang="en-US" sz="1100" b="1" dirty="0">
                <a:solidFill>
                  <a:srgbClr val="10B981"/>
                </a:solidFill>
              </a:rPr>
              <a:t>Casos resueltos</a:t>
            </a:r>
            <a:endParaRPr lang="en-US" sz="1100" dirty="0"/>
          </a:p>
        </p:txBody>
      </p:sp>
      <p:sp>
        <p:nvSpPr>
          <p:cNvPr id="20" name="Text 18"/>
          <p:cNvSpPr/>
          <p:nvPr/>
        </p:nvSpPr>
        <p:spPr>
          <a:xfrm>
            <a:off x="5760720" y="4206240"/>
            <a:ext cx="2880360" cy="384048"/>
          </a:xfrm>
          <a:prstGeom prst="rect">
            <a:avLst/>
          </a:prstGeom>
          <a:noFill/>
          <a:ln/>
        </p:spPr>
        <p:txBody>
          <a:bodyPr wrap="square" lIns="0" tIns="0" rIns="0" bIns="0" rtlCol="0" anchor="ctr"/>
          <a:lstStyle/>
          <a:p>
            <a:pPr algn="ctr" indent="0" marL="0">
              <a:buNone/>
            </a:pPr>
            <a:r>
              <a:rPr lang="en-US" sz="950" dirty="0">
                <a:solidFill>
                  <a:srgbClr val="CBD5E1"/>
                </a:solidFill>
              </a:rPr>
              <a:t>El VotingEnsemble resolvió correctamente esta proporción de los casos dudosos.</a:t>
            </a:r>
            <a:endParaRPr lang="en-US" sz="950" dirty="0"/>
          </a:p>
        </p:txBody>
      </p:sp>
      <p:sp>
        <p:nvSpPr>
          <p:cNvPr id="21" name="Shape 19"/>
          <p:cNvSpPr/>
          <p:nvPr/>
        </p:nvSpPr>
        <p:spPr>
          <a:xfrm>
            <a:off x="5669280" y="4892040"/>
            <a:ext cx="3063240" cy="22860"/>
          </a:xfrm>
          <a:prstGeom prst="rect">
            <a:avLst/>
          </a:prstGeom>
          <a:solidFill>
            <a:srgbClr val="64748B"/>
          </a:solidFill>
          <a:ln w="12700">
            <a:solidFill>
              <a:srgbClr val="64748B"/>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256032"/>
            <a:ext cx="2084832" cy="237744"/>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2084832" cy="237744"/>
          </a:xfrm>
          <a:prstGeom prst="rect">
            <a:avLst/>
          </a:prstGeom>
          <a:noFill/>
          <a:ln/>
        </p:spPr>
        <p:txBody>
          <a:bodyPr wrap="square" lIns="0" tIns="0" rIns="0" bIns="0" rtlCol="0" anchor="ctr"/>
          <a:lstStyle/>
          <a:p>
            <a:pPr algn="ctr" indent="0" marL="0">
              <a:buNone/>
            </a:pPr>
            <a:r>
              <a:rPr lang="en-US" sz="800" b="1" dirty="0">
                <a:solidFill>
                  <a:srgbClr val="FFFFFF"/>
                </a:solidFill>
              </a:rPr>
              <a:t>VALIDACIÓN EXTERNA</a:t>
            </a:r>
            <a:endParaRPr lang="en-US" sz="800" dirty="0"/>
          </a:p>
        </p:txBody>
      </p:sp>
      <p:sp>
        <p:nvSpPr>
          <p:cNvPr id="4" name="Text 2"/>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Nuestro Modelo vs. La Evidencia Epidemiológica y Económica</a:t>
            </a:r>
            <a:endParaRPr lang="en-US" sz="2600" dirty="0"/>
          </a:p>
        </p:txBody>
      </p:sp>
      <p:sp>
        <p:nvSpPr>
          <p:cNvPr id="5" name="Text 3"/>
          <p:cNvSpPr/>
          <p:nvPr/>
        </p:nvSpPr>
        <p:spPr>
          <a:xfrm>
            <a:off x="457200" y="1188720"/>
            <a:ext cx="8229600" cy="365760"/>
          </a:xfrm>
          <a:prstGeom prst="rect">
            <a:avLst/>
          </a:prstGeom>
          <a:noFill/>
          <a:ln/>
        </p:spPr>
        <p:txBody>
          <a:bodyPr wrap="square" lIns="0" tIns="0" rIns="0" bIns="0" rtlCol="0" anchor="ctr"/>
          <a:lstStyle/>
          <a:p>
            <a:pPr indent="0" marL="0">
              <a:buNone/>
            </a:pPr>
            <a:r>
              <a:rPr lang="en-US" sz="1050" dirty="0">
                <a:solidFill>
                  <a:srgbClr val="64748B"/>
                </a:solidFill>
              </a:rPr>
              <a:t>Coherencia estructural entre la percepción ciudadana en lenguaje natural (Reddit México) y los indicadores macroeconómicos y epidemiológicos de organismos internacionales (OCDE / OPS).</a:t>
            </a:r>
            <a:endParaRPr lang="en-US" sz="1050" dirty="0"/>
          </a:p>
        </p:txBody>
      </p:sp>
      <p:sp>
        <p:nvSpPr>
          <p:cNvPr id="6" name="Shape 4"/>
          <p:cNvSpPr/>
          <p:nvPr/>
        </p:nvSpPr>
        <p:spPr>
          <a:xfrm>
            <a:off x="365760" y="1664208"/>
            <a:ext cx="4114800" cy="347472"/>
          </a:xfrm>
          <a:prstGeom prst="rect">
            <a:avLst/>
          </a:prstGeom>
          <a:solidFill>
            <a:srgbClr val="0D9488"/>
          </a:solidFill>
          <a:ln w="12700">
            <a:solidFill>
              <a:srgbClr val="0D9488"/>
            </a:solidFill>
            <a:prstDash val="solid"/>
          </a:ln>
        </p:spPr>
      </p:sp>
      <p:sp>
        <p:nvSpPr>
          <p:cNvPr id="7" name="Text 5"/>
          <p:cNvSpPr/>
          <p:nvPr/>
        </p:nvSpPr>
        <p:spPr>
          <a:xfrm>
            <a:off x="502920" y="1664208"/>
            <a:ext cx="3840480" cy="347472"/>
          </a:xfrm>
          <a:prstGeom prst="rect">
            <a:avLst/>
          </a:prstGeom>
          <a:noFill/>
          <a:ln/>
        </p:spPr>
        <p:txBody>
          <a:bodyPr wrap="square" lIns="0" tIns="0" rIns="0" bIns="0" rtlCol="0" anchor="ctr"/>
          <a:lstStyle/>
          <a:p>
            <a:pPr indent="0" marL="0">
              <a:buNone/>
            </a:pPr>
            <a:r>
              <a:rPr lang="en-US" sz="1050" b="1" dirty="0">
                <a:solidFill>
                  <a:srgbClr val="FFFFFF"/>
                </a:solidFill>
              </a:rPr>
              <a:t>Lo que dice nuestro modelo (NLP sobre Reddit)</a:t>
            </a:r>
            <a:endParaRPr lang="en-US" sz="1050" dirty="0"/>
          </a:p>
        </p:txBody>
      </p:sp>
      <p:sp>
        <p:nvSpPr>
          <p:cNvPr id="8" name="Shape 6"/>
          <p:cNvSpPr/>
          <p:nvPr/>
        </p:nvSpPr>
        <p:spPr>
          <a:xfrm>
            <a:off x="4663440" y="1664208"/>
            <a:ext cx="4114800" cy="347472"/>
          </a:xfrm>
          <a:prstGeom prst="rect">
            <a:avLst/>
          </a:prstGeom>
          <a:solidFill>
            <a:srgbClr val="F59E0B"/>
          </a:solidFill>
          <a:ln w="12700">
            <a:solidFill>
              <a:srgbClr val="F59E0B"/>
            </a:solidFill>
            <a:prstDash val="solid"/>
          </a:ln>
        </p:spPr>
      </p:sp>
      <p:sp>
        <p:nvSpPr>
          <p:cNvPr id="9" name="Text 7"/>
          <p:cNvSpPr/>
          <p:nvPr/>
        </p:nvSpPr>
        <p:spPr>
          <a:xfrm>
            <a:off x="4800600" y="1664208"/>
            <a:ext cx="3840480" cy="347472"/>
          </a:xfrm>
          <a:prstGeom prst="rect">
            <a:avLst/>
          </a:prstGeom>
          <a:noFill/>
          <a:ln/>
        </p:spPr>
        <p:txBody>
          <a:bodyPr wrap="square" lIns="0" tIns="0" rIns="0" bIns="0" rtlCol="0" anchor="ctr"/>
          <a:lstStyle/>
          <a:p>
            <a:pPr indent="0" marL="0">
              <a:buNone/>
            </a:pPr>
            <a:r>
              <a:rPr lang="en-US" sz="1050" b="1" dirty="0">
                <a:solidFill>
                  <a:srgbClr val="0B1120"/>
                </a:solidFill>
              </a:rPr>
              <a:t>Lo que confirman los datos duros (OCDE / OPS)</a:t>
            </a:r>
            <a:endParaRPr lang="en-US" sz="1050" dirty="0"/>
          </a:p>
        </p:txBody>
      </p:sp>
      <p:sp>
        <p:nvSpPr>
          <p:cNvPr id="10" name="Shape 8"/>
          <p:cNvSpPr/>
          <p:nvPr/>
        </p:nvSpPr>
        <p:spPr>
          <a:xfrm>
            <a:off x="365760" y="2148840"/>
            <a:ext cx="4114800" cy="1143000"/>
          </a:xfrm>
          <a:prstGeom prst="rect">
            <a:avLst>
              <a:gd name="adj" fmla="val 4000"/>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1" name="Text 9"/>
          <p:cNvSpPr/>
          <p:nvPr/>
        </p:nvSpPr>
        <p:spPr>
          <a:xfrm>
            <a:off x="502920" y="2240280"/>
            <a:ext cx="3840480" cy="960120"/>
          </a:xfrm>
          <a:prstGeom prst="rect">
            <a:avLst/>
          </a:prstGeom>
          <a:noFill/>
          <a:ln/>
        </p:spPr>
        <p:txBody>
          <a:bodyPr wrap="square" lIns="0" tIns="0" rIns="0" bIns="0" rtlCol="0" anchor="ctr"/>
          <a:lstStyle/>
          <a:p>
            <a:pPr indent="0" marL="0">
              <a:buNone/>
            </a:pPr>
            <a:r>
              <a:rPr lang="en-US" sz="1050" dirty="0">
                <a:solidFill>
                  <a:srgbClr val="FFFFFF"/>
                </a:solidFill>
              </a:rPr>
              <a:t>10.46% de las quejas graves mencionan «Tiempo de Espera» como dimensión central del fallo sistémico.</a:t>
            </a:r>
            <a:endParaRPr lang="en-US" sz="1050" dirty="0"/>
          </a:p>
        </p:txBody>
      </p:sp>
      <p:sp>
        <p:nvSpPr>
          <p:cNvPr id="12" name="Shape 10"/>
          <p:cNvSpPr/>
          <p:nvPr/>
        </p:nvSpPr>
        <p:spPr>
          <a:xfrm>
            <a:off x="4663440" y="2148840"/>
            <a:ext cx="4114800" cy="1143000"/>
          </a:xfrm>
          <a:prstGeom prst="rect">
            <a:avLst>
              <a:gd name="adj" fmla="val 4000"/>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3" name="Text 11"/>
          <p:cNvSpPr/>
          <p:nvPr/>
        </p:nvSpPr>
        <p:spPr>
          <a:xfrm>
            <a:off x="4800600" y="2240280"/>
            <a:ext cx="3840480" cy="960120"/>
          </a:xfrm>
          <a:prstGeom prst="rect">
            <a:avLst/>
          </a:prstGeom>
          <a:noFill/>
          <a:ln/>
        </p:spPr>
        <p:txBody>
          <a:bodyPr wrap="square" lIns="0" tIns="0" rIns="0" bIns="0" rtlCol="0" anchor="ctr"/>
          <a:lstStyle/>
          <a:p>
            <a:pPr indent="0" marL="0">
              <a:buNone/>
            </a:pPr>
            <a:r>
              <a:rPr lang="en-US" sz="1050" dirty="0">
                <a:solidFill>
                  <a:srgbClr val="FFFFFF"/>
                </a:solidFill>
              </a:rPr>
              <a:t>El 83% de los pacientes graves de A/H1N1 llegaron tarde al hospital por saturación y burocracia (OPS, 2010).</a:t>
            </a:r>
            <a:endParaRPr lang="en-US" sz="1050" dirty="0"/>
          </a:p>
        </p:txBody>
      </p:sp>
      <p:sp>
        <p:nvSpPr>
          <p:cNvPr id="14" name="Shape 12"/>
          <p:cNvSpPr/>
          <p:nvPr/>
        </p:nvSpPr>
        <p:spPr>
          <a:xfrm>
            <a:off x="4297680" y="2514600"/>
            <a:ext cx="548640" cy="411480"/>
          </a:xfrm>
          <a:prstGeom prst="ellipse">
            <a:avLst/>
          </a:prstGeom>
          <a:solidFill>
            <a:srgbClr val="64748B">
              <a:alpha val="50000"/>
            </a:srgbClr>
          </a:solidFill>
          <a:ln w="12700">
            <a:solidFill>
              <a:srgbClr val="64748B"/>
            </a:solidFill>
            <a:prstDash val="solid"/>
          </a:ln>
        </p:spPr>
      </p:sp>
      <p:sp>
        <p:nvSpPr>
          <p:cNvPr id="15" name="Text 13"/>
          <p:cNvSpPr/>
          <p:nvPr/>
        </p:nvSpPr>
        <p:spPr>
          <a:xfrm>
            <a:off x="4297680" y="2514600"/>
            <a:ext cx="548640" cy="411480"/>
          </a:xfrm>
          <a:prstGeom prst="rect">
            <a:avLst/>
          </a:prstGeom>
          <a:noFill/>
          <a:ln/>
        </p:spPr>
        <p:txBody>
          <a:bodyPr wrap="square" lIns="0" tIns="0" rIns="0" bIns="0" rtlCol="0" anchor="ctr"/>
          <a:lstStyle/>
          <a:p>
            <a:pPr algn="ctr" indent="0" marL="0">
              <a:buNone/>
            </a:pPr>
            <a:r>
              <a:rPr lang="en-US" sz="1600" dirty="0">
                <a:solidFill>
                  <a:srgbClr val="FFFFFF"/>
                </a:solidFill>
              </a:rPr>
              <a:t>↔</a:t>
            </a:r>
            <a:endParaRPr lang="en-US" sz="1600" dirty="0"/>
          </a:p>
        </p:txBody>
      </p:sp>
      <p:sp>
        <p:nvSpPr>
          <p:cNvPr id="16" name="Shape 14"/>
          <p:cNvSpPr/>
          <p:nvPr/>
        </p:nvSpPr>
        <p:spPr>
          <a:xfrm>
            <a:off x="365760" y="3474720"/>
            <a:ext cx="4114800" cy="1143000"/>
          </a:xfrm>
          <a:prstGeom prst="rect">
            <a:avLst>
              <a:gd name="adj" fmla="val 4000"/>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7" name="Text 15"/>
          <p:cNvSpPr/>
          <p:nvPr/>
        </p:nvSpPr>
        <p:spPr>
          <a:xfrm>
            <a:off x="502920" y="3566160"/>
            <a:ext cx="3840480" cy="960120"/>
          </a:xfrm>
          <a:prstGeom prst="rect">
            <a:avLst/>
          </a:prstGeom>
          <a:noFill/>
          <a:ln/>
        </p:spPr>
        <p:txBody>
          <a:bodyPr wrap="square" lIns="0" tIns="0" rIns="0" bIns="0" rtlCol="0" anchor="ctr"/>
          <a:lstStyle/>
          <a:p>
            <a:pPr indent="0" marL="0">
              <a:buNone/>
            </a:pPr>
            <a:r>
              <a:rPr lang="en-US" sz="1050" dirty="0">
                <a:solidFill>
                  <a:srgbClr val="FFFFFF"/>
                </a:solidFill>
              </a:rPr>
              <a:t>6.24% de las quejas graves mencionan «Desabasto de Insumos», evidenciando una cadena de suministro rota.</a:t>
            </a:r>
            <a:endParaRPr lang="en-US" sz="1050" dirty="0"/>
          </a:p>
        </p:txBody>
      </p:sp>
      <p:sp>
        <p:nvSpPr>
          <p:cNvPr id="18" name="Shape 16"/>
          <p:cNvSpPr/>
          <p:nvPr/>
        </p:nvSpPr>
        <p:spPr>
          <a:xfrm>
            <a:off x="4663440" y="3474720"/>
            <a:ext cx="4114800" cy="1143000"/>
          </a:xfrm>
          <a:prstGeom prst="rect">
            <a:avLst>
              <a:gd name="adj" fmla="val 4000"/>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9" name="Text 17"/>
          <p:cNvSpPr/>
          <p:nvPr/>
        </p:nvSpPr>
        <p:spPr>
          <a:xfrm>
            <a:off x="4800600" y="3566160"/>
            <a:ext cx="3840480" cy="960120"/>
          </a:xfrm>
          <a:prstGeom prst="rect">
            <a:avLst/>
          </a:prstGeom>
          <a:noFill/>
          <a:ln/>
        </p:spPr>
        <p:txBody>
          <a:bodyPr wrap="square" lIns="0" tIns="0" rIns="0" bIns="0" rtlCol="0" anchor="ctr"/>
          <a:lstStyle/>
          <a:p>
            <a:pPr indent="0" marL="0">
              <a:buNone/>
            </a:pPr>
            <a:r>
              <a:rPr lang="en-US" sz="1050" dirty="0">
                <a:solidFill>
                  <a:srgbClr val="FFFFFF"/>
                </a:solidFill>
              </a:rPr>
              <a:t>México tiene un Gasto de Bolsillo en Salud superior al 40% del gasto total en salud (OCDE, 2025). La gente compra por fuera lo que el sistema no provee.</a:t>
            </a:r>
            <a:endParaRPr lang="en-US" sz="1050" dirty="0"/>
          </a:p>
        </p:txBody>
      </p:sp>
      <p:sp>
        <p:nvSpPr>
          <p:cNvPr id="20" name="Shape 18"/>
          <p:cNvSpPr/>
          <p:nvPr/>
        </p:nvSpPr>
        <p:spPr>
          <a:xfrm>
            <a:off x="4297680" y="3840480"/>
            <a:ext cx="548640" cy="411480"/>
          </a:xfrm>
          <a:prstGeom prst="ellipse">
            <a:avLst/>
          </a:prstGeom>
          <a:solidFill>
            <a:srgbClr val="64748B">
              <a:alpha val="50000"/>
            </a:srgbClr>
          </a:solidFill>
          <a:ln w="12700">
            <a:solidFill>
              <a:srgbClr val="64748B"/>
            </a:solidFill>
            <a:prstDash val="solid"/>
          </a:ln>
        </p:spPr>
      </p:sp>
      <p:sp>
        <p:nvSpPr>
          <p:cNvPr id="21" name="Text 19"/>
          <p:cNvSpPr/>
          <p:nvPr/>
        </p:nvSpPr>
        <p:spPr>
          <a:xfrm>
            <a:off x="4297680" y="3840480"/>
            <a:ext cx="548640" cy="411480"/>
          </a:xfrm>
          <a:prstGeom prst="rect">
            <a:avLst/>
          </a:prstGeom>
          <a:noFill/>
          <a:ln/>
        </p:spPr>
        <p:txBody>
          <a:bodyPr wrap="square" lIns="0" tIns="0" rIns="0" bIns="0" rtlCol="0" anchor="ctr"/>
          <a:lstStyle/>
          <a:p>
            <a:pPr algn="ctr" indent="0" marL="0">
              <a:buNone/>
            </a:pPr>
            <a:r>
              <a:rPr lang="en-US" sz="1600" dirty="0">
                <a:solidFill>
                  <a:srgbClr val="FFFFFF"/>
                </a:solidFill>
              </a:rPr>
              <a:t>↔</a:t>
            </a:r>
            <a:endParaRPr lang="en-US" sz="1600" dirty="0"/>
          </a:p>
        </p:txBody>
      </p:sp>
      <p:sp>
        <p:nvSpPr>
          <p:cNvPr id="22" name="Shape 20"/>
          <p:cNvSpPr/>
          <p:nvPr/>
        </p:nvSpPr>
        <p:spPr>
          <a:xfrm>
            <a:off x="365760" y="4773168"/>
            <a:ext cx="8412480" cy="182880"/>
          </a:xfrm>
          <a:prstGeom prst="rect">
            <a:avLst/>
          </a:prstGeom>
          <a:solidFill>
            <a:srgbClr val="10B981">
              <a:alpha val="18000"/>
            </a:srgbClr>
          </a:solidFill>
          <a:ln w="12700">
            <a:solidFill>
              <a:srgbClr val="10B981"/>
            </a:solidFill>
            <a:prstDash val="solid"/>
          </a:ln>
        </p:spPr>
      </p:sp>
      <p:sp>
        <p:nvSpPr>
          <p:cNvPr id="23" name="Text 21"/>
          <p:cNvSpPr/>
          <p:nvPr/>
        </p:nvSpPr>
        <p:spPr>
          <a:xfrm>
            <a:off x="502920" y="4791456"/>
            <a:ext cx="8229600" cy="164592"/>
          </a:xfrm>
          <a:prstGeom prst="rect">
            <a:avLst/>
          </a:prstGeom>
          <a:noFill/>
          <a:ln/>
        </p:spPr>
        <p:txBody>
          <a:bodyPr wrap="square" lIns="0" tIns="0" rIns="0" bIns="0" rtlCol="0" anchor="ctr"/>
          <a:lstStyle/>
          <a:p>
            <a:pPr indent="0" marL="0">
              <a:buNone/>
            </a:pPr>
            <a:r>
              <a:rPr lang="en-US" sz="950" dirty="0">
                <a:solidFill>
                  <a:srgbClr val="FFFFFF"/>
                </a:solidFill>
              </a:rPr>
              <a:t>La minería de opinión en redes sociales no es un pasatiempo: es una fuente de evidencia complementaria con validez externa contrastable.</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256032"/>
            <a:ext cx="2788920" cy="237744"/>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2788920" cy="237744"/>
          </a:xfrm>
          <a:prstGeom prst="rect">
            <a:avLst/>
          </a:prstGeom>
          <a:noFill/>
          <a:ln/>
        </p:spPr>
        <p:txBody>
          <a:bodyPr wrap="square" lIns="0" tIns="0" rIns="0" bIns="0" rtlCol="0" anchor="ctr"/>
          <a:lstStyle/>
          <a:p>
            <a:pPr algn="ctr" indent="0" marL="0">
              <a:buNone/>
            </a:pPr>
            <a:r>
              <a:rPr lang="en-US" sz="800" b="1" dirty="0">
                <a:solidFill>
                  <a:srgbClr val="FFFFFF"/>
                </a:solidFill>
              </a:rPr>
              <a:t>CONCLUSIONES DEL PROYECTO</a:t>
            </a:r>
            <a:endParaRPr lang="en-US" sz="800" dirty="0"/>
          </a:p>
        </p:txBody>
      </p:sp>
      <p:sp>
        <p:nvSpPr>
          <p:cNvPr id="4" name="Text 2"/>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¿Qué aprendimos y qué aporta este trabajo?</a:t>
            </a:r>
            <a:endParaRPr lang="en-US" sz="2600" dirty="0"/>
          </a:p>
        </p:txBody>
      </p:sp>
      <p:sp>
        <p:nvSpPr>
          <p:cNvPr id="5" name="Shape 3"/>
          <p:cNvSpPr/>
          <p:nvPr/>
        </p:nvSpPr>
        <p:spPr>
          <a:xfrm>
            <a:off x="365760" y="1261872"/>
            <a:ext cx="8412480" cy="1115568"/>
          </a:xfrm>
          <a:prstGeom prst="rect">
            <a:avLst>
              <a:gd name="adj" fmla="val 4098"/>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6" name="Shape 4"/>
          <p:cNvSpPr/>
          <p:nvPr/>
        </p:nvSpPr>
        <p:spPr>
          <a:xfrm>
            <a:off x="548640" y="1581912"/>
            <a:ext cx="475488" cy="475488"/>
          </a:xfrm>
          <a:prstGeom prst="ellipse">
            <a:avLst/>
          </a:prstGeom>
          <a:solidFill>
            <a:srgbClr val="0D9488"/>
          </a:solidFill>
          <a:ln w="12700">
            <a:solidFill>
              <a:srgbClr val="0D9488"/>
            </a:solidFill>
            <a:prstDash val="solid"/>
          </a:ln>
        </p:spPr>
      </p:sp>
      <p:sp>
        <p:nvSpPr>
          <p:cNvPr id="7" name="Text 5"/>
          <p:cNvSpPr/>
          <p:nvPr/>
        </p:nvSpPr>
        <p:spPr>
          <a:xfrm>
            <a:off x="548640" y="158191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8" name="Text 6"/>
          <p:cNvSpPr/>
          <p:nvPr/>
        </p:nvSpPr>
        <p:spPr>
          <a:xfrm>
            <a:off x="1207008" y="1353312"/>
            <a:ext cx="7406640" cy="292608"/>
          </a:xfrm>
          <a:prstGeom prst="rect">
            <a:avLst/>
          </a:prstGeom>
          <a:noFill/>
          <a:ln/>
        </p:spPr>
        <p:txBody>
          <a:bodyPr wrap="square" lIns="0" tIns="0" rIns="0" bIns="0" rtlCol="0" anchor="ctr"/>
          <a:lstStyle/>
          <a:p>
            <a:pPr indent="0" marL="0">
              <a:buNone/>
            </a:pPr>
            <a:r>
              <a:rPr lang="en-US" sz="1200" b="1" dirty="0">
                <a:solidFill>
                  <a:srgbClr val="0D9488"/>
                </a:solidFill>
              </a:rPr>
              <a:t>Evidencia Complementaria para Políticas Públicas</a:t>
            </a:r>
            <a:endParaRPr lang="en-US" sz="1200" dirty="0"/>
          </a:p>
        </p:txBody>
      </p:sp>
      <p:sp>
        <p:nvSpPr>
          <p:cNvPr id="9" name="Text 7"/>
          <p:cNvSpPr/>
          <p:nvPr/>
        </p:nvSpPr>
        <p:spPr>
          <a:xfrm>
            <a:off x="1207008" y="1664208"/>
            <a:ext cx="7406640" cy="658368"/>
          </a:xfrm>
          <a:prstGeom prst="rect">
            <a:avLst/>
          </a:prstGeom>
          <a:noFill/>
          <a:ln/>
        </p:spPr>
        <p:txBody>
          <a:bodyPr wrap="square" lIns="0" tIns="0" rIns="0" bIns="0" rtlCol="0" anchor="ctr"/>
          <a:lstStyle/>
          <a:p>
            <a:pPr indent="0" marL="0">
              <a:buNone/>
            </a:pPr>
            <a:r>
              <a:rPr lang="en-US" sz="1000" dirty="0">
                <a:solidFill>
                  <a:srgbClr val="CBD5E1"/>
                </a:solidFill>
              </a:rPr>
              <a:t>La minería de opinión sobre Reddit captura dimensiones de falla —corrupción percibida, desabasto, rechazos hospitalarios— que los mecanismos de vigilancia epidemiológica formal como el SINAVE son, por diseño estructural, incapaces de registrar. Los datos no estructurados de redes sociales constituyen una capa de inteligencia sanitaria inexplorada.</a:t>
            </a:r>
            <a:endParaRPr lang="en-US" sz="1000" dirty="0"/>
          </a:p>
        </p:txBody>
      </p:sp>
      <p:sp>
        <p:nvSpPr>
          <p:cNvPr id="10" name="Shape 8"/>
          <p:cNvSpPr/>
          <p:nvPr/>
        </p:nvSpPr>
        <p:spPr>
          <a:xfrm>
            <a:off x="365760" y="2523744"/>
            <a:ext cx="8412480" cy="1115568"/>
          </a:xfrm>
          <a:prstGeom prst="rect">
            <a:avLst>
              <a:gd name="adj" fmla="val 4098"/>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1" name="Shape 9"/>
          <p:cNvSpPr/>
          <p:nvPr/>
        </p:nvSpPr>
        <p:spPr>
          <a:xfrm>
            <a:off x="548640" y="2843784"/>
            <a:ext cx="475488" cy="475488"/>
          </a:xfrm>
          <a:prstGeom prst="ellipse">
            <a:avLst/>
          </a:prstGeom>
          <a:solidFill>
            <a:srgbClr val="F59E0B"/>
          </a:solidFill>
          <a:ln w="12700">
            <a:solidFill>
              <a:srgbClr val="F59E0B"/>
            </a:solidFill>
            <a:prstDash val="solid"/>
          </a:ln>
        </p:spPr>
      </p:sp>
      <p:sp>
        <p:nvSpPr>
          <p:cNvPr id="12" name="Text 10"/>
          <p:cNvSpPr/>
          <p:nvPr/>
        </p:nvSpPr>
        <p:spPr>
          <a:xfrm>
            <a:off x="548640" y="284378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3" name="Text 11"/>
          <p:cNvSpPr/>
          <p:nvPr/>
        </p:nvSpPr>
        <p:spPr>
          <a:xfrm>
            <a:off x="1207008" y="2615184"/>
            <a:ext cx="7406640" cy="292608"/>
          </a:xfrm>
          <a:prstGeom prst="rect">
            <a:avLst/>
          </a:prstGeom>
          <a:noFill/>
          <a:ln/>
        </p:spPr>
        <p:txBody>
          <a:bodyPr wrap="square" lIns="0" tIns="0" rIns="0" bIns="0" rtlCol="0" anchor="ctr"/>
          <a:lstStyle/>
          <a:p>
            <a:pPr indent="0" marL="0">
              <a:buNone/>
            </a:pPr>
            <a:r>
              <a:rPr lang="en-US" sz="1200" b="1" dirty="0">
                <a:solidFill>
                  <a:srgbClr val="F59E0B"/>
                </a:solidFill>
              </a:rPr>
              <a:t>Hallazgo Estructural de Alta Relevancia</a:t>
            </a:r>
            <a:endParaRPr lang="en-US" sz="1200" dirty="0"/>
          </a:p>
        </p:txBody>
      </p:sp>
      <p:sp>
        <p:nvSpPr>
          <p:cNvPr id="14" name="Text 12"/>
          <p:cNvSpPr/>
          <p:nvPr/>
        </p:nvSpPr>
        <p:spPr>
          <a:xfrm>
            <a:off x="1207008" y="2926080"/>
            <a:ext cx="7406640" cy="658368"/>
          </a:xfrm>
          <a:prstGeom prst="rect">
            <a:avLst/>
          </a:prstGeom>
          <a:noFill/>
          <a:ln/>
        </p:spPr>
        <p:txBody>
          <a:bodyPr wrap="square" lIns="0" tIns="0" rIns="0" bIns="0" rtlCol="0" anchor="ctr"/>
          <a:lstStyle/>
          <a:p>
            <a:pPr indent="0" marL="0">
              <a:buNone/>
            </a:pPr>
            <a:r>
              <a:rPr lang="en-US" sz="1000" dirty="0">
                <a:solidFill>
                  <a:srgbClr val="CBD5E1"/>
                </a:solidFill>
              </a:rPr>
              <a:t>El 24.6% de las opiniones voluntarias sobre salud en Reddit México constituyen una queja sistémica grave. Esta cifra evidencia una brecha profunda entre el registro institucional oficial y la experiencia cotidiana del ciudadano que navega el sistema de salud público.</a:t>
            </a:r>
            <a:endParaRPr lang="en-US" sz="1000" dirty="0"/>
          </a:p>
        </p:txBody>
      </p:sp>
      <p:sp>
        <p:nvSpPr>
          <p:cNvPr id="15" name="Shape 13"/>
          <p:cNvSpPr/>
          <p:nvPr/>
        </p:nvSpPr>
        <p:spPr>
          <a:xfrm>
            <a:off x="365760" y="3785616"/>
            <a:ext cx="8412480" cy="1115568"/>
          </a:xfrm>
          <a:prstGeom prst="rect">
            <a:avLst>
              <a:gd name="adj" fmla="val 4098"/>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6" name="Shape 14"/>
          <p:cNvSpPr/>
          <p:nvPr/>
        </p:nvSpPr>
        <p:spPr>
          <a:xfrm>
            <a:off x="548640" y="4105656"/>
            <a:ext cx="475488" cy="475488"/>
          </a:xfrm>
          <a:prstGeom prst="ellipse">
            <a:avLst/>
          </a:prstGeom>
          <a:solidFill>
            <a:srgbClr val="7C3AED"/>
          </a:solidFill>
          <a:ln w="12700">
            <a:solidFill>
              <a:srgbClr val="7C3AED"/>
            </a:solidFill>
            <a:prstDash val="solid"/>
          </a:ln>
        </p:spPr>
      </p:sp>
      <p:sp>
        <p:nvSpPr>
          <p:cNvPr id="17" name="Text 15"/>
          <p:cNvSpPr/>
          <p:nvPr/>
        </p:nvSpPr>
        <p:spPr>
          <a:xfrm>
            <a:off x="548640" y="410565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8" name="Text 16"/>
          <p:cNvSpPr/>
          <p:nvPr/>
        </p:nvSpPr>
        <p:spPr>
          <a:xfrm>
            <a:off x="1207008" y="3877056"/>
            <a:ext cx="7406640" cy="292608"/>
          </a:xfrm>
          <a:prstGeom prst="rect">
            <a:avLst/>
          </a:prstGeom>
          <a:noFill/>
          <a:ln/>
        </p:spPr>
        <p:txBody>
          <a:bodyPr wrap="square" lIns="0" tIns="0" rIns="0" bIns="0" rtlCol="0" anchor="ctr"/>
          <a:lstStyle/>
          <a:p>
            <a:pPr indent="0" marL="0">
              <a:buNone/>
            </a:pPr>
            <a:r>
              <a:rPr lang="en-US" sz="1200" b="1" dirty="0">
                <a:solidFill>
                  <a:srgbClr val="7C3AED"/>
                </a:solidFill>
              </a:rPr>
              <a:t>Viabilidad Técnica Demostrada</a:t>
            </a:r>
            <a:endParaRPr lang="en-US" sz="1200" dirty="0"/>
          </a:p>
        </p:txBody>
      </p:sp>
      <p:sp>
        <p:nvSpPr>
          <p:cNvPr id="19" name="Text 17"/>
          <p:cNvSpPr/>
          <p:nvPr/>
        </p:nvSpPr>
        <p:spPr>
          <a:xfrm>
            <a:off x="1207008" y="4187952"/>
            <a:ext cx="7406640" cy="658368"/>
          </a:xfrm>
          <a:prstGeom prst="rect">
            <a:avLst/>
          </a:prstGeom>
          <a:noFill/>
          <a:ln/>
        </p:spPr>
        <p:txBody>
          <a:bodyPr wrap="square" lIns="0" tIns="0" rIns="0" bIns="0" rtlCol="0" anchor="ctr"/>
          <a:lstStyle/>
          <a:p>
            <a:pPr indent="0" marL="0">
              <a:buNone/>
            </a:pPr>
            <a:r>
              <a:rPr lang="en-US" sz="1000" dirty="0">
                <a:solidFill>
                  <a:srgbClr val="CBD5E1"/>
                </a:solidFill>
              </a:rPr>
              <a:t>Es posible construir un sistema de clasificación automática de quejas con alta confiabilidad (F1 &gt; 0.90) utilizando un ensamble de modelos de bajo coste computacional (TF-IDF + BERT), plenamente accesible para instituciones académicas y gubernamentales con recursos limitados.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457200" y="256032"/>
            <a:ext cx="2688336" cy="237744"/>
          </a:xfrm>
          <a:prstGeom prst="roundRect">
            <a:avLst>
              <a:gd name="adj" fmla="val 50000"/>
            </a:avLst>
          </a:prstGeom>
          <a:solidFill>
            <a:srgbClr val="0D9488"/>
          </a:solidFill>
          <a:ln w="12700">
            <a:solidFill>
              <a:srgbClr val="0D9488"/>
            </a:solidFill>
            <a:prstDash val="solid"/>
          </a:ln>
        </p:spPr>
      </p:sp>
      <p:sp>
        <p:nvSpPr>
          <p:cNvPr id="3" name="Text 1"/>
          <p:cNvSpPr/>
          <p:nvPr/>
        </p:nvSpPr>
        <p:spPr>
          <a:xfrm>
            <a:off x="457200" y="256032"/>
            <a:ext cx="2688336" cy="237744"/>
          </a:xfrm>
          <a:prstGeom prst="rect">
            <a:avLst/>
          </a:prstGeom>
          <a:noFill/>
          <a:ln/>
        </p:spPr>
        <p:txBody>
          <a:bodyPr wrap="square" lIns="0" tIns="0" rIns="0" bIns="0" rtlCol="0" anchor="ctr"/>
          <a:lstStyle/>
          <a:p>
            <a:pPr algn="ctr" indent="0" marL="0">
              <a:buNone/>
            </a:pPr>
            <a:r>
              <a:rPr lang="en-US" sz="800" b="1" dirty="0">
                <a:solidFill>
                  <a:srgbClr val="FFFFFF"/>
                </a:solidFill>
              </a:rPr>
              <a:t>LÍNEAS DE TRABAJO FUTURO</a:t>
            </a:r>
            <a:endParaRPr lang="en-US" sz="800" dirty="0"/>
          </a:p>
        </p:txBody>
      </p:sp>
      <p:sp>
        <p:nvSpPr>
          <p:cNvPr id="4" name="Text 2"/>
          <p:cNvSpPr/>
          <p:nvPr/>
        </p:nvSpPr>
        <p:spPr>
          <a:xfrm>
            <a:off x="457200" y="548640"/>
            <a:ext cx="822960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Próximos Pasos</a:t>
            </a:r>
            <a:endParaRPr lang="en-US" sz="2600" dirty="0"/>
          </a:p>
        </p:txBody>
      </p:sp>
      <p:sp>
        <p:nvSpPr>
          <p:cNvPr id="5" name="Shape 3"/>
          <p:cNvSpPr/>
          <p:nvPr/>
        </p:nvSpPr>
        <p:spPr>
          <a:xfrm>
            <a:off x="365760" y="1280160"/>
            <a:ext cx="2651760" cy="3566160"/>
          </a:xfrm>
          <a:prstGeom prst="rect">
            <a:avLst>
              <a:gd name="adj" fmla="val 1724"/>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6" name="Shape 4"/>
          <p:cNvSpPr/>
          <p:nvPr/>
        </p:nvSpPr>
        <p:spPr>
          <a:xfrm>
            <a:off x="365760" y="1280160"/>
            <a:ext cx="2651760" cy="411480"/>
          </a:xfrm>
          <a:prstGeom prst="rect">
            <a:avLst/>
          </a:prstGeom>
          <a:solidFill>
            <a:srgbClr val="F43F5E"/>
          </a:solidFill>
          <a:ln w="12700">
            <a:solidFill>
              <a:srgbClr val="F43F5E"/>
            </a:solidFill>
            <a:prstDash val="solid"/>
          </a:ln>
        </p:spPr>
      </p:sp>
      <p:sp>
        <p:nvSpPr>
          <p:cNvPr id="7" name="Text 5"/>
          <p:cNvSpPr/>
          <p:nvPr/>
        </p:nvSpPr>
        <p:spPr>
          <a:xfrm>
            <a:off x="365760" y="1280160"/>
            <a:ext cx="2651760" cy="411480"/>
          </a:xfrm>
          <a:prstGeom prst="rect">
            <a:avLst/>
          </a:prstGeom>
          <a:noFill/>
          <a:ln/>
        </p:spPr>
        <p:txBody>
          <a:bodyPr wrap="square" lIns="0" tIns="0" rIns="0" bIns="0" rtlCol="0" anchor="ctr"/>
          <a:lstStyle/>
          <a:p>
            <a:pPr algn="ctr" indent="0" marL="0">
              <a:buNone/>
            </a:pPr>
            <a:r>
              <a:rPr lang="en-US" sz="1600" b="1" dirty="0">
                <a:solidFill>
                  <a:srgbClr val="FFFFFF"/>
                </a:solidFill>
              </a:rPr>
              <a:t>01</a:t>
            </a:r>
            <a:endParaRPr lang="en-US" sz="1600" dirty="0"/>
          </a:p>
        </p:txBody>
      </p:sp>
      <p:sp>
        <p:nvSpPr>
          <p:cNvPr id="8" name="Text 6"/>
          <p:cNvSpPr/>
          <p:nvPr/>
        </p:nvSpPr>
        <p:spPr>
          <a:xfrm>
            <a:off x="502920" y="1783080"/>
            <a:ext cx="2377440" cy="548640"/>
          </a:xfrm>
          <a:prstGeom prst="rect">
            <a:avLst/>
          </a:prstGeom>
          <a:noFill/>
          <a:ln/>
        </p:spPr>
        <p:txBody>
          <a:bodyPr wrap="square" lIns="0" tIns="0" rIns="0" bIns="0" rtlCol="0" anchor="ctr"/>
          <a:lstStyle/>
          <a:p>
            <a:pPr indent="0" marL="0">
              <a:buNone/>
            </a:pPr>
            <a:r>
              <a:rPr lang="en-US" sz="1100" b="1" dirty="0">
                <a:solidFill>
                  <a:srgbClr val="F43F5E"/>
                </a:solidFill>
              </a:rPr>
              <a:t>Dashboard de Vigilancia Social en Tiempo Real</a:t>
            </a:r>
            <a:endParaRPr lang="en-US" sz="1100" dirty="0"/>
          </a:p>
        </p:txBody>
      </p:sp>
      <p:sp>
        <p:nvSpPr>
          <p:cNvPr id="9" name="Text 7"/>
          <p:cNvSpPr/>
          <p:nvPr/>
        </p:nvSpPr>
        <p:spPr>
          <a:xfrm>
            <a:off x="502920" y="2395728"/>
            <a:ext cx="2377440" cy="2331720"/>
          </a:xfrm>
          <a:prstGeom prst="rect">
            <a:avLst/>
          </a:prstGeom>
          <a:noFill/>
          <a:ln/>
        </p:spPr>
        <p:txBody>
          <a:bodyPr wrap="square" lIns="0" tIns="0" rIns="0" bIns="0" rtlCol="0" anchor="ctr"/>
          <a:lstStyle/>
          <a:p>
            <a:pPr indent="0" marL="0">
              <a:buNone/>
            </a:pPr>
            <a:r>
              <a:rPr lang="en-US" sz="1000" dirty="0">
                <a:solidFill>
                  <a:srgbClr val="CBD5E1"/>
                </a:solidFill>
              </a:rPr>
              <a:t>Implementar el modelo como «Semáforo de Alerta Temprana»: un mapa interactivo de la CDMX que se active en ROJO cuando se detecte un pico estadístico de quejas sobre «desabasto» o «saturación» en una zona geográfica específica, permitiendo una respuesta administrativa proactiva.</a:t>
            </a:r>
            <a:endParaRPr lang="en-US" sz="1000" dirty="0"/>
          </a:p>
        </p:txBody>
      </p:sp>
      <p:sp>
        <p:nvSpPr>
          <p:cNvPr id="10" name="Shape 8"/>
          <p:cNvSpPr/>
          <p:nvPr/>
        </p:nvSpPr>
        <p:spPr>
          <a:xfrm>
            <a:off x="3246120" y="1280160"/>
            <a:ext cx="2651760" cy="3566160"/>
          </a:xfrm>
          <a:prstGeom prst="rect">
            <a:avLst>
              <a:gd name="adj" fmla="val 1724"/>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1" name="Shape 9"/>
          <p:cNvSpPr/>
          <p:nvPr/>
        </p:nvSpPr>
        <p:spPr>
          <a:xfrm>
            <a:off x="3246120" y="1280160"/>
            <a:ext cx="2651760" cy="411480"/>
          </a:xfrm>
          <a:prstGeom prst="rect">
            <a:avLst/>
          </a:prstGeom>
          <a:solidFill>
            <a:srgbClr val="F59E0B"/>
          </a:solidFill>
          <a:ln w="12700">
            <a:solidFill>
              <a:srgbClr val="F59E0B"/>
            </a:solidFill>
            <a:prstDash val="solid"/>
          </a:ln>
        </p:spPr>
      </p:sp>
      <p:sp>
        <p:nvSpPr>
          <p:cNvPr id="12" name="Text 10"/>
          <p:cNvSpPr/>
          <p:nvPr/>
        </p:nvSpPr>
        <p:spPr>
          <a:xfrm>
            <a:off x="3246120" y="1280160"/>
            <a:ext cx="2651760" cy="411480"/>
          </a:xfrm>
          <a:prstGeom prst="rect">
            <a:avLst/>
          </a:prstGeom>
          <a:noFill/>
          <a:ln/>
        </p:spPr>
        <p:txBody>
          <a:bodyPr wrap="square" lIns="0" tIns="0" rIns="0" bIns="0" rtlCol="0" anchor="ctr"/>
          <a:lstStyle/>
          <a:p>
            <a:pPr algn="ctr" indent="0" marL="0">
              <a:buNone/>
            </a:pPr>
            <a:r>
              <a:rPr lang="en-US" sz="1600" b="1" dirty="0">
                <a:solidFill>
                  <a:srgbClr val="FFFFFF"/>
                </a:solidFill>
              </a:rPr>
              <a:t>02</a:t>
            </a:r>
            <a:endParaRPr lang="en-US" sz="1600" dirty="0"/>
          </a:p>
        </p:txBody>
      </p:sp>
      <p:sp>
        <p:nvSpPr>
          <p:cNvPr id="13" name="Text 11"/>
          <p:cNvSpPr/>
          <p:nvPr/>
        </p:nvSpPr>
        <p:spPr>
          <a:xfrm>
            <a:off x="3383280" y="1783080"/>
            <a:ext cx="2377440" cy="548640"/>
          </a:xfrm>
          <a:prstGeom prst="rect">
            <a:avLst/>
          </a:prstGeom>
          <a:noFill/>
          <a:ln/>
        </p:spPr>
        <p:txBody>
          <a:bodyPr wrap="square" lIns="0" tIns="0" rIns="0" bIns="0" rtlCol="0" anchor="ctr"/>
          <a:lstStyle/>
          <a:p>
            <a:pPr indent="0" marL="0">
              <a:buNone/>
            </a:pPr>
            <a:r>
              <a:rPr lang="en-US" sz="1100" b="1" dirty="0">
                <a:solidFill>
                  <a:srgbClr val="F59E0B"/>
                </a:solidFill>
              </a:rPr>
              <a:t>Análisis Comparativo por Institución</a:t>
            </a:r>
            <a:endParaRPr lang="en-US" sz="1100" dirty="0"/>
          </a:p>
        </p:txBody>
      </p:sp>
      <p:sp>
        <p:nvSpPr>
          <p:cNvPr id="14" name="Text 12"/>
          <p:cNvSpPr/>
          <p:nvPr/>
        </p:nvSpPr>
        <p:spPr>
          <a:xfrm>
            <a:off x="3383280" y="2395728"/>
            <a:ext cx="2377440" cy="2331720"/>
          </a:xfrm>
          <a:prstGeom prst="rect">
            <a:avLst/>
          </a:prstGeom>
          <a:noFill/>
          <a:ln/>
        </p:spPr>
        <p:txBody>
          <a:bodyPr wrap="square" lIns="0" tIns="0" rIns="0" bIns="0" rtlCol="0" anchor="ctr"/>
          <a:lstStyle/>
          <a:p>
            <a:pPr indent="0" marL="0">
              <a:buNone/>
            </a:pPr>
            <a:r>
              <a:rPr lang="en-US" sz="1000" dirty="0">
                <a:solidFill>
                  <a:srgbClr val="CBD5E1"/>
                </a:solidFill>
              </a:rPr>
              <a:t>Separar y comparar sistemáticamente las dimensiones de queja entre IMSS, ISSSTE e IMSS-Bienestar para focalizar soluciones administrativas específicas según el perfil de fallo de cada institución y optimizar la asignación de recursos de mejora.</a:t>
            </a:r>
            <a:endParaRPr lang="en-US" sz="1000" dirty="0"/>
          </a:p>
        </p:txBody>
      </p:sp>
      <p:sp>
        <p:nvSpPr>
          <p:cNvPr id="15" name="Shape 13"/>
          <p:cNvSpPr/>
          <p:nvPr/>
        </p:nvSpPr>
        <p:spPr>
          <a:xfrm>
            <a:off x="6126480" y="1280160"/>
            <a:ext cx="2651760" cy="3566160"/>
          </a:xfrm>
          <a:prstGeom prst="rect">
            <a:avLst>
              <a:gd name="adj" fmla="val 1724"/>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6" name="Shape 14"/>
          <p:cNvSpPr/>
          <p:nvPr/>
        </p:nvSpPr>
        <p:spPr>
          <a:xfrm>
            <a:off x="6126480" y="1280160"/>
            <a:ext cx="2651760" cy="411480"/>
          </a:xfrm>
          <a:prstGeom prst="rect">
            <a:avLst/>
          </a:prstGeom>
          <a:solidFill>
            <a:srgbClr val="0D9488"/>
          </a:solidFill>
          <a:ln w="12700">
            <a:solidFill>
              <a:srgbClr val="0D9488"/>
            </a:solidFill>
            <a:prstDash val="solid"/>
          </a:ln>
        </p:spPr>
      </p:sp>
      <p:sp>
        <p:nvSpPr>
          <p:cNvPr id="17" name="Text 15"/>
          <p:cNvSpPr/>
          <p:nvPr/>
        </p:nvSpPr>
        <p:spPr>
          <a:xfrm>
            <a:off x="6126480" y="1280160"/>
            <a:ext cx="2651760" cy="411480"/>
          </a:xfrm>
          <a:prstGeom prst="rect">
            <a:avLst/>
          </a:prstGeom>
          <a:noFill/>
          <a:ln/>
        </p:spPr>
        <p:txBody>
          <a:bodyPr wrap="square" lIns="0" tIns="0" rIns="0" bIns="0" rtlCol="0" anchor="ctr"/>
          <a:lstStyle/>
          <a:p>
            <a:pPr algn="ctr" indent="0" marL="0">
              <a:buNone/>
            </a:pPr>
            <a:r>
              <a:rPr lang="en-US" sz="1600" b="1" dirty="0">
                <a:solidFill>
                  <a:srgbClr val="FFFFFF"/>
                </a:solidFill>
              </a:rPr>
              <a:t>03</a:t>
            </a:r>
            <a:endParaRPr lang="en-US" sz="1600" dirty="0"/>
          </a:p>
        </p:txBody>
      </p:sp>
      <p:sp>
        <p:nvSpPr>
          <p:cNvPr id="18" name="Text 16"/>
          <p:cNvSpPr/>
          <p:nvPr/>
        </p:nvSpPr>
        <p:spPr>
          <a:xfrm>
            <a:off x="6263640" y="1783080"/>
            <a:ext cx="2377440" cy="548640"/>
          </a:xfrm>
          <a:prstGeom prst="rect">
            <a:avLst/>
          </a:prstGeom>
          <a:noFill/>
          <a:ln/>
        </p:spPr>
        <p:txBody>
          <a:bodyPr wrap="square" lIns="0" tIns="0" rIns="0" bIns="0" rtlCol="0" anchor="ctr"/>
          <a:lstStyle/>
          <a:p>
            <a:pPr indent="0" marL="0">
              <a:buNone/>
            </a:pPr>
            <a:r>
              <a:rPr lang="en-US" sz="1100" b="1" dirty="0">
                <a:solidFill>
                  <a:srgbClr val="0D9488"/>
                </a:solidFill>
              </a:rPr>
              <a:t>Integración Multimodal</a:t>
            </a:r>
            <a:endParaRPr lang="en-US" sz="1100" dirty="0"/>
          </a:p>
        </p:txBody>
      </p:sp>
      <p:sp>
        <p:nvSpPr>
          <p:cNvPr id="19" name="Text 17"/>
          <p:cNvSpPr/>
          <p:nvPr/>
        </p:nvSpPr>
        <p:spPr>
          <a:xfrm>
            <a:off x="6263640" y="2395728"/>
            <a:ext cx="2377440" cy="2331720"/>
          </a:xfrm>
          <a:prstGeom prst="rect">
            <a:avLst/>
          </a:prstGeom>
          <a:noFill/>
          <a:ln/>
        </p:spPr>
        <p:txBody>
          <a:bodyPr wrap="square" lIns="0" tIns="0" rIns="0" bIns="0" rtlCol="0" anchor="ctr"/>
          <a:lstStyle/>
          <a:p>
            <a:pPr indent="0" marL="0">
              <a:buNone/>
            </a:pPr>
            <a:r>
              <a:rPr lang="en-US" sz="1000" dirty="0">
                <a:solidFill>
                  <a:srgbClr val="CBD5E1"/>
                </a:solidFill>
              </a:rPr>
              <a:t>Analizar no solo texto, sino también imágenes —fotos de recetas, salas de espera llenas, medicamentos faltantes— que los ciudadanos publican junto a sus quejas, incorporando Visión por Computadora para capturar evidencia visual de las fallas sistémicas.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71220"/>
          </a:solidFill>
          <a:ln w="12700">
            <a:solidFill>
              <a:srgbClr val="071220"/>
            </a:solidFill>
            <a:prstDash val="solid"/>
          </a:ln>
        </p:spPr>
      </p:sp>
      <p:sp>
        <p:nvSpPr>
          <p:cNvPr id="3" name="Shape 1"/>
          <p:cNvSpPr/>
          <p:nvPr/>
        </p:nvSpPr>
        <p:spPr>
          <a:xfrm>
            <a:off x="-457200" y="2286000"/>
            <a:ext cx="3657600" cy="3657600"/>
          </a:xfrm>
          <a:prstGeom prst="ellipse">
            <a:avLst/>
          </a:prstGeom>
          <a:solidFill>
            <a:srgbClr val="0D9488">
              <a:alpha val="8000"/>
            </a:srgbClr>
          </a:solidFill>
          <a:ln w="12700">
            <a:solidFill>
              <a:srgbClr val="0D9488"/>
            </a:solidFill>
            <a:prstDash val="solid"/>
          </a:ln>
        </p:spPr>
      </p:sp>
      <p:sp>
        <p:nvSpPr>
          <p:cNvPr id="4" name="Shape 2"/>
          <p:cNvSpPr/>
          <p:nvPr/>
        </p:nvSpPr>
        <p:spPr>
          <a:xfrm>
            <a:off x="6400800" y="-914400"/>
            <a:ext cx="3657600" cy="3657600"/>
          </a:xfrm>
          <a:prstGeom prst="ellipse">
            <a:avLst/>
          </a:prstGeom>
          <a:solidFill>
            <a:srgbClr val="F59E0B">
              <a:alpha val="8000"/>
            </a:srgbClr>
          </a:solidFill>
          <a:ln w="12700">
            <a:solidFill>
              <a:srgbClr val="F59E0B"/>
            </a:solidFill>
            <a:prstDash val="solid"/>
          </a:ln>
        </p:spPr>
      </p:sp>
      <p:sp>
        <p:nvSpPr>
          <p:cNvPr id="5" name="Text 3"/>
          <p:cNvSpPr/>
          <p:nvPr/>
        </p:nvSpPr>
        <p:spPr>
          <a:xfrm>
            <a:off x="365760" y="365760"/>
            <a:ext cx="1371600" cy="1371600"/>
          </a:xfrm>
          <a:prstGeom prst="rect">
            <a:avLst/>
          </a:prstGeom>
          <a:noFill/>
          <a:ln/>
        </p:spPr>
        <p:txBody>
          <a:bodyPr wrap="square" lIns="0" tIns="0" rIns="0" bIns="0" rtlCol="0" anchor="ctr"/>
          <a:lstStyle/>
          <a:p>
            <a:pPr indent="0" marL="0">
              <a:buNone/>
            </a:pPr>
            <a:r>
              <a:rPr lang="en-US" sz="9000" b="1" dirty="0">
                <a:solidFill>
                  <a:srgbClr val="0D9488"/>
                </a:solidFill>
              </a:rPr>
              <a:t>“</a:t>
            </a:r>
            <a:endParaRPr lang="en-US" sz="9000" dirty="0"/>
          </a:p>
        </p:txBody>
      </p:sp>
      <p:sp>
        <p:nvSpPr>
          <p:cNvPr id="6" name="Text 4"/>
          <p:cNvSpPr/>
          <p:nvPr/>
        </p:nvSpPr>
        <p:spPr>
          <a:xfrm>
            <a:off x="731520" y="914400"/>
            <a:ext cx="7680960" cy="256032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Para sanar el sistema, primero hay que aprender a escuchar lo que los datos no estructurados gritan todos los días.</a:t>
            </a:r>
            <a:endParaRPr lang="en-US" sz="2600" dirty="0"/>
          </a:p>
        </p:txBody>
      </p:sp>
      <p:sp>
        <p:nvSpPr>
          <p:cNvPr id="7" name="Text 5"/>
          <p:cNvSpPr/>
          <p:nvPr/>
        </p:nvSpPr>
        <p:spPr>
          <a:xfrm>
            <a:off x="6858000" y="2560320"/>
            <a:ext cx="1828800" cy="1371600"/>
          </a:xfrm>
          <a:prstGeom prst="rect">
            <a:avLst/>
          </a:prstGeom>
          <a:noFill/>
          <a:ln/>
        </p:spPr>
        <p:txBody>
          <a:bodyPr wrap="square" lIns="0" tIns="0" rIns="0" bIns="0" rtlCol="0" anchor="ctr"/>
          <a:lstStyle/>
          <a:p>
            <a:pPr algn="r" indent="0" marL="0">
              <a:buNone/>
            </a:pPr>
            <a:r>
              <a:rPr lang="en-US" sz="9000" b="1" dirty="0">
                <a:solidFill>
                  <a:srgbClr val="0D9488"/>
                </a:solidFill>
              </a:rPr>
              <a:t>”</a:t>
            </a:r>
            <a:endParaRPr lang="en-US" sz="9000" dirty="0"/>
          </a:p>
        </p:txBody>
      </p:sp>
      <p:sp>
        <p:nvSpPr>
          <p:cNvPr id="8" name="Text 6"/>
          <p:cNvSpPr/>
          <p:nvPr/>
        </p:nvSpPr>
        <p:spPr>
          <a:xfrm>
            <a:off x="457200" y="4114800"/>
            <a:ext cx="8229600" cy="365760"/>
          </a:xfrm>
          <a:prstGeom prst="rect">
            <a:avLst/>
          </a:prstGeom>
          <a:noFill/>
          <a:ln/>
        </p:spPr>
        <p:txBody>
          <a:bodyPr wrap="square" lIns="0" tIns="0" rIns="0" bIns="0" rtlCol="0" anchor="ctr"/>
          <a:lstStyle/>
          <a:p>
            <a:pPr algn="ctr" indent="0" marL="0">
              <a:buNone/>
            </a:pPr>
            <a:r>
              <a:rPr lang="en-US" sz="1100" i="1" dirty="0">
                <a:solidFill>
                  <a:srgbClr val="64748B"/>
                </a:solidFill>
              </a:rPr>
              <a:t>— Frase de cierre del proyecto</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lIns="0" tIns="0" rIns="0" bIns="0" rtlCol="0" anchor="ctr"/>
          <a:lstStyle/>
          <a:p>
            <a:pPr indent="0" marL="0">
              <a:buNone/>
            </a:pPr>
            <a:r>
              <a:rPr lang="en-US" sz="3600" b="1" dirty="0">
                <a:solidFill>
                  <a:srgbClr val="FFFFFF"/>
                </a:solidFill>
              </a:rPr>
              <a:t>¿Preguntas?</a:t>
            </a:r>
            <a:endParaRPr lang="en-US" sz="3600" dirty="0"/>
          </a:p>
        </p:txBody>
      </p:sp>
      <p:sp>
        <p:nvSpPr>
          <p:cNvPr id="3" name="Text 1"/>
          <p:cNvSpPr/>
          <p:nvPr/>
        </p:nvSpPr>
        <p:spPr>
          <a:xfrm>
            <a:off x="457200" y="1051560"/>
            <a:ext cx="8229600" cy="274320"/>
          </a:xfrm>
          <a:prstGeom prst="rect">
            <a:avLst/>
          </a:prstGeom>
          <a:noFill/>
          <a:ln/>
        </p:spPr>
        <p:txBody>
          <a:bodyPr wrap="square" lIns="0" tIns="0" rIns="0" bIns="0" rtlCol="0" anchor="ctr"/>
          <a:lstStyle/>
          <a:p>
            <a:pPr indent="0" marL="0">
              <a:buNone/>
            </a:pPr>
            <a:r>
              <a:rPr lang="en-US" sz="1100" dirty="0">
                <a:solidFill>
                  <a:srgbClr val="64748B"/>
                </a:solidFill>
              </a:rPr>
              <a:t>Gracias por vuestra atención. Abrimos el turno de preguntas y debate.</a:t>
            </a:r>
            <a:endParaRPr lang="en-US" sz="1100" dirty="0"/>
          </a:p>
        </p:txBody>
      </p:sp>
      <p:sp>
        <p:nvSpPr>
          <p:cNvPr id="4" name="Shape 2"/>
          <p:cNvSpPr/>
          <p:nvPr/>
        </p:nvSpPr>
        <p:spPr>
          <a:xfrm>
            <a:off x="365760" y="1481328"/>
            <a:ext cx="4114800" cy="1508760"/>
          </a:xfrm>
          <a:prstGeom prst="rect">
            <a:avLst>
              <a:gd name="adj" fmla="val 3030"/>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5" name="Shape 3"/>
          <p:cNvSpPr/>
          <p:nvPr/>
        </p:nvSpPr>
        <p:spPr>
          <a:xfrm>
            <a:off x="365760" y="1481328"/>
            <a:ext cx="4114800" cy="320040"/>
          </a:xfrm>
          <a:prstGeom prst="rect">
            <a:avLst/>
          </a:prstGeom>
          <a:solidFill>
            <a:srgbClr val="0D9488"/>
          </a:solidFill>
          <a:ln w="12700">
            <a:solidFill>
              <a:srgbClr val="0D9488"/>
            </a:solidFill>
            <a:prstDash val="solid"/>
          </a:ln>
        </p:spPr>
      </p:sp>
      <p:sp>
        <p:nvSpPr>
          <p:cNvPr id="6" name="Text 4"/>
          <p:cNvSpPr/>
          <p:nvPr/>
        </p:nvSpPr>
        <p:spPr>
          <a:xfrm>
            <a:off x="502920" y="1481328"/>
            <a:ext cx="3840480" cy="320040"/>
          </a:xfrm>
          <a:prstGeom prst="rect">
            <a:avLst/>
          </a:prstGeom>
          <a:noFill/>
          <a:ln/>
        </p:spPr>
        <p:txBody>
          <a:bodyPr wrap="square" lIns="0" tIns="0" rIns="0" bIns="0" rtlCol="0" anchor="ctr"/>
          <a:lstStyle/>
          <a:p>
            <a:pPr indent="0" marL="0">
              <a:buNone/>
            </a:pPr>
            <a:r>
              <a:rPr lang="en-US" sz="1200" b="1" dirty="0">
                <a:solidFill>
                  <a:srgbClr val="FFFFFF"/>
                </a:solidFill>
              </a:rPr>
              <a:t>Metodología</a:t>
            </a:r>
            <a:endParaRPr lang="en-US" sz="1200" dirty="0"/>
          </a:p>
        </p:txBody>
      </p:sp>
      <p:sp>
        <p:nvSpPr>
          <p:cNvPr id="7" name="Shape 5"/>
          <p:cNvSpPr/>
          <p:nvPr/>
        </p:nvSpPr>
        <p:spPr>
          <a:xfrm>
            <a:off x="530352" y="1956816"/>
            <a:ext cx="109728" cy="109728"/>
          </a:xfrm>
          <a:prstGeom prst="ellipse">
            <a:avLst/>
          </a:prstGeom>
          <a:solidFill>
            <a:srgbClr val="0D9488"/>
          </a:solidFill>
          <a:ln w="12700">
            <a:solidFill>
              <a:srgbClr val="0D9488"/>
            </a:solidFill>
            <a:prstDash val="solid"/>
          </a:ln>
        </p:spPr>
      </p:sp>
      <p:sp>
        <p:nvSpPr>
          <p:cNvPr id="8" name="Text 6"/>
          <p:cNvSpPr/>
          <p:nvPr/>
        </p:nvSpPr>
        <p:spPr>
          <a:xfrm>
            <a:off x="749808" y="1901952"/>
            <a:ext cx="3566160" cy="256032"/>
          </a:xfrm>
          <a:prstGeom prst="rect">
            <a:avLst/>
          </a:prstGeom>
          <a:noFill/>
          <a:ln/>
        </p:spPr>
        <p:txBody>
          <a:bodyPr wrap="square" lIns="0" tIns="0" rIns="0" bIns="0" rtlCol="0" anchor="ctr"/>
          <a:lstStyle/>
          <a:p>
            <a:pPr indent="0" marL="0">
              <a:buNone/>
            </a:pPr>
            <a:r>
              <a:rPr lang="en-US" sz="1000" dirty="0">
                <a:solidFill>
                  <a:srgbClr val="CBD5E1"/>
                </a:solidFill>
              </a:rPr>
              <a:t>Validación cruzada estratificada 10-Fold</a:t>
            </a:r>
            <a:endParaRPr lang="en-US" sz="1000" dirty="0"/>
          </a:p>
        </p:txBody>
      </p:sp>
      <p:sp>
        <p:nvSpPr>
          <p:cNvPr id="9" name="Shape 7"/>
          <p:cNvSpPr/>
          <p:nvPr/>
        </p:nvSpPr>
        <p:spPr>
          <a:xfrm>
            <a:off x="530352" y="2249424"/>
            <a:ext cx="109728" cy="109728"/>
          </a:xfrm>
          <a:prstGeom prst="ellipse">
            <a:avLst/>
          </a:prstGeom>
          <a:solidFill>
            <a:srgbClr val="0D9488"/>
          </a:solidFill>
          <a:ln w="12700">
            <a:solidFill>
              <a:srgbClr val="0D9488"/>
            </a:solidFill>
            <a:prstDash val="solid"/>
          </a:ln>
        </p:spPr>
      </p:sp>
      <p:sp>
        <p:nvSpPr>
          <p:cNvPr id="10" name="Text 8"/>
          <p:cNvSpPr/>
          <p:nvPr/>
        </p:nvSpPr>
        <p:spPr>
          <a:xfrm>
            <a:off x="749808" y="2194560"/>
            <a:ext cx="3566160" cy="256032"/>
          </a:xfrm>
          <a:prstGeom prst="rect">
            <a:avLst/>
          </a:prstGeom>
          <a:noFill/>
          <a:ln/>
        </p:spPr>
        <p:txBody>
          <a:bodyPr wrap="square" lIns="0" tIns="0" rIns="0" bIns="0" rtlCol="0" anchor="ctr"/>
          <a:lstStyle/>
          <a:p>
            <a:pPr indent="0" marL="0">
              <a:buNone/>
            </a:pPr>
            <a:r>
              <a:rPr lang="en-US" sz="1000" dirty="0">
                <a:solidFill>
                  <a:srgbClr val="CBD5E1"/>
                </a:solidFill>
              </a:rPr>
              <a:t>VotingEnsemble</a:t>
            </a:r>
            <a:endParaRPr lang="en-US" sz="1000" dirty="0"/>
          </a:p>
        </p:txBody>
      </p:sp>
      <p:sp>
        <p:nvSpPr>
          <p:cNvPr id="11" name="Shape 9"/>
          <p:cNvSpPr/>
          <p:nvPr/>
        </p:nvSpPr>
        <p:spPr>
          <a:xfrm>
            <a:off x="530352" y="2542032"/>
            <a:ext cx="109728" cy="109728"/>
          </a:xfrm>
          <a:prstGeom prst="ellipse">
            <a:avLst/>
          </a:prstGeom>
          <a:solidFill>
            <a:srgbClr val="0D9488"/>
          </a:solidFill>
          <a:ln w="12700">
            <a:solidFill>
              <a:srgbClr val="0D9488"/>
            </a:solidFill>
            <a:prstDash val="solid"/>
          </a:ln>
        </p:spPr>
      </p:sp>
      <p:sp>
        <p:nvSpPr>
          <p:cNvPr id="12" name="Text 10"/>
          <p:cNvSpPr/>
          <p:nvPr/>
        </p:nvSpPr>
        <p:spPr>
          <a:xfrm>
            <a:off x="749808" y="2487168"/>
            <a:ext cx="3566160" cy="256032"/>
          </a:xfrm>
          <a:prstGeom prst="rect">
            <a:avLst/>
          </a:prstGeom>
          <a:noFill/>
          <a:ln/>
        </p:spPr>
        <p:txBody>
          <a:bodyPr wrap="square" lIns="0" tIns="0" rIns="0" bIns="0" rtlCol="0" anchor="ctr"/>
          <a:lstStyle/>
          <a:p>
            <a:pPr indent="0" marL="0">
              <a:buNone/>
            </a:pPr>
            <a:r>
              <a:rPr lang="en-US" sz="1000" dirty="0">
                <a:solidFill>
                  <a:srgbClr val="CBD5E1"/>
                </a:solidFill>
              </a:rPr>
              <a:t>TF-IDF + BERT</a:t>
            </a:r>
            <a:endParaRPr lang="en-US" sz="1000" dirty="0"/>
          </a:p>
        </p:txBody>
      </p:sp>
      <p:sp>
        <p:nvSpPr>
          <p:cNvPr id="13" name="Shape 11"/>
          <p:cNvSpPr/>
          <p:nvPr/>
        </p:nvSpPr>
        <p:spPr>
          <a:xfrm>
            <a:off x="4800600" y="1481328"/>
            <a:ext cx="4114800" cy="1508760"/>
          </a:xfrm>
          <a:prstGeom prst="rect">
            <a:avLst>
              <a:gd name="adj" fmla="val 3030"/>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14" name="Shape 12"/>
          <p:cNvSpPr/>
          <p:nvPr/>
        </p:nvSpPr>
        <p:spPr>
          <a:xfrm>
            <a:off x="4800600" y="1481328"/>
            <a:ext cx="4114800" cy="320040"/>
          </a:xfrm>
          <a:prstGeom prst="rect">
            <a:avLst/>
          </a:prstGeom>
          <a:solidFill>
            <a:srgbClr val="F59E0B"/>
          </a:solidFill>
          <a:ln w="12700">
            <a:solidFill>
              <a:srgbClr val="F59E0B"/>
            </a:solidFill>
            <a:prstDash val="solid"/>
          </a:ln>
        </p:spPr>
      </p:sp>
      <p:sp>
        <p:nvSpPr>
          <p:cNvPr id="15" name="Text 13"/>
          <p:cNvSpPr/>
          <p:nvPr/>
        </p:nvSpPr>
        <p:spPr>
          <a:xfrm>
            <a:off x="4937760" y="1481328"/>
            <a:ext cx="3840480" cy="320040"/>
          </a:xfrm>
          <a:prstGeom prst="rect">
            <a:avLst/>
          </a:prstGeom>
          <a:noFill/>
          <a:ln/>
        </p:spPr>
        <p:txBody>
          <a:bodyPr wrap="square" lIns="0" tIns="0" rIns="0" bIns="0" rtlCol="0" anchor="ctr"/>
          <a:lstStyle/>
          <a:p>
            <a:pPr indent="0" marL="0">
              <a:buNone/>
            </a:pPr>
            <a:r>
              <a:rPr lang="en-US" sz="1200" b="1" dirty="0">
                <a:solidFill>
                  <a:srgbClr val="FFFFFF"/>
                </a:solidFill>
              </a:rPr>
              <a:t>Resultados</a:t>
            </a:r>
            <a:endParaRPr lang="en-US" sz="1200" dirty="0"/>
          </a:p>
        </p:txBody>
      </p:sp>
      <p:sp>
        <p:nvSpPr>
          <p:cNvPr id="16" name="Shape 14"/>
          <p:cNvSpPr/>
          <p:nvPr/>
        </p:nvSpPr>
        <p:spPr>
          <a:xfrm>
            <a:off x="4965192" y="1956816"/>
            <a:ext cx="109728" cy="109728"/>
          </a:xfrm>
          <a:prstGeom prst="ellipse">
            <a:avLst/>
          </a:prstGeom>
          <a:solidFill>
            <a:srgbClr val="F59E0B"/>
          </a:solidFill>
          <a:ln w="12700">
            <a:solidFill>
              <a:srgbClr val="F59E0B"/>
            </a:solidFill>
            <a:prstDash val="solid"/>
          </a:ln>
        </p:spPr>
      </p:sp>
      <p:sp>
        <p:nvSpPr>
          <p:cNvPr id="17" name="Text 15"/>
          <p:cNvSpPr/>
          <p:nvPr/>
        </p:nvSpPr>
        <p:spPr>
          <a:xfrm>
            <a:off x="5184648" y="1901952"/>
            <a:ext cx="3566160" cy="256032"/>
          </a:xfrm>
          <a:prstGeom prst="rect">
            <a:avLst/>
          </a:prstGeom>
          <a:noFill/>
          <a:ln/>
        </p:spPr>
        <p:txBody>
          <a:bodyPr wrap="square" lIns="0" tIns="0" rIns="0" bIns="0" rtlCol="0" anchor="ctr"/>
          <a:lstStyle/>
          <a:p>
            <a:pPr indent="0" marL="0">
              <a:buNone/>
            </a:pPr>
            <a:r>
              <a:rPr lang="en-US" sz="1000" dirty="0">
                <a:solidFill>
                  <a:srgbClr val="CBD5E1"/>
                </a:solidFill>
              </a:rPr>
              <a:t>AUC-ROC: 0.949</a:t>
            </a:r>
            <a:endParaRPr lang="en-US" sz="1000" dirty="0"/>
          </a:p>
        </p:txBody>
      </p:sp>
      <p:sp>
        <p:nvSpPr>
          <p:cNvPr id="18" name="Shape 16"/>
          <p:cNvSpPr/>
          <p:nvPr/>
        </p:nvSpPr>
        <p:spPr>
          <a:xfrm>
            <a:off x="4965192" y="2249424"/>
            <a:ext cx="109728" cy="109728"/>
          </a:xfrm>
          <a:prstGeom prst="ellipse">
            <a:avLst/>
          </a:prstGeom>
          <a:solidFill>
            <a:srgbClr val="F59E0B"/>
          </a:solidFill>
          <a:ln w="12700">
            <a:solidFill>
              <a:srgbClr val="F59E0B"/>
            </a:solidFill>
            <a:prstDash val="solid"/>
          </a:ln>
        </p:spPr>
      </p:sp>
      <p:sp>
        <p:nvSpPr>
          <p:cNvPr id="19" name="Text 17"/>
          <p:cNvSpPr/>
          <p:nvPr/>
        </p:nvSpPr>
        <p:spPr>
          <a:xfrm>
            <a:off x="5184648" y="2194560"/>
            <a:ext cx="3566160" cy="256032"/>
          </a:xfrm>
          <a:prstGeom prst="rect">
            <a:avLst/>
          </a:prstGeom>
          <a:noFill/>
          <a:ln/>
        </p:spPr>
        <p:txBody>
          <a:bodyPr wrap="square" lIns="0" tIns="0" rIns="0" bIns="0" rtlCol="0" anchor="ctr"/>
          <a:lstStyle/>
          <a:p>
            <a:pPr indent="0" marL="0">
              <a:buNone/>
            </a:pPr>
            <a:r>
              <a:rPr lang="en-US" sz="1000" dirty="0">
                <a:solidFill>
                  <a:srgbClr val="CBD5E1"/>
                </a:solidFill>
              </a:rPr>
              <a:t>F1-Weighted: 0.904</a:t>
            </a:r>
            <a:endParaRPr lang="en-US" sz="1000" dirty="0"/>
          </a:p>
        </p:txBody>
      </p:sp>
      <p:sp>
        <p:nvSpPr>
          <p:cNvPr id="20" name="Shape 18"/>
          <p:cNvSpPr/>
          <p:nvPr/>
        </p:nvSpPr>
        <p:spPr>
          <a:xfrm>
            <a:off x="4965192" y="2542032"/>
            <a:ext cx="109728" cy="109728"/>
          </a:xfrm>
          <a:prstGeom prst="ellipse">
            <a:avLst/>
          </a:prstGeom>
          <a:solidFill>
            <a:srgbClr val="F59E0B"/>
          </a:solidFill>
          <a:ln w="12700">
            <a:solidFill>
              <a:srgbClr val="F59E0B"/>
            </a:solidFill>
            <a:prstDash val="solid"/>
          </a:ln>
        </p:spPr>
      </p:sp>
      <p:sp>
        <p:nvSpPr>
          <p:cNvPr id="21" name="Text 19"/>
          <p:cNvSpPr/>
          <p:nvPr/>
        </p:nvSpPr>
        <p:spPr>
          <a:xfrm>
            <a:off x="5184648" y="2487168"/>
            <a:ext cx="3566160" cy="256032"/>
          </a:xfrm>
          <a:prstGeom prst="rect">
            <a:avLst/>
          </a:prstGeom>
          <a:noFill/>
          <a:ln/>
        </p:spPr>
        <p:txBody>
          <a:bodyPr wrap="square" lIns="0" tIns="0" rIns="0" bIns="0" rtlCol="0" anchor="ctr"/>
          <a:lstStyle/>
          <a:p>
            <a:pPr indent="0" marL="0">
              <a:buNone/>
            </a:pPr>
            <a:r>
              <a:rPr lang="en-US" sz="1000" dirty="0">
                <a:solidFill>
                  <a:srgbClr val="CBD5E1"/>
                </a:solidFill>
              </a:rPr>
              <a:t>F1 Clase Grave: 0.803</a:t>
            </a:r>
            <a:endParaRPr lang="en-US" sz="1000" dirty="0"/>
          </a:p>
        </p:txBody>
      </p:sp>
      <p:sp>
        <p:nvSpPr>
          <p:cNvPr id="22" name="Shape 20"/>
          <p:cNvSpPr/>
          <p:nvPr/>
        </p:nvSpPr>
        <p:spPr>
          <a:xfrm>
            <a:off x="4965192" y="2834640"/>
            <a:ext cx="109728" cy="109728"/>
          </a:xfrm>
          <a:prstGeom prst="ellipse">
            <a:avLst/>
          </a:prstGeom>
          <a:solidFill>
            <a:srgbClr val="F59E0B"/>
          </a:solidFill>
          <a:ln w="12700">
            <a:solidFill>
              <a:srgbClr val="F59E0B"/>
            </a:solidFill>
            <a:prstDash val="solid"/>
          </a:ln>
        </p:spPr>
      </p:sp>
      <p:sp>
        <p:nvSpPr>
          <p:cNvPr id="23" name="Text 21"/>
          <p:cNvSpPr/>
          <p:nvPr/>
        </p:nvSpPr>
        <p:spPr>
          <a:xfrm>
            <a:off x="5184648" y="2779776"/>
            <a:ext cx="3566160" cy="256032"/>
          </a:xfrm>
          <a:prstGeom prst="rect">
            <a:avLst/>
          </a:prstGeom>
          <a:noFill/>
          <a:ln/>
        </p:spPr>
        <p:txBody>
          <a:bodyPr wrap="square" lIns="0" tIns="0" rIns="0" bIns="0" rtlCol="0" anchor="ctr"/>
          <a:lstStyle/>
          <a:p>
            <a:pPr indent="0" marL="0">
              <a:buNone/>
            </a:pPr>
            <a:r>
              <a:rPr lang="en-US" sz="1000" dirty="0">
                <a:solidFill>
                  <a:srgbClr val="CBD5E1"/>
                </a:solidFill>
              </a:rPr>
              <a:t>Brier Score: 0.078</a:t>
            </a:r>
            <a:endParaRPr lang="en-US" sz="1000" dirty="0"/>
          </a:p>
        </p:txBody>
      </p:sp>
      <p:sp>
        <p:nvSpPr>
          <p:cNvPr id="24" name="Shape 22"/>
          <p:cNvSpPr/>
          <p:nvPr/>
        </p:nvSpPr>
        <p:spPr>
          <a:xfrm>
            <a:off x="365760" y="3200400"/>
            <a:ext cx="4114800" cy="1508760"/>
          </a:xfrm>
          <a:prstGeom prst="rect">
            <a:avLst>
              <a:gd name="adj" fmla="val 3030"/>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25" name="Shape 23"/>
          <p:cNvSpPr/>
          <p:nvPr/>
        </p:nvSpPr>
        <p:spPr>
          <a:xfrm>
            <a:off x="365760" y="3200400"/>
            <a:ext cx="4114800" cy="320040"/>
          </a:xfrm>
          <a:prstGeom prst="rect">
            <a:avLst/>
          </a:prstGeom>
          <a:solidFill>
            <a:srgbClr val="7C3AED"/>
          </a:solidFill>
          <a:ln w="12700">
            <a:solidFill>
              <a:srgbClr val="7C3AED"/>
            </a:solidFill>
            <a:prstDash val="solid"/>
          </a:ln>
        </p:spPr>
      </p:sp>
      <p:sp>
        <p:nvSpPr>
          <p:cNvPr id="26" name="Text 24"/>
          <p:cNvSpPr/>
          <p:nvPr/>
        </p:nvSpPr>
        <p:spPr>
          <a:xfrm>
            <a:off x="502920" y="3200400"/>
            <a:ext cx="3840480" cy="320040"/>
          </a:xfrm>
          <a:prstGeom prst="rect">
            <a:avLst/>
          </a:prstGeom>
          <a:noFill/>
          <a:ln/>
        </p:spPr>
        <p:txBody>
          <a:bodyPr wrap="square" lIns="0" tIns="0" rIns="0" bIns="0" rtlCol="0" anchor="ctr"/>
          <a:lstStyle/>
          <a:p>
            <a:pPr indent="0" marL="0">
              <a:buNone/>
            </a:pPr>
            <a:r>
              <a:rPr lang="en-US" sz="1200" b="1" dirty="0">
                <a:solidFill>
                  <a:srgbClr val="FFFFFF"/>
                </a:solidFill>
              </a:rPr>
              <a:t>Hallazgos</a:t>
            </a:r>
            <a:endParaRPr lang="en-US" sz="1200" dirty="0"/>
          </a:p>
        </p:txBody>
      </p:sp>
      <p:sp>
        <p:nvSpPr>
          <p:cNvPr id="27" name="Shape 25"/>
          <p:cNvSpPr/>
          <p:nvPr/>
        </p:nvSpPr>
        <p:spPr>
          <a:xfrm>
            <a:off x="530352" y="3675888"/>
            <a:ext cx="109728" cy="109728"/>
          </a:xfrm>
          <a:prstGeom prst="ellipse">
            <a:avLst/>
          </a:prstGeom>
          <a:solidFill>
            <a:srgbClr val="7C3AED"/>
          </a:solidFill>
          <a:ln w="12700">
            <a:solidFill>
              <a:srgbClr val="7C3AED"/>
            </a:solidFill>
            <a:prstDash val="solid"/>
          </a:ln>
        </p:spPr>
      </p:sp>
      <p:sp>
        <p:nvSpPr>
          <p:cNvPr id="28" name="Text 26"/>
          <p:cNvSpPr/>
          <p:nvPr/>
        </p:nvSpPr>
        <p:spPr>
          <a:xfrm>
            <a:off x="749808" y="3621024"/>
            <a:ext cx="3566160" cy="256032"/>
          </a:xfrm>
          <a:prstGeom prst="rect">
            <a:avLst/>
          </a:prstGeom>
          <a:noFill/>
          <a:ln/>
        </p:spPr>
        <p:txBody>
          <a:bodyPr wrap="square" lIns="0" tIns="0" rIns="0" bIns="0" rtlCol="0" anchor="ctr"/>
          <a:lstStyle/>
          <a:p>
            <a:pPr indent="0" marL="0">
              <a:buNone/>
            </a:pPr>
            <a:r>
              <a:rPr lang="en-US" sz="1000" dirty="0">
                <a:solidFill>
                  <a:srgbClr val="CBD5E1"/>
                </a:solidFill>
              </a:rPr>
              <a:t>24.6% quejas graves</a:t>
            </a:r>
            <a:endParaRPr lang="en-US" sz="1000" dirty="0"/>
          </a:p>
        </p:txBody>
      </p:sp>
      <p:sp>
        <p:nvSpPr>
          <p:cNvPr id="29" name="Shape 27"/>
          <p:cNvSpPr/>
          <p:nvPr/>
        </p:nvSpPr>
        <p:spPr>
          <a:xfrm>
            <a:off x="530352" y="3968496"/>
            <a:ext cx="109728" cy="109728"/>
          </a:xfrm>
          <a:prstGeom prst="ellipse">
            <a:avLst/>
          </a:prstGeom>
          <a:solidFill>
            <a:srgbClr val="7C3AED"/>
          </a:solidFill>
          <a:ln w="12700">
            <a:solidFill>
              <a:srgbClr val="7C3AED"/>
            </a:solidFill>
            <a:prstDash val="solid"/>
          </a:ln>
        </p:spPr>
      </p:sp>
      <p:sp>
        <p:nvSpPr>
          <p:cNvPr id="30" name="Text 28"/>
          <p:cNvSpPr/>
          <p:nvPr/>
        </p:nvSpPr>
        <p:spPr>
          <a:xfrm>
            <a:off x="749808" y="3913632"/>
            <a:ext cx="3566160" cy="256032"/>
          </a:xfrm>
          <a:prstGeom prst="rect">
            <a:avLst/>
          </a:prstGeom>
          <a:noFill/>
          <a:ln/>
        </p:spPr>
        <p:txBody>
          <a:bodyPr wrap="square" lIns="0" tIns="0" rIns="0" bIns="0" rtlCol="0" anchor="ctr"/>
          <a:lstStyle/>
          <a:p>
            <a:pPr indent="0" marL="0">
              <a:buNone/>
            </a:pPr>
            <a:r>
              <a:rPr lang="en-US" sz="1000" dirty="0">
                <a:solidFill>
                  <a:srgbClr val="CBD5E1"/>
                </a:solidFill>
              </a:rPr>
              <a:t>Zona Gris 27.2%</a:t>
            </a:r>
            <a:endParaRPr lang="en-US" sz="1000" dirty="0"/>
          </a:p>
        </p:txBody>
      </p:sp>
      <p:sp>
        <p:nvSpPr>
          <p:cNvPr id="31" name="Shape 29"/>
          <p:cNvSpPr/>
          <p:nvPr/>
        </p:nvSpPr>
        <p:spPr>
          <a:xfrm>
            <a:off x="530352" y="4261104"/>
            <a:ext cx="109728" cy="109728"/>
          </a:xfrm>
          <a:prstGeom prst="ellipse">
            <a:avLst/>
          </a:prstGeom>
          <a:solidFill>
            <a:srgbClr val="7C3AED"/>
          </a:solidFill>
          <a:ln w="12700">
            <a:solidFill>
              <a:srgbClr val="7C3AED"/>
            </a:solidFill>
            <a:prstDash val="solid"/>
          </a:ln>
        </p:spPr>
      </p:sp>
      <p:sp>
        <p:nvSpPr>
          <p:cNvPr id="32" name="Text 30"/>
          <p:cNvSpPr/>
          <p:nvPr/>
        </p:nvSpPr>
        <p:spPr>
          <a:xfrm>
            <a:off x="749808" y="4206240"/>
            <a:ext cx="3566160" cy="256032"/>
          </a:xfrm>
          <a:prstGeom prst="rect">
            <a:avLst/>
          </a:prstGeom>
          <a:noFill/>
          <a:ln/>
        </p:spPr>
        <p:txBody>
          <a:bodyPr wrap="square" lIns="0" tIns="0" rIns="0" bIns="0" rtlCol="0" anchor="ctr"/>
          <a:lstStyle/>
          <a:p>
            <a:pPr indent="0" marL="0">
              <a:buNone/>
            </a:pPr>
            <a:r>
              <a:rPr lang="en-US" sz="1000" dirty="0">
                <a:solidFill>
                  <a:srgbClr val="CBD5E1"/>
                </a:solidFill>
              </a:rPr>
              <a:t>Coherencia con datos OCDE/OPS</a:t>
            </a:r>
            <a:endParaRPr lang="en-US" sz="1000" dirty="0"/>
          </a:p>
        </p:txBody>
      </p:sp>
      <p:sp>
        <p:nvSpPr>
          <p:cNvPr id="33" name="Shape 31"/>
          <p:cNvSpPr/>
          <p:nvPr/>
        </p:nvSpPr>
        <p:spPr>
          <a:xfrm>
            <a:off x="530352" y="4553712"/>
            <a:ext cx="109728" cy="109728"/>
          </a:xfrm>
          <a:prstGeom prst="ellipse">
            <a:avLst/>
          </a:prstGeom>
          <a:solidFill>
            <a:srgbClr val="7C3AED"/>
          </a:solidFill>
          <a:ln w="12700">
            <a:solidFill>
              <a:srgbClr val="7C3AED"/>
            </a:solidFill>
            <a:prstDash val="solid"/>
          </a:ln>
        </p:spPr>
      </p:sp>
      <p:sp>
        <p:nvSpPr>
          <p:cNvPr id="34" name="Text 32"/>
          <p:cNvSpPr/>
          <p:nvPr/>
        </p:nvSpPr>
        <p:spPr>
          <a:xfrm>
            <a:off x="749808" y="4498848"/>
            <a:ext cx="3566160" cy="256032"/>
          </a:xfrm>
          <a:prstGeom prst="rect">
            <a:avLst/>
          </a:prstGeom>
          <a:noFill/>
          <a:ln/>
        </p:spPr>
        <p:txBody>
          <a:bodyPr wrap="square" lIns="0" tIns="0" rIns="0" bIns="0" rtlCol="0" anchor="ctr"/>
          <a:lstStyle/>
          <a:p>
            <a:pPr indent="0" marL="0">
              <a:buNone/>
            </a:pPr>
            <a:r>
              <a:rPr lang="en-US" sz="1000" dirty="0">
                <a:solidFill>
                  <a:srgbClr val="CBD5E1"/>
                </a:solidFill>
              </a:rPr>
              <a:t>4 dimensiones narrativas</a:t>
            </a:r>
            <a:endParaRPr lang="en-US" sz="1000" dirty="0"/>
          </a:p>
        </p:txBody>
      </p:sp>
      <p:sp>
        <p:nvSpPr>
          <p:cNvPr id="35" name="Shape 33"/>
          <p:cNvSpPr/>
          <p:nvPr/>
        </p:nvSpPr>
        <p:spPr>
          <a:xfrm>
            <a:off x="4800600" y="3200400"/>
            <a:ext cx="4114800" cy="1508760"/>
          </a:xfrm>
          <a:prstGeom prst="rect">
            <a:avLst>
              <a:gd name="adj" fmla="val 3030"/>
            </a:avLst>
          </a:prstGeom>
          <a:solidFill>
            <a:srgbClr val="1A2538"/>
          </a:solidFill>
          <a:ln w="12700">
            <a:solidFill>
              <a:srgbClr val="0D9488"/>
            </a:solidFill>
            <a:prstDash val="solid"/>
          </a:ln>
          <a:effectLst>
            <a:outerShdw sx="100000" sy="100000" kx="0" ky="0" algn="bl" rotWithShape="0" blurRad="152400" dist="38100" dir="8100000">
              <a:srgbClr val="000000">
                <a:alpha val="25000"/>
              </a:srgbClr>
            </a:outerShdw>
          </a:effectLst>
        </p:spPr>
      </p:sp>
      <p:sp>
        <p:nvSpPr>
          <p:cNvPr id="36" name="Shape 34"/>
          <p:cNvSpPr/>
          <p:nvPr/>
        </p:nvSpPr>
        <p:spPr>
          <a:xfrm>
            <a:off x="4800600" y="3200400"/>
            <a:ext cx="4114800" cy="320040"/>
          </a:xfrm>
          <a:prstGeom prst="rect">
            <a:avLst/>
          </a:prstGeom>
          <a:solidFill>
            <a:srgbClr val="F43F5E"/>
          </a:solidFill>
          <a:ln w="12700">
            <a:solidFill>
              <a:srgbClr val="F43F5E"/>
            </a:solidFill>
            <a:prstDash val="solid"/>
          </a:ln>
        </p:spPr>
      </p:sp>
      <p:sp>
        <p:nvSpPr>
          <p:cNvPr id="37" name="Text 35"/>
          <p:cNvSpPr/>
          <p:nvPr/>
        </p:nvSpPr>
        <p:spPr>
          <a:xfrm>
            <a:off x="4937760" y="3200400"/>
            <a:ext cx="3840480" cy="320040"/>
          </a:xfrm>
          <a:prstGeom prst="rect">
            <a:avLst/>
          </a:prstGeom>
          <a:noFill/>
          <a:ln/>
        </p:spPr>
        <p:txBody>
          <a:bodyPr wrap="square" lIns="0" tIns="0" rIns="0" bIns="0" rtlCol="0" anchor="ctr"/>
          <a:lstStyle/>
          <a:p>
            <a:pPr indent="0" marL="0">
              <a:buNone/>
            </a:pPr>
            <a:r>
              <a:rPr lang="en-US" sz="1200" b="1" dirty="0">
                <a:solidFill>
                  <a:srgbClr val="FFFFFF"/>
                </a:solidFill>
              </a:rPr>
              <a:t>Trabajo Futuro</a:t>
            </a:r>
            <a:endParaRPr lang="en-US" sz="1200" dirty="0"/>
          </a:p>
        </p:txBody>
      </p:sp>
      <p:sp>
        <p:nvSpPr>
          <p:cNvPr id="38" name="Shape 36"/>
          <p:cNvSpPr/>
          <p:nvPr/>
        </p:nvSpPr>
        <p:spPr>
          <a:xfrm>
            <a:off x="4965192" y="3675888"/>
            <a:ext cx="109728" cy="109728"/>
          </a:xfrm>
          <a:prstGeom prst="ellipse">
            <a:avLst/>
          </a:prstGeom>
          <a:solidFill>
            <a:srgbClr val="F43F5E"/>
          </a:solidFill>
          <a:ln w="12700">
            <a:solidFill>
              <a:srgbClr val="F43F5E"/>
            </a:solidFill>
            <a:prstDash val="solid"/>
          </a:ln>
        </p:spPr>
      </p:sp>
      <p:sp>
        <p:nvSpPr>
          <p:cNvPr id="39" name="Text 37"/>
          <p:cNvSpPr/>
          <p:nvPr/>
        </p:nvSpPr>
        <p:spPr>
          <a:xfrm>
            <a:off x="5184648" y="3621024"/>
            <a:ext cx="3566160" cy="256032"/>
          </a:xfrm>
          <a:prstGeom prst="rect">
            <a:avLst/>
          </a:prstGeom>
          <a:noFill/>
          <a:ln/>
        </p:spPr>
        <p:txBody>
          <a:bodyPr wrap="square" lIns="0" tIns="0" rIns="0" bIns="0" rtlCol="0" anchor="ctr"/>
          <a:lstStyle/>
          <a:p>
            <a:pPr indent="0" marL="0">
              <a:buNone/>
            </a:pPr>
            <a:r>
              <a:rPr lang="en-US" sz="1000" dirty="0">
                <a:solidFill>
                  <a:srgbClr val="CBD5E1"/>
                </a:solidFill>
              </a:rPr>
              <a:t>Semáforo de alerta temprana</a:t>
            </a:r>
            <a:endParaRPr lang="en-US" sz="1000" dirty="0"/>
          </a:p>
        </p:txBody>
      </p:sp>
      <p:sp>
        <p:nvSpPr>
          <p:cNvPr id="40" name="Shape 38"/>
          <p:cNvSpPr/>
          <p:nvPr/>
        </p:nvSpPr>
        <p:spPr>
          <a:xfrm>
            <a:off x="4965192" y="3968496"/>
            <a:ext cx="109728" cy="109728"/>
          </a:xfrm>
          <a:prstGeom prst="ellipse">
            <a:avLst/>
          </a:prstGeom>
          <a:solidFill>
            <a:srgbClr val="F43F5E"/>
          </a:solidFill>
          <a:ln w="12700">
            <a:solidFill>
              <a:srgbClr val="F43F5E"/>
            </a:solidFill>
            <a:prstDash val="solid"/>
          </a:ln>
        </p:spPr>
      </p:sp>
      <p:sp>
        <p:nvSpPr>
          <p:cNvPr id="41" name="Text 39"/>
          <p:cNvSpPr/>
          <p:nvPr/>
        </p:nvSpPr>
        <p:spPr>
          <a:xfrm>
            <a:off x="5184648" y="3913632"/>
            <a:ext cx="3566160" cy="256032"/>
          </a:xfrm>
          <a:prstGeom prst="rect">
            <a:avLst/>
          </a:prstGeom>
          <a:noFill/>
          <a:ln/>
        </p:spPr>
        <p:txBody>
          <a:bodyPr wrap="square" lIns="0" tIns="0" rIns="0" bIns="0" rtlCol="0" anchor="ctr"/>
          <a:lstStyle/>
          <a:p>
            <a:pPr indent="0" marL="0">
              <a:buNone/>
            </a:pPr>
            <a:r>
              <a:rPr lang="en-US" sz="1000" dirty="0">
                <a:solidFill>
                  <a:srgbClr val="CBD5E1"/>
                </a:solidFill>
              </a:rPr>
              <a:t>Análisis por institución</a:t>
            </a:r>
            <a:endParaRPr lang="en-US" sz="1000" dirty="0"/>
          </a:p>
        </p:txBody>
      </p:sp>
      <p:sp>
        <p:nvSpPr>
          <p:cNvPr id="42" name="Shape 40"/>
          <p:cNvSpPr/>
          <p:nvPr/>
        </p:nvSpPr>
        <p:spPr>
          <a:xfrm>
            <a:off x="4965192" y="4261104"/>
            <a:ext cx="109728" cy="109728"/>
          </a:xfrm>
          <a:prstGeom prst="ellipse">
            <a:avLst/>
          </a:prstGeom>
          <a:solidFill>
            <a:srgbClr val="F43F5E"/>
          </a:solidFill>
          <a:ln w="12700">
            <a:solidFill>
              <a:srgbClr val="F43F5E"/>
            </a:solidFill>
            <a:prstDash val="solid"/>
          </a:ln>
        </p:spPr>
      </p:sp>
      <p:sp>
        <p:nvSpPr>
          <p:cNvPr id="43" name="Text 41"/>
          <p:cNvSpPr/>
          <p:nvPr/>
        </p:nvSpPr>
        <p:spPr>
          <a:xfrm>
            <a:off x="5184648" y="4206240"/>
            <a:ext cx="3566160" cy="256032"/>
          </a:xfrm>
          <a:prstGeom prst="rect">
            <a:avLst/>
          </a:prstGeom>
          <a:noFill/>
          <a:ln/>
        </p:spPr>
        <p:txBody>
          <a:bodyPr wrap="square" lIns="0" tIns="0" rIns="0" bIns="0" rtlCol="0" anchor="ctr"/>
          <a:lstStyle/>
          <a:p>
            <a:pPr indent="0" marL="0">
              <a:buNone/>
            </a:pPr>
            <a:r>
              <a:rPr lang="en-US" sz="1000" dirty="0">
                <a:solidFill>
                  <a:srgbClr val="CBD5E1"/>
                </a:solidFill>
              </a:rPr>
              <a:t>Integración multimodal</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Minería de Opinión - Influenza México</dc:title>
  <dc:subject>PptxGenJS Presentation</dc:subject>
  <dc:creator>PptxGenJS</dc:creator>
  <cp:lastModifiedBy>PptxGenJS</cp:lastModifiedBy>
  <cp:revision>1</cp:revision>
  <dcterms:created xsi:type="dcterms:W3CDTF">2026-04-22T16:15:16Z</dcterms:created>
  <dcterms:modified xsi:type="dcterms:W3CDTF">2026-04-22T16:15:16Z</dcterms:modified>
</cp:coreProperties>
</file>