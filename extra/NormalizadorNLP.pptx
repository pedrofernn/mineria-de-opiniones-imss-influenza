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640080"/>
            <a:ext cx="2743200" cy="27432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"/>
            <a:ext cx="1645920" cy="1645920"/>
          </a:xfrm>
          <a:prstGeom prst="ellipse">
            <a:avLst/>
          </a:prstGeom>
          <a:solidFill>
            <a:srgbClr val="A78BFA">
              <a:alpha val="28000"/>
            </a:srgbClr>
          </a:solidFill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Normalizador NLP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Pública MX — Influenza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Cuarta etapa del pipeline · Primera del bloque de modelado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el texto para TF-IDF, BoW y embeddings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4407408"/>
            <a:ext cx="24231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4407408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normalizar_nlp_v3.py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programa?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cada comentario en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texto_normalizado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spaCy para tokenizar y lematizar, pero controla cada decisión con reglas propias del dominio: protección de negaciones, consolidación de n-gramas, excepciones de lema y extracción de entidades. El resultado es el campo que el vectorizador consume directamente.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005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Negaciones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5270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'no', 'ni',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'nunca'…siempre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86868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10058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95160" y="152704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sistema" 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no_hay_sistema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7432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alt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ematización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326440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"pésimo" → "pésimo"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"malo")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606040"/>
            <a:ext cx="2011680" cy="15544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27432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326440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instituciones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lugares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4343400"/>
            <a:ext cx="4251960" cy="548640"/>
          </a:xfrm>
          <a:prstGeom prst="rect">
            <a:avLst/>
          </a:prstGeom>
          <a:solidFill>
            <a:srgbClr val="162E44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4343400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Peso Reddit  —  pondera comentarios más votados para TF-IDF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en el Pipeline de Investigación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508760" cy="35661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96012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" y="15087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965960"/>
            <a:ext cx="1143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057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MX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64792" y="242316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93392" y="868680"/>
            <a:ext cx="1508760" cy="35661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96012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93392" y="15087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LIMPIADOR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76272" y="1965960"/>
            <a:ext cx="1143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2057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2152" y="242316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30752" y="868680"/>
            <a:ext cx="1508760" cy="3566160"/>
          </a:xfrm>
          <a:prstGeom prst="rect">
            <a:avLst/>
          </a:prstGeom>
          <a:solidFill>
            <a:srgbClr val="16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0752" y="96012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730752" y="15087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ENRIQUECEDOR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13632" y="1965960"/>
            <a:ext cx="1143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2057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IFB · Polaridad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39512" y="242316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68112" y="868680"/>
            <a:ext cx="1508760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68112" y="96012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468112" y="15087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NORMALIZADOR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1965960"/>
            <a:ext cx="1143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057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NER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Reddit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76872" y="2423160"/>
            <a:ext cx="228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05472" y="868680"/>
            <a:ext cx="1508760" cy="3566160"/>
          </a:xfrm>
          <a:prstGeom prst="rect">
            <a:avLst/>
          </a:prstGeom>
          <a:solidFill>
            <a:srgbClr val="162E44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05472" y="96012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205472" y="150876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alt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AUTO_ETIQUETAR</a:t>
            </a:r>
            <a:endParaRPr lang="es-ES_tradnl" altLang="en-US" sz="1100" b="1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88352" y="1965960"/>
            <a:ext cx="11430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2057400"/>
            <a:ext cx="1508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BoW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D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4663440"/>
            <a:ext cx="8631936" cy="274320"/>
          </a:xfrm>
          <a:prstGeom prst="rect">
            <a:avLst/>
          </a:prstGeom>
          <a:solidFill>
            <a:srgbClr val="10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663440"/>
            <a:ext cx="8631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crudo  →  limpio  →  enriquecido  →  normalizado  →  vectorizado  →  modelo entrenado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70448" y="4434840"/>
            <a:ext cx="1508760" cy="21945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0448" y="4434840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9FF"/>
                </a:solidFill>
              </a:rPr>
              <a:t>◀ aquí estamos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Normalización — 8 Pasos por Registro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8503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 → texto plano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:cara_enojada: → "cara enojada"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83664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836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n-gramas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13055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medicamento" → no_hay_medicamento  (pre-spaCy)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898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— análisis morfológico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4553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+ morphologizer + lemmatizer + NER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95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ruido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puntuación, números y tokens &lt; 2 caracteres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868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85039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lema (excepciones)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1155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"pésimo" → pésimo  |  "falleció" → fallecer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83664"/>
            <a:ext cx="457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8836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186537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stopwords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213055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protegidos + dominio — descarta genéricos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898648"/>
            <a:ext cx="457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898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28803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entidades NER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14553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→ instituciones  |  LOC/GPE → lugares + respaldo manual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913632"/>
            <a:ext cx="457200" cy="457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39136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8953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peso Reddit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41605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log1p(score_c)×0.7 + log1p(score_p)×0.3 × factor profundidad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Crítico: Protección de Negaciones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protección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stopwords estándar eliminan 'no', 'ni', 'nunca'.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pierde el sentido semántico.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566160" cy="749808"/>
          </a:xfrm>
          <a:prstGeom prst="rect">
            <a:avLst/>
          </a:prstGeom>
          <a:solidFill>
            <a:srgbClr val="1028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13969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medicamento"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41401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tokens: ["medicamento"]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566160" cy="749808"/>
          </a:xfrm>
          <a:prstGeom prst="rect">
            <a:avLst/>
          </a:prstGeom>
          <a:solidFill>
            <a:srgbClr val="10284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05409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"hay medicamento"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328416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tokens: ["medicamento"]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3566160" cy="548640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4164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idénticos → el modelo NO puede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queja de disponibilidad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868680"/>
            <a:ext cx="434340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987552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NEGACIONES_PROTEGIDAS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1389888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negaciones se consolidan como n-gramas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spaCy tokenice.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103120"/>
            <a:ext cx="4023360" cy="749808"/>
          </a:xfrm>
          <a:prstGeom prst="rect">
            <a:avLst/>
          </a:prstGeom>
          <a:solidFill>
            <a:srgbClr val="10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139696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medicamento"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2414016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tokens: ["no_hay_medicamento"]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017520"/>
            <a:ext cx="4023360" cy="749808"/>
          </a:xfrm>
          <a:prstGeom prst="rect">
            <a:avLst/>
          </a:prstGeom>
          <a:solidFill>
            <a:srgbClr val="10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054096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"hay medicamento"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3328416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tokens: ["medicamento"]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041648"/>
            <a:ext cx="4023360" cy="548640"/>
          </a:xfrm>
          <a:prstGeom prst="rect">
            <a:avLst/>
          </a:prstGeom>
          <a:solidFill>
            <a:srgbClr val="0A282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04164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distintos → el modelo SÍ aprende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presencia y ausencia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N-gramas del Dominio — Consolidación Pre-spaCy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804672"/>
            <a:ext cx="1417320" cy="1417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9601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0" y="146304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6995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Bigramas y trigramas del dominio consolidados antes de que spaCy tokenice el texto.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original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5087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único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3560" y="1508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01368"/>
            <a:ext cx="85039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92808"/>
            <a:ext cx="8503920" cy="374904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38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sistema"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9385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no_hay_sistema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9385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 + estado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8503920" cy="374904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31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medicamento"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2331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no_hay_medicamento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3317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 + recurso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79192"/>
            <a:ext cx="8503920" cy="374904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249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"seguro social"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272491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seguro_social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7249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072384"/>
            <a:ext cx="8503920" cy="374904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1810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"horas de espera"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311810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horas_de_espera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1181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temporal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465576"/>
            <a:ext cx="8503920" cy="374904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5112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 cita"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63240" y="35112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sin_cita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51129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Negación + proceso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858768"/>
            <a:ext cx="8503920" cy="374904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0448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 mi bolsillo"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63240" y="390448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de_mi_bolsillo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39044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privado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374904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"vuelta y vuelta"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63240" y="42976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vuelta_y_vuelta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4297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Frustración burocrática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645152"/>
            <a:ext cx="8503920" cy="374904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908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"sector privado"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063240" y="469087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sector_privado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4690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Lematización con Tabla de Excepciones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con spaCy genérico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puede neutralizar términos con carga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 o clínica importante: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5661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12140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"pésimo" → "malo"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37744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intensidad emocional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5661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6148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"falleció" → "caer"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01752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temporalidad clínica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5661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0156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"murió" → "morir"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65760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genérica — aceptable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5661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41648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"tardaron" → "tardar"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29768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pasado — aceptable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868680"/>
            <a:ext cx="434340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987552"/>
            <a:ext cx="4069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EXCEPCIONES_LEMA (~45 entradas)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Excepciones → spaCy → texto original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antes del filtro de stopwords.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103120"/>
            <a:ext cx="40233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12140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"pésimo" → "pésimo"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377440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intensidad emocional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743200"/>
            <a:ext cx="40233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6148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"falleció" → "fallecer"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017520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Infinitivo + preserva forma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3383280"/>
            <a:ext cx="40233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40156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"no_hay_sistema" → "no_hay_sistema"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36592" y="3657600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N-grama: se conserva intacto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4023360"/>
            <a:ext cx="4023360" cy="548640"/>
          </a:xfrm>
          <a:prstGeom prst="rect">
            <a:avLst/>
          </a:prstGeom>
          <a:solidFill>
            <a:srgbClr val="1028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04164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"desabasto" → "desabasto"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6592" y="4297680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de dominio protegido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Entidades (NER)  &amp;  Peso Reddit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84632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Entidades Nombradas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detecta ORG, LOC y GPE. Un buscador de respaldo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variantes no reconocidas por el modelo.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 comentario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08483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0848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Canónico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5262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50592"/>
            <a:ext cx="45262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8716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"IMSS"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33472" y="248716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248716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26280" cy="34747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87121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imss"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33472" y="287121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0" y="287121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IMSS (respaldo manual)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18688"/>
            <a:ext cx="45262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25526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"ISSSTE"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33472" y="325526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49040" y="32552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ISSSTE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02736"/>
            <a:ext cx="4526280" cy="347472"/>
          </a:xfrm>
          <a:prstGeom prst="rect">
            <a:avLst/>
          </a:prstGeom>
          <a:solidFill>
            <a:srgbClr val="162E44"/>
          </a:solidFill>
          <a:ln w="12700">
            <a:solidFill>
              <a:srgbClr val="16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3931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"CDMX"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33472" y="36393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36393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4526280" cy="347472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02336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"Monterrey"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33472" y="402336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49040" y="402336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Monterrey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407408"/>
            <a:ext cx="4526280" cy="29260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07408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filtrar y comparar quejas por institución o región sin trabajo manual posterior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49240" y="868680"/>
            <a:ext cx="347472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960120"/>
            <a:ext cx="32004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Peso Reddit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0" y="14173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comentarios muy votados expresan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opinión validada por la comunidad.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40680" y="2103120"/>
            <a:ext cx="3246120" cy="914400"/>
          </a:xfrm>
          <a:prstGeom prst="rect">
            <a:avLst/>
          </a:prstGeom>
          <a:solidFill>
            <a:srgbClr val="1028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76272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log1p(score_c) </a:t>
            </a:r>
            <a:r>
              <a:rPr lang="es-ES_tradnl" alt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2423160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log1p(score_p) 0.3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2688336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penalización por profundidad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40680" y="3182112"/>
            <a:ext cx="324612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40680" y="3182112"/>
            <a:ext cx="54864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3182112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70%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321868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votado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40680" y="3730752"/>
            <a:ext cx="324612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40680" y="3730752"/>
            <a:ext cx="5486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40680" y="3730752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30%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80760" y="3767328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padre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0" y="437083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permite dar más influencia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esas filas en TF-IDF.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Entrada, Salida y Ejecución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173736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alt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dataset_enriquecido_YYYYMMDD.json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 enriquecedor. Hereda todos los campos de IFB, polaridad e impacto.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92040" y="868680"/>
            <a:ext cx="3931920" cy="1737360"/>
          </a:xfrm>
          <a:prstGeom prst="rect">
            <a:avLst/>
          </a:prstGeom>
          <a:solidFill>
            <a:srgbClr val="162E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96012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35331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dataset_normalizado_YYYYMMDD.json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64208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tokens · texto_normalizado · entidades_ner · peso_reddit · ratio_reduccion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8503920" cy="749808"/>
          </a:xfrm>
          <a:prstGeom prst="rect">
            <a:avLst/>
          </a:prstGeom>
          <a:solidFill>
            <a:srgbClr val="10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normalizar_nlp_v3.py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651760" cy="10972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803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03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9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379476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JSON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18795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los archivos disponibles y pide el número del dataset enriquecido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27832" y="3749040"/>
            <a:ext cx="2651760" cy="10972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9272" y="3803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803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9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94760" y="379476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salida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418795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nombre con timestamp o acepta el que el usuario escriba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35624" y="3749040"/>
            <a:ext cx="2651760" cy="109728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27064" y="38039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3803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9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02552" y="379476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en consola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27064" y="418795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→ 1280/4790 (26%)... actualizado en la misma línea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contiene cada registro normalizado?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57200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nuevos añadidos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53896"/>
            <a:ext cx="4297680" cy="36576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147218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["no_hay_medicamento", "imss", ...]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883664"/>
            <a:ext cx="4297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texto_normalizado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"no_hay_medicamento imss fallecer"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313432"/>
            <a:ext cx="4297680" cy="36576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31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tokens_raw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23317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743200"/>
            <a:ext cx="4297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tokens_final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276148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172968"/>
            <a:ext cx="4297680" cy="36576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9125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ratio_reduccion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319125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0.644  (35–55% típico)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42976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210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entidades_ner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362102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instituciones: ["IMSS"], lugares: ["CDMX"] 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032504"/>
            <a:ext cx="4297680" cy="365760"/>
          </a:xfrm>
          <a:prstGeom prst="rect">
            <a:avLst/>
          </a:prstGeom>
          <a:solidFill>
            <a:srgbClr val="102840"/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507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peso_reddit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94560" y="405079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2.3147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868680"/>
            <a:ext cx="3703320" cy="3977640"/>
          </a:xfrm>
          <a:prstGeom prst="rect">
            <a:avLst/>
          </a:prstGeom>
          <a:solidFill>
            <a:srgbClr val="162E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57800" y="960120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del campo texto_normalizado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57800" y="1481328"/>
            <a:ext cx="3429000" cy="713232"/>
          </a:xfrm>
          <a:prstGeom prst="rect">
            <a:avLst/>
          </a:prstGeom>
          <a:solidFill>
            <a:srgbClr val="10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157276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33872" y="15179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Bag of Words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33872" y="18013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texto_normalizado como corpus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al vectorizador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57800" y="2304288"/>
            <a:ext cx="3429000" cy="713232"/>
          </a:xfrm>
          <a:prstGeom prst="rect">
            <a:avLst/>
          </a:prstGeom>
          <a:solidFill>
            <a:srgbClr val="10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239572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833872" y="234086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 / Word2Vec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33872" y="262432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tokens como secuencia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embeddings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57800" y="3127248"/>
            <a:ext cx="3429000" cy="713232"/>
          </a:xfrm>
          <a:prstGeom prst="rect">
            <a:avLst/>
          </a:prstGeom>
          <a:solidFill>
            <a:srgbClr val="10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85232" y="32186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33872" y="316382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geoespacial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33872" y="344728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entidades_ner.lugares para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región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57800" y="3950208"/>
            <a:ext cx="3429000" cy="713232"/>
          </a:xfrm>
          <a:prstGeom prst="rect">
            <a:avLst/>
          </a:prstGeom>
          <a:solidFill>
            <a:srgbClr val="10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404164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833872" y="398678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institucional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33872" y="427024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entidades_ner.instituciones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IMSS vs ISSSTE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texto coloquial 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listo para modelar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pasos por registro — el orden importa: n-gramas antes de spaCy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461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negaciones y causales — la señal semántica más importante del corpus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033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45 excepciones — preserva intensidad emocional y temporalidad clínica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605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peso Reddit — añade dimensión institucional y ponderación de relevancia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24231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normalizar_nlp_v3.py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5596</Words>
  <Application>WPS Presentation</Application>
  <PresentationFormat>On-screen Show (16:9)</PresentationFormat>
  <Paragraphs>457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Consolas</vt:lpstr>
      <vt:lpstr>Consolas</vt:lpstr>
      <vt:lpstr>Consolas</vt:lpstr>
      <vt:lpstr>C059</vt:lpstr>
      <vt:lpstr>Microsoft YaHei</vt:lpstr>
      <vt:lpstr>Droid Sans Fallback</vt:lpstr>
      <vt:lpstr>Arial Unicode MS</vt:lpstr>
      <vt:lpstr>Noto Sans Symbols2</vt:lpstr>
      <vt:lpstr>Ubuntu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Normalizador NLP — Salud Pública MX</dc:title>
  <dc:creator>PptxGenJS</dc:creator>
  <dc:subject>PptxGenJS Presentation</dc:subject>
  <cp:lastModifiedBy>pedro</cp:lastModifiedBy>
  <cp:revision>2</cp:revision>
  <dcterms:created xsi:type="dcterms:W3CDTF">2026-04-17T18:04:28Z</dcterms:created>
  <dcterms:modified xsi:type="dcterms:W3CDTF">2026-04-17T18:04:28Z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