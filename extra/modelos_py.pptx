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A9D8F">
              <a:alpha val="25000"/>
            </a:srgbClr>
          </a:solidFill>
          <a:ln w="12700">
            <a:solidFill>
              <a:srgbClr val="2A9D8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286000" cy="2286000"/>
          </a:xfrm>
          <a:prstGeom prst="ellipse">
            <a:avLst/>
          </a:prstGeom>
          <a:solidFill>
            <a:srgbClr val="4BBFB4">
              <a:alpha val="18000"/>
            </a:srgbClr>
          </a:solidFill>
          <a:ln w="12700">
            <a:solidFill>
              <a:srgbClr val="4BBFB4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73152" cy="1645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modelos.py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B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Ineficiencia en Salud MX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CRISP-DM 5 — Modelado  ·  Clasificación binaria de comentarios ciudadanos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Proyecto: Ineficiencia del sector salud MX frente a la influenza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090672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906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/ media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objetivo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disponibles — Descripción general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estimadores compatibles con la API fit / predict / predict_proba de scikit-learn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011680" cy="347472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15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interno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115568"/>
            <a:ext cx="1828800" cy="347472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11155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base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115568"/>
            <a:ext cx="2286000" cy="347472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7952" y="11155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esperada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115568"/>
            <a:ext cx="2743200" cy="347472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115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46304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46304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_pipeline_cnb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1463040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9152" y="146304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ComplementNB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1463040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87952" y="146304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(sparse, ≥ 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463040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146304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para texto puro desbalanceado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1938528"/>
            <a:ext cx="2011680" cy="475488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938528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_pipeline_lr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1938528"/>
            <a:ext cx="1828800" cy="475488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193852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1938528"/>
            <a:ext cx="2286000" cy="475488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87952" y="193852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features BERT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1938528"/>
            <a:ext cx="2743200" cy="475488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193852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interpretables para tesis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414016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414016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_pipeline_svm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0" y="2414016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59152" y="241401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calibrado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0" y="2414016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87952" y="2414016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features BERT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2414016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41401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ante vocabulario ruidoso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2889504"/>
            <a:ext cx="2011680" cy="475488"/>
          </a:xfrm>
          <a:prstGeom prst="rect">
            <a:avLst/>
          </a:prstGeom>
          <a:solidFill>
            <a:srgbClr val="E8F7F5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889504"/>
            <a:ext cx="54864" cy="4754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2889504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obtener_ensamble_votacion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0" y="2889504"/>
            <a:ext cx="1828800" cy="475488"/>
          </a:xfrm>
          <a:prstGeom prst="rect">
            <a:avLst/>
          </a:prstGeom>
          <a:solidFill>
            <a:srgbClr val="E8F7F5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59152" y="2889504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VotingClassifier (soft)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114800" y="2889504"/>
            <a:ext cx="2286000" cy="475488"/>
          </a:xfrm>
          <a:prstGeom prst="rect">
            <a:avLst/>
          </a:prstGeom>
          <a:solidFill>
            <a:srgbClr val="E8F7F5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87952" y="2889504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features BERT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0" y="2889504"/>
            <a:ext cx="2743200" cy="475488"/>
          </a:xfrm>
          <a:prstGeom prst="rect">
            <a:avLst/>
          </a:prstGeom>
          <a:solidFill>
            <a:srgbClr val="E8F7F5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73952" y="2889504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Modelo principal recomendado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74320" y="4297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modelos se exponen a través del CATÁLOGO_MODELOS para iteración automática en comparar_modelos()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estos clasificadores — ComplementNB (CNB)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1920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matemático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38404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log-prob del complemento de cada clase → más estable que MultinomialNB cuando 'media' es la clase mayoritaria. Ideal para corpus desbalanceados.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804672"/>
            <a:ext cx="43891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804672"/>
            <a:ext cx="64008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804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Restricción: X ≥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097280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incluye MaxAbsScaler → clip(0) antes del clasificador para respetar la condición estricta de no-negatividad.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783080"/>
            <a:ext cx="4389120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783080"/>
            <a:ext cx="64008" cy="9418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783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Suavizado alpha = 0.5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20756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Óptimo para vocabulario de dominio reducido (salud pública MX). Equilibra entre over-fitting y under-smoothing en diccionarios especializados.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097280"/>
          </a:xfrm>
          <a:prstGeom prst="rect">
            <a:avLst/>
          </a:prstGeom>
          <a:solidFill>
            <a:srgbClr val="EAF0F3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64008" cy="1097280"/>
          </a:xfrm>
          <a:prstGeom prst="rect">
            <a:avLst/>
          </a:prstGeom>
          <a:solidFill>
            <a:srgbClr val="4BBFB4"/>
          </a:solidFill>
          <a:ln w="12700">
            <a:solidFill>
              <a:srgbClr val="4BBF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52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Helper interno — _clip_negativos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1272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MaxAbsScaler mapea cada columna a [-1, 1] pero no elimina negativos. _clip_negativos opera directamente sobre .data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sparse matrix para evitar densificación innecesaria en memoria. Solo se aplica en el pipeline CNB.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059936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599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puro · desbalanceado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estos clasificadores — Logistic Regression (LR)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834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1828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conjuntos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2651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β_j sobre features correlacionadas (prob_neg BERT ↔ sentimiento_num), a diferencia de CNB que asume independencia condicional.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834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04672"/>
            <a:ext cx="64008" cy="1828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804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solver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097280"/>
            <a:ext cx="2651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= lbfgs, class_weight = "balanced", max_iter = 2000. El balanceo compensa la distribución asimétrica del corpus.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804672"/>
            <a:ext cx="2834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04672"/>
            <a:ext cx="64008" cy="1828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804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Citabilidad en tesis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097280"/>
            <a:ext cx="2651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coeficientes β_j son directamente citables en la discusión de tesis como evidencia cuantitativa de las features más influyentes.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8595360" cy="749808"/>
          </a:xfrm>
          <a:prstGeom prst="rect">
            <a:avLst/>
          </a:prstGeom>
          <a:solidFill>
            <a:srgbClr val="E8F7F5"/>
          </a:solidFill>
          <a:ln w="1016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797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Ventaja clave frente a CNB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0540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modela la dependencia entre features → captura la correlación entre el score de sentimiento BERT y las features TF-IDF. CNB asume independencia condicional entre features, lo que penaliza features correlacionadas.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8595360" cy="566928"/>
          </a:xfrm>
          <a:prstGeom prst="rect">
            <a:avLst/>
          </a:prstGeom>
          <a:solidFill>
            <a:srgbClr val="EAF0F3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11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 = ens.named_estimators_['lr'].named_steps['lr'].coef_  # coeficientes post-entrenamiento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279392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279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BERT features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estos clasificadores — Linear SVM calibrado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06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1371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geométrico máximo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4023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 el margen en el espacio TF-IDF de alta dimensión → mejor generalización a vocabulario no visto. Especialmente útil para tweets/comentarios cortos con ruido ortográfico.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206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04672"/>
            <a:ext cx="64008" cy="1371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046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de probabilidades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097280"/>
            <a:ext cx="4023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no produce probabilidades nativas. Se envuelve en CalibratedClassifierCV(method="isotonic", cv=5) para habilitar predict_proba y participar en el soft voting del ensamble.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64008" cy="777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860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 C = 0.5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578608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Regularización intermedia: equilibrio entre margen amplio (C pequeño) y clasificación correcta de todos los puntos (C grande). Óptimo para textos ciudadanos con ortografía variable y argot.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18211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82112"/>
            <a:ext cx="54864" cy="6583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00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4381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sparse matrix + features BERT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94560" y="32918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450592" y="318211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50592" y="3182112"/>
            <a:ext cx="54864" cy="6583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3200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42032" y="34381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por hiperplano de máximo margen (C = 0.5)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370832" y="32918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26864" y="318211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26864" y="3182112"/>
            <a:ext cx="54864" cy="6583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3200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CalibratedCV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18304" y="34381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regression en cv=5 folds → predict_proba habilitado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47104" y="32918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03136" y="3182112"/>
            <a:ext cx="1920240" cy="658368"/>
          </a:xfrm>
          <a:prstGeom prst="rect">
            <a:avLst/>
          </a:prstGeom>
          <a:solidFill>
            <a:srgbClr val="E8F7F5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3136" y="3182112"/>
            <a:ext cx="54864" cy="6583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4576" y="3200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94576" y="34381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P(alta|X)_svm → alimenta el VotingClassifier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97764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977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BERT features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0" y="397764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3977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 ✓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principal — VotingClassifier (soft)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por defecto: [1, 2, 2]  ·  LR y SVM con doble peso que CNB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22960" cy="201168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822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" y="111556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08176" y="1115568"/>
            <a:ext cx="1554480" cy="658368"/>
          </a:xfrm>
          <a:prstGeom prst="rect">
            <a:avLst/>
          </a:prstGeom>
          <a:solidFill>
            <a:srgbClr val="5E9EA0"/>
          </a:solidFill>
          <a:ln w="12700">
            <a:solidFill>
              <a:srgbClr val="5E9E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1115568"/>
            <a:ext cx="15544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
</a:t>
            </a: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ComplementNB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80944" y="111556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73552" y="1170432"/>
            <a:ext cx="2011680" cy="530352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1704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P(alta|X)_cnb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1243584"/>
            <a:ext cx="384048" cy="384048"/>
          </a:xfrm>
          <a:prstGeom prst="ellipse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" y="1792224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08176" y="1792224"/>
            <a:ext cx="1554480" cy="6583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8176" y="1792224"/>
            <a:ext cx="15544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
</a:t>
            </a: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80944" y="1792224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1847088"/>
            <a:ext cx="2011680" cy="530352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8470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P(alta|X)_lr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49240" y="1920240"/>
            <a:ext cx="384048" cy="384048"/>
          </a:xfrm>
          <a:prstGeom prst="ellipse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5568" y="24688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408176" y="2468880"/>
            <a:ext cx="1554480" cy="658368"/>
          </a:xfrm>
          <a:prstGeom prst="rect">
            <a:avLst/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08176" y="2468880"/>
            <a:ext cx="15544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
</a:t>
            </a: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cal.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80944" y="24688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73552" y="2523744"/>
            <a:ext cx="2011680" cy="530352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3552" y="25237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P(alta|X)_svm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49240" y="2596896"/>
            <a:ext cx="384048" cy="384048"/>
          </a:xfrm>
          <a:prstGeom prst="ellipse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0" y="1115568"/>
            <a:ext cx="274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053328" y="1261872"/>
            <a:ext cx="1463040" cy="173736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1261872"/>
            <a:ext cx="146304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34656" y="1737360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808976" y="1719072"/>
            <a:ext cx="1097280" cy="69494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08976" y="1719072"/>
            <a:ext cx="1097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274320" y="32461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recomendados según corpus: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547872"/>
            <a:ext cx="6858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547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features BERT (default)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13248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2]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822192"/>
            <a:ext cx="6858000" cy="274320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3822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puro, sin BERT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13248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1, 2]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096512"/>
            <a:ext cx="6858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4096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pequeño (&lt; 1 000 muestras)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13248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1, 1]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4320" y="44074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Casos donde los tres clasificadores discrepan marcan la zona gris de ineficiencia sistémica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rápido — API fit / predict / predict_proba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5120640" cy="3200400"/>
          </a:xfrm>
          <a:prstGeom prst="rect">
            <a:avLst/>
          </a:prstGeom>
          <a:solidFill>
            <a:srgbClr val="EAF0F3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3200400"/>
          </a:xfrm>
          <a:prstGeom prst="rect">
            <a:avLst/>
          </a:prstGeom>
          <a:solidFill>
            <a:srgbClr val="4BBFB4"/>
          </a:solidFill>
          <a:ln w="12700">
            <a:solidFill>
              <a:srgbClr val="4BBF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4846320" cy="310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modelos import CATALOGO_MODELOS, obtener_ensamble_votacion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Opción 1 — Ensamble principal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 = obtener_ensamble_votacion()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ens.fit(X_train, y_train)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 = ens.predict(X_test)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y_proba = ens.predict_proba(X_test)  # shape (n, 2)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Opción 2 — Iterar todos los modelos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nombre, factory in CATALOGO_MODELOS.items():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modelo = factory()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modelo.fit(X_train, y_train)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Coeficientes de LR post-entrenamiento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 = ens.named_estimators_['lr']\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.named_steps['lr'].coef_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77840" y="804672"/>
            <a:ext cx="32918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804672"/>
            <a:ext cx="64008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804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(recomendado)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15000" y="1097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obtener_ensamble_votacion() devuelve un VotingClassifier listo para fit. Usa la misma API que cualquier estimador sklearn.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77840" y="1865376"/>
            <a:ext cx="32918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1865376"/>
            <a:ext cx="64008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865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completo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21579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CATÁLOGO_MODELOS es un dict factory → instancia. Iterar permite comparar los 4 modelos automáticamente sin cambiar analizar_v4.py.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2926080"/>
            <a:ext cx="32918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2926080"/>
            <a:ext cx="64008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2926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LR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15000" y="3218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named_estimators_['lr'] para extraer coef_ y citarlos directamente en la discusión de tesis.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1148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fit/predict/predict_proba es compatible con GridSearchCV, cross_val_score y cualquier herramienta de sklearn.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CATALOGO_MODELOS — Extensión sin fricción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572000" cy="1572768"/>
          </a:xfrm>
          <a:prstGeom prst="rect">
            <a:avLst/>
          </a:prstGeom>
          <a:solidFill>
            <a:srgbClr val="EAF0F3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15727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4297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CATALOGO_MODELOS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"ComplementNB":       _pipeline_cnb,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"LogisticRegression": _pipeline_lr,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"LinearSVM":          _pipeline_svm,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"VotingEnsemble":     obtener_ensamble_votacion,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0" y="804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añadir un modelo nuevo al pipeline completo: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143000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43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13248" y="114300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_pipeline_nuevo() en modelos.py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1655064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13248" y="165506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"NombreNuevo": _pipeline_nuevo al diccionario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167128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13248" y="2167128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más cambios — comparar_modelos() lo itera automáticamente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2679192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13248" y="267919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incluirlo en obtener_ensamble_votacion()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487168"/>
            <a:ext cx="8595360" cy="310896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4871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2816352"/>
            <a:ext cx="8595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163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281635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281635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Estimadores base, VotingClassifier, CalibratedClassifierCV, métricas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255264"/>
            <a:ext cx="8595360" cy="438912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552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325526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3255264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matrices sparse (CSR/CSC) en pipelines TF-IDF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694176"/>
            <a:ext cx="8595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69417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86000" y="36941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0" y="3694176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vectorizadas sobre arrays de probabilidades y coeficientes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279392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279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scikit-learn scipy numpy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completa del sistema de clasificación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modelos.py — Ineficiencia Salud MX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206240" cy="1572768"/>
          </a:xfrm>
          <a:prstGeom prst="rect">
            <a:avLst/>
          </a:prstGeom>
          <a:solidFill>
            <a:srgbClr val="1B3545"/>
          </a:solidFill>
          <a:ln w="6350">
            <a:solidFill>
              <a:srgbClr val="2A4A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43000"/>
            <a:ext cx="64008" cy="15727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16152"/>
            <a:ext cx="1188720" cy="219456"/>
          </a:xfrm>
          <a:prstGeom prst="roundRect">
            <a:avLst>
              <a:gd name="adj" fmla="val 12500"/>
            </a:avLst>
          </a:prstGeom>
          <a:solidFill>
            <a:srgbClr val="1B7A6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161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puro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472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ComplementNB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183794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Log-prob del complemento de clase. Requiere X ≥ 0. alpha = 0.5. Óptimo para corpus desbalanceado.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1143000"/>
            <a:ext cx="4206240" cy="1572768"/>
          </a:xfrm>
          <a:prstGeom prst="rect">
            <a:avLst/>
          </a:prstGeom>
          <a:solidFill>
            <a:srgbClr val="1B3545"/>
          </a:solidFill>
          <a:ln w="6350">
            <a:solidFill>
              <a:srgbClr val="2A4A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0872" y="1143000"/>
            <a:ext cx="64008" cy="15727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216152"/>
            <a:ext cx="1188720" cy="219456"/>
          </a:xfrm>
          <a:prstGeom prst="roundRect">
            <a:avLst>
              <a:gd name="adj" fmla="val 12500"/>
            </a:avLst>
          </a:prstGeom>
          <a:solidFill>
            <a:srgbClr val="1B7A6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2161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BERT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28032" y="1472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28032" y="183794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conjuntos. Solver lbfgs. class_weight balanced. Coeficientes citables en tesis.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880360"/>
            <a:ext cx="4206240" cy="1572768"/>
          </a:xfrm>
          <a:prstGeom prst="rect">
            <a:avLst/>
          </a:prstGeom>
          <a:solidFill>
            <a:srgbClr val="1B3545"/>
          </a:solidFill>
          <a:ln w="6350">
            <a:solidFill>
              <a:srgbClr val="2A4A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880360"/>
            <a:ext cx="64008" cy="15727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953512"/>
            <a:ext cx="1188720" cy="219456"/>
          </a:xfrm>
          <a:prstGeom prst="roundRect">
            <a:avLst>
              <a:gd name="adj" fmla="val 12500"/>
            </a:avLst>
          </a:prstGeom>
          <a:solidFill>
            <a:srgbClr val="1B7A6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53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BERT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32095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LinearSVM cal.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" y="357530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geométrico máximo. C = 0.5. Calibrado con isotonic cv=5 para predict_proba.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90872" y="2880360"/>
            <a:ext cx="4206240" cy="1572768"/>
          </a:xfrm>
          <a:prstGeom prst="rect">
            <a:avLst/>
          </a:prstGeom>
          <a:solidFill>
            <a:srgbClr val="1B4A4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90872" y="2880360"/>
            <a:ext cx="64008" cy="1572768"/>
          </a:xfrm>
          <a:prstGeom prst="rect">
            <a:avLst/>
          </a:prstGeom>
          <a:solidFill>
            <a:srgbClr val="4BBFB4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2953512"/>
            <a:ext cx="1188720" cy="219456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953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principal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28032" y="32095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VotingEnsemble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28032" y="357530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con pesos [1,2,2]. Promedia magnitud de confianza. Zona gris = ineficiencia sistémica.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Fase 5 — Modelado  ·  scikit-learn ≥ 1.3  ·  API fit / predict / predict_proba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modelos.py — Clasificación de Ineficiencia en Salud MX</dc:title>
  <dc:subject>PptxGenJS Presentation</dc:subject>
  <dc:creator>PptxGenJS</dc:creator>
  <cp:lastModifiedBy>PptxGenJS</cp:lastModifiedBy>
  <cp:revision>1</cp:revision>
  <dcterms:created xsi:type="dcterms:W3CDTF">2026-04-15T02:50:00Z</dcterms:created>
  <dcterms:modified xsi:type="dcterms:W3CDTF">2026-04-15T02:50:00Z</dcterms:modified>
</cp:coreProperties>
</file>