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3" r:id="rId20"/>
    <p:sldId id="274" r:id="rId21"/>
    <p:sldId id="275" r:id="rId22"/>
    <p:sldId id="276" r:id="rId23"/>
    <p:sldId id="277" r:id="rId24"/>
    <p:sldId id="278" r:id="rId25"/>
    <p:sldId id="279" r:id="rId26"/>
    <p:sldId id="280" r:id="rId27"/>
    <p:sldId id="281" r:id="rId28"/>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8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8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8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1B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02C39A"/>
          </a:solidFill>
          <a:ln w="12700">
            <a:solidFill>
              <a:srgbClr val="02C39A"/>
            </a:solidFill>
            <a:prstDash val="solid"/>
          </a:ln>
        </p:spPr>
      </p:sp>
      <p:sp>
        <p:nvSpPr>
          <p:cNvPr id="3" name="Shape 1"/>
          <p:cNvSpPr/>
          <p:nvPr/>
        </p:nvSpPr>
        <p:spPr>
          <a:xfrm>
            <a:off x="0" y="5001768"/>
            <a:ext cx="9144000" cy="137160"/>
          </a:xfrm>
          <a:prstGeom prst="rect">
            <a:avLst/>
          </a:prstGeom>
          <a:solidFill>
            <a:srgbClr val="065A82"/>
          </a:solidFill>
          <a:ln w="12700">
            <a:solidFill>
              <a:srgbClr val="065A82"/>
            </a:solidFill>
            <a:prstDash val="solid"/>
          </a:ln>
        </p:spPr>
      </p:sp>
      <p:sp>
        <p:nvSpPr>
          <p:cNvPr id="4" name="Text 2"/>
          <p:cNvSpPr/>
          <p:nvPr/>
        </p:nvSpPr>
        <p:spPr>
          <a:xfrm>
            <a:off x="749935" y="626110"/>
            <a:ext cx="6888480" cy="791210"/>
          </a:xfrm>
          <a:prstGeom prst="rect">
            <a:avLst/>
          </a:prstGeom>
          <a:noFill/>
        </p:spPr>
        <p:txBody>
          <a:bodyPr wrap="square" rtlCol="0" anchor="ctr"/>
          <a:lstStyle/>
          <a:p>
            <a:pPr marL="1828800" lvl="4" indent="0" algn="ctr">
              <a:buNone/>
            </a:pPr>
            <a:r>
              <a:rPr lang="es-ES_tradnl" altLang="en-US" sz="4000" b="1" dirty="0">
                <a:solidFill>
                  <a:srgbClr val="FFFFFF"/>
                </a:solidFill>
                <a:latin typeface="Trebuchet MS" pitchFamily="34" charset="0"/>
                <a:ea typeface="Trebuchet MS" pitchFamily="34" charset="-122"/>
                <a:cs typeface="Trebuchet MS" pitchFamily="34" charset="-120"/>
              </a:rPr>
              <a:t>MINERIA DE OPINIONES</a:t>
            </a:r>
            <a:endParaRPr lang="es-ES_tradnl" altLang="en-US" sz="4000" b="1" dirty="0">
              <a:solidFill>
                <a:srgbClr val="FFFFFF"/>
              </a:solidFill>
              <a:latin typeface="Trebuchet MS" pitchFamily="34" charset="0"/>
              <a:ea typeface="Trebuchet MS" pitchFamily="34" charset="-122"/>
              <a:cs typeface="Trebuchet MS" pitchFamily="34" charset="-120"/>
            </a:endParaRPr>
          </a:p>
        </p:txBody>
      </p:sp>
      <p:sp>
        <p:nvSpPr>
          <p:cNvPr id="5" name="Text 3"/>
          <p:cNvSpPr/>
          <p:nvPr/>
        </p:nvSpPr>
        <p:spPr>
          <a:xfrm>
            <a:off x="457200" y="1417320"/>
            <a:ext cx="8229600" cy="502920"/>
          </a:xfrm>
          <a:prstGeom prst="rect">
            <a:avLst/>
          </a:prstGeom>
          <a:noFill/>
        </p:spPr>
        <p:txBody>
          <a:bodyPr wrap="square" rtlCol="0" anchor="ctr"/>
          <a:lstStyle/>
          <a:p>
            <a:pPr marL="0" indent="0" algn="ctr">
              <a:buNone/>
            </a:pPr>
            <a:r>
              <a:rPr lang="en-US" sz="1700" i="1" dirty="0">
                <a:solidFill>
                  <a:srgbClr val="02C39A"/>
                </a:solidFill>
                <a:latin typeface="Calibri" pitchFamily="34" charset="0"/>
                <a:ea typeface="Calibri" pitchFamily="34" charset="-122"/>
                <a:cs typeface="Calibri" pitchFamily="34" charset="-120"/>
              </a:rPr>
              <a:t>Opinión Ciudadana · Salud Pública MX · Influenza</a:t>
            </a:r>
            <a:endParaRPr lang="en-US" sz="1700" dirty="0"/>
          </a:p>
        </p:txBody>
      </p:sp>
      <p:sp>
        <p:nvSpPr>
          <p:cNvPr id="6" name="Shape 4"/>
          <p:cNvSpPr/>
          <p:nvPr/>
        </p:nvSpPr>
        <p:spPr>
          <a:xfrm>
            <a:off x="347472" y="2331720"/>
            <a:ext cx="1508760" cy="685800"/>
          </a:xfrm>
          <a:prstGeom prst="rect">
            <a:avLst/>
          </a:prstGeom>
          <a:solidFill>
            <a:srgbClr val="02C39A"/>
          </a:solidFill>
          <a:ln w="12700">
            <a:solidFill>
              <a:srgbClr val="02C39A"/>
            </a:solidFill>
            <a:prstDash val="solid"/>
          </a:ln>
        </p:spPr>
      </p:sp>
      <p:sp>
        <p:nvSpPr>
          <p:cNvPr id="7" name="Text 5"/>
          <p:cNvSpPr/>
          <p:nvPr/>
        </p:nvSpPr>
        <p:spPr>
          <a:xfrm>
            <a:off x="347472" y="2331720"/>
            <a:ext cx="1508760" cy="274320"/>
          </a:xfrm>
          <a:prstGeom prst="rect">
            <a:avLst/>
          </a:prstGeom>
          <a:noFill/>
        </p:spPr>
        <p:txBody>
          <a:bodyPr wrap="square" lIns="0" tIns="0" rIns="0" bIns="0" rtlCol="0" anchor="ctr"/>
          <a:lstStyle/>
          <a:p>
            <a:pPr marL="0" indent="0" algn="ctr">
              <a:buNone/>
            </a:pPr>
            <a:r>
              <a:rPr lang="en-US" sz="1100" b="1" dirty="0">
                <a:solidFill>
                  <a:srgbClr val="021B2E"/>
                </a:solidFill>
                <a:latin typeface="Arial Black" pitchFamily="34" charset="0"/>
                <a:ea typeface="Arial Black" pitchFamily="34" charset="-122"/>
                <a:cs typeface="Arial Black" pitchFamily="34" charset="-120"/>
              </a:rPr>
              <a:t>01</a:t>
            </a:r>
            <a:endParaRPr lang="en-US" sz="1100" dirty="0"/>
          </a:p>
        </p:txBody>
      </p:sp>
      <p:sp>
        <p:nvSpPr>
          <p:cNvPr id="8" name="Text 6"/>
          <p:cNvSpPr/>
          <p:nvPr/>
        </p:nvSpPr>
        <p:spPr>
          <a:xfrm>
            <a:off x="347472" y="2606040"/>
            <a:ext cx="1508760" cy="411480"/>
          </a:xfrm>
          <a:prstGeom prst="rect">
            <a:avLst/>
          </a:prstGeom>
          <a:noFill/>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Scraper</a:t>
            </a:r>
            <a:endParaRPr lang="en-US" sz="1100" dirty="0"/>
          </a:p>
        </p:txBody>
      </p:sp>
      <p:sp>
        <p:nvSpPr>
          <p:cNvPr id="9" name="Shape 7"/>
          <p:cNvSpPr/>
          <p:nvPr/>
        </p:nvSpPr>
        <p:spPr>
          <a:xfrm>
            <a:off x="2016252" y="2331720"/>
            <a:ext cx="1508760" cy="685800"/>
          </a:xfrm>
          <a:prstGeom prst="rect">
            <a:avLst/>
          </a:prstGeom>
          <a:solidFill>
            <a:srgbClr val="1C7293"/>
          </a:solidFill>
          <a:ln w="12700">
            <a:solidFill>
              <a:srgbClr val="1C7293"/>
            </a:solidFill>
            <a:prstDash val="solid"/>
          </a:ln>
        </p:spPr>
      </p:sp>
      <p:sp>
        <p:nvSpPr>
          <p:cNvPr id="10" name="Text 8"/>
          <p:cNvSpPr/>
          <p:nvPr/>
        </p:nvSpPr>
        <p:spPr>
          <a:xfrm>
            <a:off x="2016252" y="2331720"/>
            <a:ext cx="1508760" cy="274320"/>
          </a:xfrm>
          <a:prstGeom prst="rect">
            <a:avLst/>
          </a:prstGeom>
          <a:noFill/>
        </p:spPr>
        <p:txBody>
          <a:bodyPr wrap="square" lIns="0" tIns="0" rIns="0" bIns="0" rtlCol="0" anchor="ctr"/>
          <a:lstStyle/>
          <a:p>
            <a:pPr marL="0" indent="0" algn="ctr">
              <a:buNone/>
            </a:pPr>
            <a:r>
              <a:rPr lang="en-US" sz="1100" b="1" dirty="0">
                <a:solidFill>
                  <a:srgbClr val="021B2E"/>
                </a:solidFill>
                <a:latin typeface="Arial Black" pitchFamily="34" charset="0"/>
                <a:ea typeface="Arial Black" pitchFamily="34" charset="-122"/>
                <a:cs typeface="Arial Black" pitchFamily="34" charset="-120"/>
              </a:rPr>
              <a:t>02</a:t>
            </a:r>
            <a:endParaRPr lang="en-US" sz="1100" dirty="0"/>
          </a:p>
        </p:txBody>
      </p:sp>
      <p:sp>
        <p:nvSpPr>
          <p:cNvPr id="11" name="Text 9"/>
          <p:cNvSpPr/>
          <p:nvPr/>
        </p:nvSpPr>
        <p:spPr>
          <a:xfrm>
            <a:off x="2016252" y="2606040"/>
            <a:ext cx="1508760" cy="411480"/>
          </a:xfrm>
          <a:prstGeom prst="rect">
            <a:avLst/>
          </a:prstGeom>
          <a:noFill/>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Limpiador</a:t>
            </a:r>
            <a:endParaRPr lang="en-US" sz="1100" dirty="0"/>
          </a:p>
        </p:txBody>
      </p:sp>
      <p:sp>
        <p:nvSpPr>
          <p:cNvPr id="12" name="Shape 10"/>
          <p:cNvSpPr/>
          <p:nvPr/>
        </p:nvSpPr>
        <p:spPr>
          <a:xfrm>
            <a:off x="3685032" y="2331720"/>
            <a:ext cx="1508760" cy="685800"/>
          </a:xfrm>
          <a:prstGeom prst="rect">
            <a:avLst/>
          </a:prstGeom>
          <a:solidFill>
            <a:srgbClr val="065A82"/>
          </a:solidFill>
          <a:ln w="12700">
            <a:solidFill>
              <a:srgbClr val="065A82"/>
            </a:solidFill>
            <a:prstDash val="solid"/>
          </a:ln>
        </p:spPr>
      </p:sp>
      <p:sp>
        <p:nvSpPr>
          <p:cNvPr id="13" name="Text 11"/>
          <p:cNvSpPr/>
          <p:nvPr/>
        </p:nvSpPr>
        <p:spPr>
          <a:xfrm>
            <a:off x="3685032" y="2331720"/>
            <a:ext cx="1508760" cy="274320"/>
          </a:xfrm>
          <a:prstGeom prst="rect">
            <a:avLst/>
          </a:prstGeom>
          <a:noFill/>
        </p:spPr>
        <p:txBody>
          <a:bodyPr wrap="square" lIns="0" tIns="0" rIns="0" bIns="0" rtlCol="0" anchor="ctr"/>
          <a:lstStyle/>
          <a:p>
            <a:pPr marL="0" indent="0" algn="ctr">
              <a:buNone/>
            </a:pPr>
            <a:r>
              <a:rPr lang="en-US" sz="1100" b="1" dirty="0">
                <a:solidFill>
                  <a:srgbClr val="021B2E"/>
                </a:solidFill>
                <a:latin typeface="Arial Black" pitchFamily="34" charset="0"/>
                <a:ea typeface="Arial Black" pitchFamily="34" charset="-122"/>
                <a:cs typeface="Arial Black" pitchFamily="34" charset="-120"/>
              </a:rPr>
              <a:t>03</a:t>
            </a:r>
            <a:endParaRPr lang="en-US" sz="1100" dirty="0"/>
          </a:p>
        </p:txBody>
      </p:sp>
      <p:sp>
        <p:nvSpPr>
          <p:cNvPr id="14" name="Text 12"/>
          <p:cNvSpPr/>
          <p:nvPr/>
        </p:nvSpPr>
        <p:spPr>
          <a:xfrm>
            <a:off x="3685032" y="2606040"/>
            <a:ext cx="1508760" cy="411480"/>
          </a:xfrm>
          <a:prstGeom prst="rect">
            <a:avLst/>
          </a:prstGeom>
          <a:noFill/>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Enriquecedor</a:t>
            </a:r>
            <a:endParaRPr lang="en-US" sz="1100" dirty="0"/>
          </a:p>
        </p:txBody>
      </p:sp>
      <p:sp>
        <p:nvSpPr>
          <p:cNvPr id="15" name="Shape 13"/>
          <p:cNvSpPr/>
          <p:nvPr/>
        </p:nvSpPr>
        <p:spPr>
          <a:xfrm>
            <a:off x="5353812" y="2331720"/>
            <a:ext cx="1508760" cy="685800"/>
          </a:xfrm>
          <a:prstGeom prst="rect">
            <a:avLst/>
          </a:prstGeom>
          <a:solidFill>
            <a:srgbClr val="4A90B8"/>
          </a:solidFill>
          <a:ln w="12700">
            <a:solidFill>
              <a:srgbClr val="4A90B8"/>
            </a:solidFill>
            <a:prstDash val="solid"/>
          </a:ln>
        </p:spPr>
      </p:sp>
      <p:sp>
        <p:nvSpPr>
          <p:cNvPr id="16" name="Text 14"/>
          <p:cNvSpPr/>
          <p:nvPr/>
        </p:nvSpPr>
        <p:spPr>
          <a:xfrm>
            <a:off x="5353812" y="2331720"/>
            <a:ext cx="1508760" cy="274320"/>
          </a:xfrm>
          <a:prstGeom prst="rect">
            <a:avLst/>
          </a:prstGeom>
          <a:noFill/>
        </p:spPr>
        <p:txBody>
          <a:bodyPr wrap="square" lIns="0" tIns="0" rIns="0" bIns="0" rtlCol="0" anchor="ctr"/>
          <a:lstStyle/>
          <a:p>
            <a:pPr marL="0" indent="0" algn="ctr">
              <a:buNone/>
            </a:pPr>
            <a:r>
              <a:rPr lang="en-US" sz="1100" b="1" dirty="0">
                <a:solidFill>
                  <a:srgbClr val="021B2E"/>
                </a:solidFill>
                <a:latin typeface="Arial Black" pitchFamily="34" charset="0"/>
                <a:ea typeface="Arial Black" pitchFamily="34" charset="-122"/>
                <a:cs typeface="Arial Black" pitchFamily="34" charset="-120"/>
              </a:rPr>
              <a:t>04</a:t>
            </a:r>
            <a:endParaRPr lang="en-US" sz="1100" dirty="0"/>
          </a:p>
        </p:txBody>
      </p:sp>
      <p:sp>
        <p:nvSpPr>
          <p:cNvPr id="17" name="Text 15"/>
          <p:cNvSpPr/>
          <p:nvPr/>
        </p:nvSpPr>
        <p:spPr>
          <a:xfrm>
            <a:off x="5353812" y="2606040"/>
            <a:ext cx="1508760" cy="411480"/>
          </a:xfrm>
          <a:prstGeom prst="rect">
            <a:avLst/>
          </a:prstGeom>
          <a:noFill/>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Normalizador NLP</a:t>
            </a:r>
            <a:endParaRPr lang="en-US" sz="1100" dirty="0"/>
          </a:p>
        </p:txBody>
      </p:sp>
      <p:sp>
        <p:nvSpPr>
          <p:cNvPr id="18" name="Shape 16"/>
          <p:cNvSpPr/>
          <p:nvPr/>
        </p:nvSpPr>
        <p:spPr>
          <a:xfrm>
            <a:off x="7022592" y="2331720"/>
            <a:ext cx="1508760" cy="685800"/>
          </a:xfrm>
          <a:prstGeom prst="rect">
            <a:avLst/>
          </a:prstGeom>
          <a:solidFill>
            <a:srgbClr val="7EB8D0"/>
          </a:solidFill>
          <a:ln w="12700">
            <a:solidFill>
              <a:srgbClr val="7EB8D0"/>
            </a:solidFill>
            <a:prstDash val="solid"/>
          </a:ln>
        </p:spPr>
      </p:sp>
      <p:sp>
        <p:nvSpPr>
          <p:cNvPr id="19" name="Text 17"/>
          <p:cNvSpPr/>
          <p:nvPr/>
        </p:nvSpPr>
        <p:spPr>
          <a:xfrm>
            <a:off x="7022592" y="2331720"/>
            <a:ext cx="1508760" cy="274320"/>
          </a:xfrm>
          <a:prstGeom prst="rect">
            <a:avLst/>
          </a:prstGeom>
          <a:noFill/>
        </p:spPr>
        <p:txBody>
          <a:bodyPr wrap="square" lIns="0" tIns="0" rIns="0" bIns="0" rtlCol="0" anchor="ctr"/>
          <a:lstStyle/>
          <a:p>
            <a:pPr marL="0" indent="0" algn="ctr">
              <a:buNone/>
            </a:pPr>
            <a:r>
              <a:rPr lang="en-US" sz="1100" b="1" dirty="0">
                <a:solidFill>
                  <a:srgbClr val="021B2E"/>
                </a:solidFill>
                <a:latin typeface="Arial Black" pitchFamily="34" charset="0"/>
                <a:ea typeface="Arial Black" pitchFamily="34" charset="-122"/>
                <a:cs typeface="Arial Black" pitchFamily="34" charset="-120"/>
              </a:rPr>
              <a:t>05</a:t>
            </a:r>
            <a:endParaRPr lang="en-US" sz="1100" dirty="0"/>
          </a:p>
        </p:txBody>
      </p:sp>
      <p:sp>
        <p:nvSpPr>
          <p:cNvPr id="20" name="Text 18"/>
          <p:cNvSpPr/>
          <p:nvPr/>
        </p:nvSpPr>
        <p:spPr>
          <a:xfrm>
            <a:off x="7022592" y="2606040"/>
            <a:ext cx="1508760" cy="411480"/>
          </a:xfrm>
          <a:prstGeom prst="rect">
            <a:avLst/>
          </a:prstGeom>
          <a:noFill/>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Auto-Etiquetador</a:t>
            </a:r>
            <a:endParaRPr lang="en-US" sz="1100" dirty="0"/>
          </a:p>
        </p:txBody>
      </p:sp>
      <p:sp>
        <p:nvSpPr>
          <p:cNvPr id="25" name="Text 23"/>
          <p:cNvSpPr/>
          <p:nvPr/>
        </p:nvSpPr>
        <p:spPr>
          <a:xfrm>
            <a:off x="457200" y="4121150"/>
            <a:ext cx="8229600" cy="365760"/>
          </a:xfrm>
          <a:prstGeom prst="rect">
            <a:avLst/>
          </a:prstGeom>
          <a:noFill/>
        </p:spPr>
        <p:txBody>
          <a:bodyPr wrap="square" rtlCol="0" anchor="ctr"/>
          <a:lstStyle/>
          <a:p>
            <a:pPr marL="0" indent="0" algn="ctr">
              <a:buNone/>
            </a:pPr>
            <a:r>
              <a:rPr lang="en-US" sz="1400" dirty="0">
                <a:solidFill>
                  <a:srgbClr val="8CB8CC"/>
                </a:solidFill>
                <a:latin typeface="Calibri" pitchFamily="34" charset="0"/>
                <a:ea typeface="Calibri" pitchFamily="34" charset="-122"/>
                <a:cs typeface="Calibri" pitchFamily="34" charset="-120"/>
              </a:rPr>
              <a:t>Reddit MX  →  Corpus listo para modelado ML</a:t>
            </a:r>
            <a:endParaRPr lang="en-US" sz="1400" dirty="0"/>
          </a:p>
        </p:txBody>
      </p:sp>
      <p:sp>
        <p:nvSpPr>
          <p:cNvPr id="26" name="Shape 4"/>
          <p:cNvSpPr/>
          <p:nvPr/>
        </p:nvSpPr>
        <p:spPr>
          <a:xfrm>
            <a:off x="1698117" y="3200400"/>
            <a:ext cx="1508760" cy="685800"/>
          </a:xfrm>
          <a:prstGeom prst="rect">
            <a:avLst/>
          </a:prstGeom>
          <a:solidFill>
            <a:srgbClr val="02C39A"/>
          </a:solidFill>
          <a:ln w="12700">
            <a:solidFill>
              <a:srgbClr val="02C39A"/>
            </a:solidFill>
            <a:prstDash val="solid"/>
          </a:ln>
        </p:spPr>
        <p:txBody>
          <a:bodyPr/>
          <a:p>
            <a:pPr marL="0" indent="0" algn="ctr">
              <a:buNone/>
            </a:pPr>
            <a:r>
              <a:rPr lang="en-US" sz="1100" b="1" dirty="0">
                <a:solidFill>
                  <a:srgbClr val="021B2E"/>
                </a:solidFill>
                <a:latin typeface="Arial Black" pitchFamily="34" charset="0"/>
                <a:ea typeface="Arial Black" pitchFamily="34" charset="-122"/>
                <a:cs typeface="Arial Black" pitchFamily="34" charset="-120"/>
                <a:sym typeface="+mn-ea"/>
              </a:rPr>
              <a:t>0</a:t>
            </a:r>
            <a:r>
              <a:rPr lang="es-ES_tradnl" altLang="en-US" sz="1100" b="1" dirty="0">
                <a:solidFill>
                  <a:srgbClr val="021B2E"/>
                </a:solidFill>
                <a:latin typeface="Arial Black" pitchFamily="34" charset="0"/>
                <a:ea typeface="Arial Black" pitchFamily="34" charset="-122"/>
                <a:cs typeface="Arial Black" pitchFamily="34" charset="-120"/>
                <a:sym typeface="+mn-ea"/>
              </a:rPr>
              <a:t>6</a:t>
            </a:r>
            <a:endParaRPr lang="es-ES_tradnl" altLang="en-US" sz="1100" b="1" dirty="0">
              <a:solidFill>
                <a:srgbClr val="021B2E"/>
              </a:solidFill>
              <a:latin typeface="Arial Black" pitchFamily="34" charset="0"/>
              <a:ea typeface="Arial Black" pitchFamily="34" charset="-122"/>
              <a:cs typeface="Arial Black" pitchFamily="34" charset="-120"/>
              <a:sym typeface="+mn-ea"/>
            </a:endParaRPr>
          </a:p>
        </p:txBody>
      </p:sp>
      <p:sp>
        <p:nvSpPr>
          <p:cNvPr id="27" name="Text Box 26"/>
          <p:cNvSpPr txBox="1"/>
          <p:nvPr/>
        </p:nvSpPr>
        <p:spPr>
          <a:xfrm>
            <a:off x="1880870" y="3520440"/>
            <a:ext cx="1325880" cy="260350"/>
          </a:xfrm>
          <a:prstGeom prst="rect">
            <a:avLst/>
          </a:prstGeom>
          <a:noFill/>
        </p:spPr>
        <p:txBody>
          <a:bodyPr wrap="square" rtlCol="0" anchor="t">
            <a:spAutoFit/>
          </a:bodyPr>
          <a:p>
            <a:r>
              <a:rPr lang="es-ES_tradnl" altLang="en-US" sz="1100" b="1" dirty="0">
                <a:solidFill>
                  <a:srgbClr val="FFFFFF"/>
                </a:solidFill>
                <a:latin typeface="Calibri" pitchFamily="34" charset="0"/>
                <a:ea typeface="Calibri" pitchFamily="34" charset="-122"/>
                <a:cs typeface="Calibri" pitchFamily="34" charset="-120"/>
                <a:sym typeface="+mn-ea"/>
              </a:rPr>
              <a:t>Vectorizado</a:t>
            </a:r>
            <a:endParaRPr lang="es-ES_tradnl" altLang="en-US" sz="1100" b="1" dirty="0">
              <a:solidFill>
                <a:srgbClr val="FFFFFF"/>
              </a:solidFill>
              <a:latin typeface="Calibri" pitchFamily="34" charset="0"/>
              <a:ea typeface="Calibri" pitchFamily="34" charset="-122"/>
              <a:cs typeface="Calibri" pitchFamily="34" charset="-120"/>
              <a:sym typeface="+mn-ea"/>
            </a:endParaRPr>
          </a:p>
        </p:txBody>
      </p:sp>
      <p:sp>
        <p:nvSpPr>
          <p:cNvPr id="28" name="Shape 4"/>
          <p:cNvSpPr/>
          <p:nvPr/>
        </p:nvSpPr>
        <p:spPr>
          <a:xfrm>
            <a:off x="3685032" y="3200400"/>
            <a:ext cx="1508760" cy="685800"/>
          </a:xfrm>
          <a:prstGeom prst="rect">
            <a:avLst/>
          </a:prstGeom>
          <a:solidFill>
            <a:schemeClr val="accent1">
              <a:lumMod val="75000"/>
            </a:schemeClr>
          </a:solidFill>
          <a:ln w="28575" cmpd="sng">
            <a:solidFill>
              <a:schemeClr val="accent1">
                <a:shade val="50000"/>
              </a:schemeClr>
            </a:solidFill>
            <a:prstDash val="solid"/>
          </a:ln>
        </p:spPr>
        <p:txBody>
          <a:bodyPr/>
          <a:p>
            <a:pPr marL="0" indent="0" algn="ctr">
              <a:buNone/>
            </a:pPr>
            <a:r>
              <a:rPr lang="en-US" sz="1100" b="1" dirty="0">
                <a:solidFill>
                  <a:srgbClr val="021B2E"/>
                </a:solidFill>
                <a:latin typeface="Arial Black" pitchFamily="34" charset="0"/>
                <a:ea typeface="Arial Black" pitchFamily="34" charset="-122"/>
                <a:cs typeface="Arial Black" pitchFamily="34" charset="-120"/>
                <a:sym typeface="+mn-ea"/>
              </a:rPr>
              <a:t>0</a:t>
            </a:r>
            <a:r>
              <a:rPr lang="es-ES_tradnl" altLang="en-US" sz="1100" b="1" dirty="0">
                <a:solidFill>
                  <a:srgbClr val="021B2E"/>
                </a:solidFill>
                <a:latin typeface="Arial Black" pitchFamily="34" charset="0"/>
                <a:ea typeface="Arial Black" pitchFamily="34" charset="-122"/>
                <a:cs typeface="Arial Black" pitchFamily="34" charset="-120"/>
                <a:sym typeface="+mn-ea"/>
              </a:rPr>
              <a:t>7</a:t>
            </a:r>
            <a:endParaRPr lang="es-ES_tradnl" altLang="en-US" sz="1100" b="1" dirty="0">
              <a:solidFill>
                <a:srgbClr val="021B2E"/>
              </a:solidFill>
              <a:latin typeface="Arial Black" pitchFamily="34" charset="0"/>
              <a:ea typeface="Arial Black" pitchFamily="34" charset="-122"/>
              <a:cs typeface="Arial Black" pitchFamily="34" charset="-120"/>
              <a:sym typeface="+mn-ea"/>
            </a:endParaRPr>
          </a:p>
        </p:txBody>
      </p:sp>
      <p:sp>
        <p:nvSpPr>
          <p:cNvPr id="29" name="Text Box 28"/>
          <p:cNvSpPr txBox="1"/>
          <p:nvPr/>
        </p:nvSpPr>
        <p:spPr>
          <a:xfrm>
            <a:off x="4019550" y="3583305"/>
            <a:ext cx="838835" cy="260350"/>
          </a:xfrm>
          <a:prstGeom prst="rect">
            <a:avLst/>
          </a:prstGeom>
          <a:noFill/>
        </p:spPr>
        <p:txBody>
          <a:bodyPr wrap="none" rtlCol="0" anchor="t">
            <a:spAutoFit/>
          </a:bodyPr>
          <a:p>
            <a:r>
              <a:rPr lang="es-ES_tradnl" altLang="en-US" sz="1100" b="1" dirty="0">
                <a:solidFill>
                  <a:srgbClr val="FFFFFF"/>
                </a:solidFill>
                <a:latin typeface="Calibri" pitchFamily="34" charset="0"/>
                <a:ea typeface="Calibri" pitchFamily="34" charset="-122"/>
                <a:cs typeface="Calibri" pitchFamily="34" charset="-120"/>
                <a:sym typeface="+mn-ea"/>
              </a:rPr>
              <a:t>Modelos</a:t>
            </a:r>
            <a:endParaRPr lang="es-ES_tradnl" altLang="en-US" sz="1100" b="1" dirty="0">
              <a:solidFill>
                <a:srgbClr val="FFFFFF"/>
              </a:solidFill>
              <a:latin typeface="Calibri" pitchFamily="34" charset="0"/>
              <a:ea typeface="Calibri" pitchFamily="34" charset="-122"/>
              <a:cs typeface="Calibri" pitchFamily="34" charset="-120"/>
              <a:sym typeface="+mn-ea"/>
            </a:endParaRPr>
          </a:p>
        </p:txBody>
      </p:sp>
      <p:sp>
        <p:nvSpPr>
          <p:cNvPr id="30" name="Shape 4"/>
          <p:cNvSpPr/>
          <p:nvPr/>
        </p:nvSpPr>
        <p:spPr>
          <a:xfrm>
            <a:off x="5513832" y="3200400"/>
            <a:ext cx="1508760" cy="685800"/>
          </a:xfrm>
          <a:prstGeom prst="rect">
            <a:avLst/>
          </a:prstGeom>
          <a:solidFill>
            <a:schemeClr val="accent5">
              <a:lumMod val="75000"/>
            </a:schemeClr>
          </a:solidFill>
          <a:ln w="12700" cmpd="sng">
            <a:solidFill>
              <a:schemeClr val="accent1">
                <a:shade val="50000"/>
              </a:schemeClr>
            </a:solidFill>
            <a:prstDash val="solid"/>
          </a:ln>
        </p:spPr>
        <p:txBody>
          <a:bodyPr/>
          <a:p>
            <a:pPr marL="0" indent="0" algn="ctr">
              <a:buNone/>
            </a:pPr>
            <a:r>
              <a:rPr lang="en-US" sz="1100" b="1" dirty="0">
                <a:solidFill>
                  <a:srgbClr val="021B2E"/>
                </a:solidFill>
                <a:latin typeface="Arial Black" pitchFamily="34" charset="0"/>
                <a:ea typeface="Arial Black" pitchFamily="34" charset="-122"/>
                <a:cs typeface="Arial Black" pitchFamily="34" charset="-120"/>
                <a:sym typeface="+mn-ea"/>
              </a:rPr>
              <a:t>0</a:t>
            </a:r>
            <a:r>
              <a:rPr lang="es-ES_tradnl" altLang="en-US" sz="1100" b="1" dirty="0">
                <a:solidFill>
                  <a:srgbClr val="021B2E"/>
                </a:solidFill>
                <a:latin typeface="Arial Black" pitchFamily="34" charset="0"/>
                <a:ea typeface="Arial Black" pitchFamily="34" charset="-122"/>
                <a:cs typeface="Arial Black" pitchFamily="34" charset="-120"/>
                <a:sym typeface="+mn-ea"/>
              </a:rPr>
              <a:t>8</a:t>
            </a:r>
            <a:endParaRPr lang="es-ES_tradnl" altLang="en-US" sz="1100" b="1" dirty="0">
              <a:solidFill>
                <a:srgbClr val="021B2E"/>
              </a:solidFill>
              <a:latin typeface="Arial Black" pitchFamily="34" charset="0"/>
              <a:ea typeface="Arial Black" pitchFamily="34" charset="-122"/>
              <a:cs typeface="Arial Black" pitchFamily="34" charset="-120"/>
              <a:sym typeface="+mn-ea"/>
            </a:endParaRPr>
          </a:p>
        </p:txBody>
      </p:sp>
      <p:sp>
        <p:nvSpPr>
          <p:cNvPr id="31" name="Text Box 30"/>
          <p:cNvSpPr txBox="1"/>
          <p:nvPr/>
        </p:nvSpPr>
        <p:spPr>
          <a:xfrm>
            <a:off x="5884545" y="3579495"/>
            <a:ext cx="767080" cy="245110"/>
          </a:xfrm>
          <a:prstGeom prst="rect">
            <a:avLst/>
          </a:prstGeom>
          <a:noFill/>
        </p:spPr>
        <p:txBody>
          <a:bodyPr wrap="none" rtlCol="0" anchor="t">
            <a:spAutoFit/>
          </a:bodyPr>
          <a:p>
            <a:r>
              <a:rPr lang="es-ES_tradnl" altLang="en-US" sz="1000" b="1" dirty="0">
                <a:solidFill>
                  <a:srgbClr val="FFFFFF"/>
                </a:solidFill>
                <a:latin typeface="Calibri" pitchFamily="34" charset="0"/>
                <a:ea typeface="Calibri" pitchFamily="34" charset="-122"/>
                <a:cs typeface="Calibri" pitchFamily="34" charset="-120"/>
                <a:sym typeface="+mn-ea"/>
              </a:rPr>
              <a:t>Analizar</a:t>
            </a:r>
            <a:endParaRPr lang="es-ES_tradnl" altLang="en-US" sz="1000" b="1" dirty="0">
              <a:solidFill>
                <a:srgbClr val="FFFFFF"/>
              </a:solidFill>
              <a:latin typeface="Calibri" pitchFamily="34" charset="0"/>
              <a:ea typeface="Calibri" pitchFamily="34" charset="-122"/>
              <a:cs typeface="Calibri" pitchFamily="34" charset="-12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21B2E"/>
        </a:solidFill>
        <a:effectLst/>
      </p:bgPr>
    </p:bg>
    <p:spTree>
      <p:nvGrpSpPr>
        <p:cNvPr id="1" name=""/>
        <p:cNvGrpSpPr/>
        <p:nvPr/>
      </p:nvGrpSpPr>
      <p:grpSpPr>
        <a:xfrm>
          <a:off x="0" y="0"/>
          <a:ext cx="0" cy="0"/>
          <a:chOff x="0" y="0"/>
          <a:chExt cx="0" cy="0"/>
        </a:xfrm>
      </p:grpSpPr>
      <p:sp>
        <p:nvSpPr>
          <p:cNvPr id="2" name="Text 0"/>
          <p:cNvSpPr/>
          <p:nvPr/>
        </p:nvSpPr>
        <p:spPr>
          <a:xfrm>
            <a:off x="5669280" y="182880"/>
            <a:ext cx="3291840" cy="4114800"/>
          </a:xfrm>
          <a:prstGeom prst="rect">
            <a:avLst/>
          </a:prstGeom>
          <a:noFill/>
        </p:spPr>
        <p:txBody>
          <a:bodyPr wrap="square" rtlCol="0" anchor="b"/>
          <a:lstStyle/>
          <a:p>
            <a:pPr marL="0" indent="0" algn="r">
              <a:buNone/>
            </a:pPr>
            <a:r>
              <a:rPr lang="en-US" sz="13000" b="1" dirty="0">
                <a:solidFill>
                  <a:srgbClr val="065A82">
                    <a:alpha val="40000"/>
                  </a:srgbClr>
                </a:solidFill>
                <a:latin typeface="Arial Black" pitchFamily="34" charset="0"/>
                <a:ea typeface="Arial Black" pitchFamily="34" charset="-122"/>
                <a:cs typeface="Arial Black" pitchFamily="34" charset="-120"/>
              </a:rPr>
              <a:t>01</a:t>
            </a:r>
            <a:endParaRPr lang="en-US" sz="13000" dirty="0"/>
          </a:p>
        </p:txBody>
      </p:sp>
      <p:sp>
        <p:nvSpPr>
          <p:cNvPr id="3" name="Shape 1"/>
          <p:cNvSpPr/>
          <p:nvPr/>
        </p:nvSpPr>
        <p:spPr>
          <a:xfrm>
            <a:off x="0" y="0"/>
            <a:ext cx="9144000" cy="109728"/>
          </a:xfrm>
          <a:prstGeom prst="rect">
            <a:avLst/>
          </a:prstGeom>
          <a:solidFill>
            <a:srgbClr val="02C39A"/>
          </a:solidFill>
          <a:ln w="12700">
            <a:solidFill>
              <a:srgbClr val="02C39A"/>
            </a:solidFill>
            <a:prstDash val="solid"/>
          </a:ln>
        </p:spPr>
      </p:sp>
      <p:sp>
        <p:nvSpPr>
          <p:cNvPr id="4" name="Shape 2"/>
          <p:cNvSpPr/>
          <p:nvPr/>
        </p:nvSpPr>
        <p:spPr>
          <a:xfrm>
            <a:off x="457200" y="411480"/>
            <a:ext cx="1737360" cy="347472"/>
          </a:xfrm>
          <a:prstGeom prst="rect">
            <a:avLst/>
          </a:prstGeom>
          <a:solidFill>
            <a:srgbClr val="02C39A"/>
          </a:solidFill>
          <a:ln w="12700">
            <a:solidFill>
              <a:srgbClr val="02C39A"/>
            </a:solidFill>
            <a:prstDash val="solid"/>
          </a:ln>
        </p:spPr>
      </p:sp>
      <p:sp>
        <p:nvSpPr>
          <p:cNvPr id="5" name="Text 3"/>
          <p:cNvSpPr/>
          <p:nvPr/>
        </p:nvSpPr>
        <p:spPr>
          <a:xfrm>
            <a:off x="457200" y="411480"/>
            <a:ext cx="1737360" cy="347472"/>
          </a:xfrm>
          <a:prstGeom prst="rect">
            <a:avLst/>
          </a:prstGeom>
          <a:noFill/>
        </p:spPr>
        <p:txBody>
          <a:bodyPr wrap="square" lIns="0" tIns="0" rIns="0" bIns="0" rtlCol="0" anchor="ctr"/>
          <a:lstStyle/>
          <a:p>
            <a:pPr marL="0" indent="0" algn="ctr">
              <a:buNone/>
            </a:pPr>
            <a:r>
              <a:rPr lang="en-US" sz="1100" b="1" dirty="0">
                <a:solidFill>
                  <a:srgbClr val="021B2E"/>
                </a:solidFill>
                <a:latin typeface="Calibri" pitchFamily="34" charset="0"/>
                <a:ea typeface="Calibri" pitchFamily="34" charset="-122"/>
                <a:cs typeface="Calibri" pitchFamily="34" charset="-120"/>
              </a:rPr>
              <a:t>MÓDULO 1</a:t>
            </a:r>
            <a:endParaRPr lang="en-US" sz="1100" dirty="0"/>
          </a:p>
        </p:txBody>
      </p:sp>
      <p:sp>
        <p:nvSpPr>
          <p:cNvPr id="6" name="Text 4"/>
          <p:cNvSpPr/>
          <p:nvPr/>
        </p:nvSpPr>
        <p:spPr>
          <a:xfrm>
            <a:off x="457200" y="960120"/>
            <a:ext cx="7772400" cy="1371600"/>
          </a:xfrm>
          <a:prstGeom prst="rect">
            <a:avLst/>
          </a:prstGeom>
          <a:noFill/>
        </p:spPr>
        <p:txBody>
          <a:bodyPr wrap="square" rtlCol="0" anchor="ctr"/>
          <a:lstStyle/>
          <a:p>
            <a:pPr marL="0" indent="0">
              <a:buNone/>
            </a:pPr>
            <a:r>
              <a:rPr lang="en-US" sz="3800" b="1" dirty="0">
                <a:solidFill>
                  <a:srgbClr val="FFFFFF"/>
                </a:solidFill>
                <a:latin typeface="Trebuchet MS" pitchFamily="34" charset="0"/>
                <a:ea typeface="Trebuchet MS" pitchFamily="34" charset="-122"/>
                <a:cs typeface="Trebuchet MS" pitchFamily="34" charset="-120"/>
              </a:rPr>
              <a:t>Scraper de Reddit MX</a:t>
            </a:r>
            <a:endParaRPr lang="en-US" sz="3800" dirty="0"/>
          </a:p>
        </p:txBody>
      </p:sp>
      <p:sp>
        <p:nvSpPr>
          <p:cNvPr id="7" name="Text 5"/>
          <p:cNvSpPr/>
          <p:nvPr/>
        </p:nvSpPr>
        <p:spPr>
          <a:xfrm>
            <a:off x="457200" y="2468880"/>
            <a:ext cx="5943600" cy="640080"/>
          </a:xfrm>
          <a:prstGeom prst="rect">
            <a:avLst/>
          </a:prstGeom>
          <a:noFill/>
        </p:spPr>
        <p:txBody>
          <a:bodyPr wrap="square" rtlCol="0" anchor="ctr"/>
          <a:lstStyle/>
          <a:p>
            <a:pPr marL="0" indent="0">
              <a:buNone/>
            </a:pPr>
            <a:r>
              <a:rPr lang="en-US" sz="1600" i="1" dirty="0">
                <a:solidFill>
                  <a:srgbClr val="8CB8CC"/>
                </a:solidFill>
                <a:latin typeface="Calibri" pitchFamily="34" charset="0"/>
                <a:ea typeface="Calibri" pitchFamily="34" charset="-122"/>
                <a:cs typeface="Calibri" pitchFamily="34" charset="-120"/>
              </a:rPr>
              <a:t>Recolección de opiniones ciudadanas sobre salud pública e influenza</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65A82"/>
          </a:solidFill>
          <a:ln w="12700">
            <a:solidFill>
              <a:srgbClr val="065A82"/>
            </a:solidFill>
            <a:prstDash val="solid"/>
          </a:ln>
        </p:spPr>
      </p:sp>
      <p:sp>
        <p:nvSpPr>
          <p:cNvPr id="3" name="Shape 1"/>
          <p:cNvSpPr/>
          <p:nvPr/>
        </p:nvSpPr>
        <p:spPr>
          <a:xfrm>
            <a:off x="0" y="749808"/>
            <a:ext cx="9144000" cy="54864"/>
          </a:xfrm>
          <a:prstGeom prst="rect">
            <a:avLst/>
          </a:prstGeom>
          <a:solidFill>
            <a:srgbClr val="02C39A"/>
          </a:solidFill>
          <a:ln w="12700">
            <a:solidFill>
              <a:srgbClr val="02C39A"/>
            </a:solidFill>
            <a:prstDash val="solid"/>
          </a:ln>
        </p:spPr>
      </p:sp>
      <p:sp>
        <p:nvSpPr>
          <p:cNvPr id="4" name="Text 2"/>
          <p:cNvSpPr/>
          <p:nvPr/>
        </p:nvSpPr>
        <p:spPr>
          <a:xfrm>
            <a:off x="320040" y="0"/>
            <a:ext cx="8503920" cy="749808"/>
          </a:xfrm>
          <a:prstGeom prst="rect">
            <a:avLst/>
          </a:prstGeom>
          <a:noFill/>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Scraper — Recolección y Técnicas Clave</a:t>
            </a:r>
            <a:endParaRPr lang="en-US" sz="2200" dirty="0"/>
          </a:p>
        </p:txBody>
      </p:sp>
      <p:sp>
        <p:nvSpPr>
          <p:cNvPr id="5" name="Shape 3"/>
          <p:cNvSpPr/>
          <p:nvPr/>
        </p:nvSpPr>
        <p:spPr>
          <a:xfrm>
            <a:off x="320040" y="1005840"/>
            <a:ext cx="8503920" cy="1261872"/>
          </a:xfrm>
          <a:prstGeom prst="rect">
            <a:avLst/>
          </a:prstGeom>
          <a:solidFill>
            <a:srgbClr val="FFFFFF"/>
          </a:solidFill>
          <a:ln w="12700">
            <a:solidFill>
              <a:srgbClr val="D8E8F0"/>
            </a:solidFill>
            <a:prstDash val="solid"/>
          </a:ln>
          <a:effectLst>
            <a:outerShdw blurRad="50800" dist="25400" dir="8100000" algn="bl" rotWithShape="0">
              <a:srgbClr val="000000">
                <a:alpha val="7000"/>
              </a:srgbClr>
            </a:outerShdw>
          </a:effectLst>
        </p:spPr>
      </p:sp>
      <p:sp>
        <p:nvSpPr>
          <p:cNvPr id="6" name="Shape 4"/>
          <p:cNvSpPr/>
          <p:nvPr/>
        </p:nvSpPr>
        <p:spPr>
          <a:xfrm>
            <a:off x="320040" y="1005840"/>
            <a:ext cx="64008" cy="1261872"/>
          </a:xfrm>
          <a:prstGeom prst="rect">
            <a:avLst/>
          </a:prstGeom>
          <a:solidFill>
            <a:srgbClr val="02C39A"/>
          </a:solidFill>
          <a:ln w="12700">
            <a:solidFill>
              <a:srgbClr val="02C39A"/>
            </a:solidFill>
            <a:prstDash val="solid"/>
          </a:ln>
        </p:spPr>
      </p:sp>
      <p:sp>
        <p:nvSpPr>
          <p:cNvPr id="7" name="Text 5"/>
          <p:cNvSpPr/>
          <p:nvPr/>
        </p:nvSpPr>
        <p:spPr>
          <a:xfrm>
            <a:off x="502920" y="1097280"/>
            <a:ext cx="8138160" cy="320040"/>
          </a:xfrm>
          <a:prstGeom prst="rect">
            <a:avLst/>
          </a:prstGeom>
          <a:noFill/>
        </p:spPr>
        <p:txBody>
          <a:bodyPr wrap="square" lIns="0" tIns="0" rIns="0" bIns="0" rtlCol="0" anchor="ctr"/>
          <a:lstStyle/>
          <a:p>
            <a:pPr marL="0" indent="0">
              <a:buNone/>
            </a:pPr>
            <a:r>
              <a:rPr lang="en-US" sz="1400" b="1" dirty="0">
                <a:solidFill>
                  <a:srgbClr val="1A2E3B"/>
                </a:solidFill>
                <a:latin typeface="Trebuchet MS" pitchFamily="34" charset="0"/>
                <a:ea typeface="Trebuchet MS" pitchFamily="34" charset="-122"/>
                <a:cs typeface="Trebuchet MS" pitchFamily="34" charset="-120"/>
              </a:rPr>
              <a:t>Diccionarios × Producto Cartesiano</a:t>
            </a:r>
            <a:endParaRPr lang="en-US" sz="1400" dirty="0"/>
          </a:p>
        </p:txBody>
      </p:sp>
      <p:sp>
        <p:nvSpPr>
          <p:cNvPr id="8" name="Text 6"/>
          <p:cNvSpPr/>
          <p:nvPr/>
        </p:nvSpPr>
        <p:spPr>
          <a:xfrm>
            <a:off x="502920" y="1389888"/>
            <a:ext cx="8046720" cy="786384"/>
          </a:xfrm>
          <a:prstGeom prst="rect">
            <a:avLst/>
          </a:prstGeom>
          <a:noFill/>
        </p:spPr>
        <p:txBody>
          <a:bodyPr wrap="square" lIns="0" tIns="0" rIns="0" bIns="0" rtlCol="0" anchor="t"/>
          <a:lstStyle/>
          <a:p>
            <a:pPr marL="0" indent="0">
              <a:buNone/>
            </a:pPr>
            <a:r>
              <a:rPr lang="en-US" sz="1300" dirty="0">
                <a:solidFill>
                  <a:srgbClr val="5E7E8E"/>
                </a:solidFill>
                <a:latin typeface="Calibri" pitchFamily="34" charset="0"/>
                <a:ea typeface="Calibri" pitchFamily="34" charset="-122"/>
                <a:cs typeface="Calibri" pitchFamily="34" charset="-120"/>
              </a:rPr>
              <a:t>Combina 3 dimensiones: Enfermedad (influenza, H1N1, tamiflu…), Institución (IMSS, ISSSTE, Secretaría de Salud…) y Problema (desabasto, saturación, negligencia…). itertools.product genera un pool exhaustivo de queries, mezclado aleatoriamente con random.shuffle() para garantizar representatividad incluso si se interrumpe la colecta.</a:t>
            </a:r>
            <a:endParaRPr lang="en-US" sz="1300" dirty="0"/>
          </a:p>
        </p:txBody>
      </p:sp>
      <p:sp>
        <p:nvSpPr>
          <p:cNvPr id="9" name="Shape 7"/>
          <p:cNvSpPr/>
          <p:nvPr/>
        </p:nvSpPr>
        <p:spPr>
          <a:xfrm>
            <a:off x="320040" y="2377440"/>
            <a:ext cx="8503920" cy="1261872"/>
          </a:xfrm>
          <a:prstGeom prst="rect">
            <a:avLst/>
          </a:prstGeom>
          <a:solidFill>
            <a:srgbClr val="FFFFFF"/>
          </a:solidFill>
          <a:ln w="12700">
            <a:solidFill>
              <a:srgbClr val="D8E8F0"/>
            </a:solidFill>
            <a:prstDash val="solid"/>
          </a:ln>
          <a:effectLst>
            <a:outerShdw blurRad="50800" dist="25400" dir="8100000" algn="bl" rotWithShape="0">
              <a:srgbClr val="000000">
                <a:alpha val="7000"/>
              </a:srgbClr>
            </a:outerShdw>
          </a:effectLst>
        </p:spPr>
      </p:sp>
      <p:sp>
        <p:nvSpPr>
          <p:cNvPr id="10" name="Shape 8"/>
          <p:cNvSpPr/>
          <p:nvPr/>
        </p:nvSpPr>
        <p:spPr>
          <a:xfrm>
            <a:off x="320040" y="2377440"/>
            <a:ext cx="64008" cy="1261872"/>
          </a:xfrm>
          <a:prstGeom prst="rect">
            <a:avLst/>
          </a:prstGeom>
          <a:solidFill>
            <a:srgbClr val="02C39A"/>
          </a:solidFill>
          <a:ln w="12700">
            <a:solidFill>
              <a:srgbClr val="02C39A"/>
            </a:solidFill>
            <a:prstDash val="solid"/>
          </a:ln>
        </p:spPr>
      </p:sp>
      <p:sp>
        <p:nvSpPr>
          <p:cNvPr id="11" name="Text 9"/>
          <p:cNvSpPr/>
          <p:nvPr/>
        </p:nvSpPr>
        <p:spPr>
          <a:xfrm>
            <a:off x="502920" y="2468880"/>
            <a:ext cx="8138160" cy="320040"/>
          </a:xfrm>
          <a:prstGeom prst="rect">
            <a:avLst/>
          </a:prstGeom>
          <a:noFill/>
        </p:spPr>
        <p:txBody>
          <a:bodyPr wrap="square" lIns="0" tIns="0" rIns="0" bIns="0" rtlCol="0" anchor="ctr"/>
          <a:lstStyle/>
          <a:p>
            <a:pPr marL="0" indent="0">
              <a:buNone/>
            </a:pPr>
            <a:r>
              <a:rPr lang="en-US" sz="1400" b="1" dirty="0">
                <a:solidFill>
                  <a:srgbClr val="1A2E3B"/>
                </a:solidFill>
                <a:latin typeface="Trebuchet MS" pitchFamily="34" charset="0"/>
                <a:ea typeface="Trebuchet MS" pitchFamily="34" charset="-122"/>
                <a:cs typeface="Trebuchet MS" pitchFamily="34" charset="-120"/>
              </a:rPr>
              <a:t>Extracción Recursiva DFS (hasta nivel 5)</a:t>
            </a:r>
            <a:endParaRPr lang="en-US" sz="1400" dirty="0"/>
          </a:p>
        </p:txBody>
      </p:sp>
      <p:sp>
        <p:nvSpPr>
          <p:cNvPr id="12" name="Text 10"/>
          <p:cNvSpPr/>
          <p:nvPr/>
        </p:nvSpPr>
        <p:spPr>
          <a:xfrm>
            <a:off x="502920" y="2761488"/>
            <a:ext cx="8046720" cy="786384"/>
          </a:xfrm>
          <a:prstGeom prst="rect">
            <a:avLst/>
          </a:prstGeom>
          <a:noFill/>
        </p:spPr>
        <p:txBody>
          <a:bodyPr wrap="square" lIns="0" tIns="0" rIns="0" bIns="0" rtlCol="0" anchor="t"/>
          <a:lstStyle/>
          <a:p>
            <a:pPr marL="0" indent="0">
              <a:buNone/>
            </a:pPr>
            <a:r>
              <a:rPr lang="en-US" sz="1300" dirty="0">
                <a:solidFill>
                  <a:srgbClr val="5E7E8E"/>
                </a:solidFill>
                <a:latin typeface="Calibri" pitchFamily="34" charset="0"/>
                <a:ea typeface="Calibri" pitchFamily="34" charset="-122"/>
                <a:cs typeface="Calibri" pitchFamily="34" charset="-120"/>
              </a:rPr>
              <a:t>Los comentarios top-level son quejas breves; los niveles 2–3 contienen micro-historias narrativas con detalles clínicos y burocráticos ("me tardaron 6 horas, no había oseltamivir"). El DFS captura esa riqueza sin perder hilos anidados.</a:t>
            </a:r>
            <a:endParaRPr lang="en-US" sz="1300" dirty="0"/>
          </a:p>
        </p:txBody>
      </p:sp>
      <p:sp>
        <p:nvSpPr>
          <p:cNvPr id="13" name="Shape 11"/>
          <p:cNvSpPr/>
          <p:nvPr/>
        </p:nvSpPr>
        <p:spPr>
          <a:xfrm>
            <a:off x="320040" y="3749040"/>
            <a:ext cx="8503920" cy="1261872"/>
          </a:xfrm>
          <a:prstGeom prst="rect">
            <a:avLst/>
          </a:prstGeom>
          <a:solidFill>
            <a:srgbClr val="FFFFFF"/>
          </a:solidFill>
          <a:ln w="12700">
            <a:solidFill>
              <a:srgbClr val="D8E8F0"/>
            </a:solidFill>
            <a:prstDash val="solid"/>
          </a:ln>
          <a:effectLst>
            <a:outerShdw blurRad="50800" dist="25400" dir="8100000" algn="bl" rotWithShape="0">
              <a:srgbClr val="000000">
                <a:alpha val="7000"/>
              </a:srgbClr>
            </a:outerShdw>
          </a:effectLst>
        </p:spPr>
      </p:sp>
      <p:sp>
        <p:nvSpPr>
          <p:cNvPr id="14" name="Shape 12"/>
          <p:cNvSpPr/>
          <p:nvPr/>
        </p:nvSpPr>
        <p:spPr>
          <a:xfrm>
            <a:off x="320040" y="3749040"/>
            <a:ext cx="64008" cy="1261872"/>
          </a:xfrm>
          <a:prstGeom prst="rect">
            <a:avLst/>
          </a:prstGeom>
          <a:solidFill>
            <a:srgbClr val="02C39A"/>
          </a:solidFill>
          <a:ln w="12700">
            <a:solidFill>
              <a:srgbClr val="02C39A"/>
            </a:solidFill>
            <a:prstDash val="solid"/>
          </a:ln>
        </p:spPr>
      </p:sp>
      <p:sp>
        <p:nvSpPr>
          <p:cNvPr id="15" name="Text 13"/>
          <p:cNvSpPr/>
          <p:nvPr/>
        </p:nvSpPr>
        <p:spPr>
          <a:xfrm>
            <a:off x="502920" y="3840480"/>
            <a:ext cx="8138160" cy="320040"/>
          </a:xfrm>
          <a:prstGeom prst="rect">
            <a:avLst/>
          </a:prstGeom>
          <a:noFill/>
        </p:spPr>
        <p:txBody>
          <a:bodyPr wrap="square" lIns="0" tIns="0" rIns="0" bIns="0" rtlCol="0" anchor="ctr"/>
          <a:lstStyle/>
          <a:p>
            <a:pPr marL="0" indent="0">
              <a:buNone/>
            </a:pPr>
            <a:r>
              <a:rPr lang="en-US" sz="1400" b="1" dirty="0">
                <a:solidFill>
                  <a:srgbClr val="1A2E3B"/>
                </a:solidFill>
                <a:latin typeface="Trebuchet MS" pitchFamily="34" charset="0"/>
                <a:ea typeface="Trebuchet MS" pitchFamily="34" charset="-122"/>
                <a:cs typeface="Trebuchet MS" pitchFamily="34" charset="-120"/>
              </a:rPr>
              <a:t>Anti-Detección — Clase SesionHumana</a:t>
            </a:r>
            <a:endParaRPr lang="en-US" sz="1400" dirty="0"/>
          </a:p>
        </p:txBody>
      </p:sp>
      <p:sp>
        <p:nvSpPr>
          <p:cNvPr id="16" name="Text 14"/>
          <p:cNvSpPr/>
          <p:nvPr/>
        </p:nvSpPr>
        <p:spPr>
          <a:xfrm>
            <a:off x="502920" y="4133088"/>
            <a:ext cx="8046720" cy="786384"/>
          </a:xfrm>
          <a:prstGeom prst="rect">
            <a:avLst/>
          </a:prstGeom>
          <a:noFill/>
        </p:spPr>
        <p:txBody>
          <a:bodyPr wrap="square" lIns="0" tIns="0" rIns="0" bIns="0" rtlCol="0" anchor="t"/>
          <a:lstStyle/>
          <a:p>
            <a:pPr marL="0" indent="0">
              <a:buNone/>
            </a:pPr>
            <a:r>
              <a:rPr lang="en-US" sz="1300" dirty="0">
                <a:solidFill>
                  <a:srgbClr val="5E7E8E"/>
                </a:solidFill>
                <a:latin typeface="Calibri" pitchFamily="34" charset="0"/>
                <a:ea typeface="Calibri" pitchFamily="34" charset="-122"/>
                <a:cs typeface="Calibri" pitchFamily="34" charset="-120"/>
              </a:rPr>
              <a:t>Pausas con distribución gaussiana N(μ,σ) para imitar lectura humana. Fingerprint HTTP dinámico que replica Chrome 122+. Pool de 13 User-Agents con rotación estocástica al 15%. Backoff exponencial con jitter ante errores 429/5xx.</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65A82"/>
          </a:solidFill>
          <a:ln w="12700">
            <a:solidFill>
              <a:srgbClr val="065A82"/>
            </a:solidFill>
            <a:prstDash val="solid"/>
          </a:ln>
        </p:spPr>
      </p:sp>
      <p:sp>
        <p:nvSpPr>
          <p:cNvPr id="3" name="Shape 1"/>
          <p:cNvSpPr/>
          <p:nvPr/>
        </p:nvSpPr>
        <p:spPr>
          <a:xfrm>
            <a:off x="0" y="749808"/>
            <a:ext cx="9144000" cy="54864"/>
          </a:xfrm>
          <a:prstGeom prst="rect">
            <a:avLst/>
          </a:prstGeom>
          <a:solidFill>
            <a:srgbClr val="02C39A"/>
          </a:solidFill>
          <a:ln w="12700">
            <a:solidFill>
              <a:srgbClr val="02C39A"/>
            </a:solidFill>
            <a:prstDash val="solid"/>
          </a:ln>
        </p:spPr>
      </p:sp>
      <p:sp>
        <p:nvSpPr>
          <p:cNvPr id="4" name="Text 2"/>
          <p:cNvSpPr/>
          <p:nvPr/>
        </p:nvSpPr>
        <p:spPr>
          <a:xfrm>
            <a:off x="320040" y="0"/>
            <a:ext cx="8503920" cy="749808"/>
          </a:xfrm>
          <a:prstGeom prst="rect">
            <a:avLst/>
          </a:prstGeom>
          <a:noFill/>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Scraper — Salida y Gestión de Sesión</a:t>
            </a:r>
            <a:endParaRPr lang="en-US" sz="2200" dirty="0"/>
          </a:p>
        </p:txBody>
      </p:sp>
      <p:sp>
        <p:nvSpPr>
          <p:cNvPr id="5" name="Shape 3"/>
          <p:cNvSpPr/>
          <p:nvPr/>
        </p:nvSpPr>
        <p:spPr>
          <a:xfrm>
            <a:off x="320040" y="1005840"/>
            <a:ext cx="8503920" cy="1261872"/>
          </a:xfrm>
          <a:prstGeom prst="rect">
            <a:avLst/>
          </a:prstGeom>
          <a:solidFill>
            <a:srgbClr val="FFFFFF"/>
          </a:solidFill>
          <a:ln w="12700">
            <a:solidFill>
              <a:srgbClr val="D8E8F0"/>
            </a:solidFill>
            <a:prstDash val="solid"/>
          </a:ln>
          <a:effectLst>
            <a:outerShdw blurRad="50800" dist="25400" dir="8100000" algn="bl" rotWithShape="0">
              <a:srgbClr val="000000">
                <a:alpha val="7000"/>
              </a:srgbClr>
            </a:outerShdw>
          </a:effectLst>
        </p:spPr>
      </p:sp>
      <p:sp>
        <p:nvSpPr>
          <p:cNvPr id="6" name="Shape 4"/>
          <p:cNvSpPr/>
          <p:nvPr/>
        </p:nvSpPr>
        <p:spPr>
          <a:xfrm>
            <a:off x="320040" y="1005840"/>
            <a:ext cx="64008" cy="1261872"/>
          </a:xfrm>
          <a:prstGeom prst="rect">
            <a:avLst/>
          </a:prstGeom>
          <a:solidFill>
            <a:srgbClr val="02C39A"/>
          </a:solidFill>
          <a:ln w="12700">
            <a:solidFill>
              <a:srgbClr val="02C39A"/>
            </a:solidFill>
            <a:prstDash val="solid"/>
          </a:ln>
        </p:spPr>
      </p:sp>
      <p:sp>
        <p:nvSpPr>
          <p:cNvPr id="7" name="Text 5"/>
          <p:cNvSpPr/>
          <p:nvPr/>
        </p:nvSpPr>
        <p:spPr>
          <a:xfrm>
            <a:off x="502920" y="1097280"/>
            <a:ext cx="8138160" cy="320040"/>
          </a:xfrm>
          <a:prstGeom prst="rect">
            <a:avLst/>
          </a:prstGeom>
          <a:noFill/>
        </p:spPr>
        <p:txBody>
          <a:bodyPr wrap="square" lIns="0" tIns="0" rIns="0" bIns="0" rtlCol="0" anchor="ctr"/>
          <a:lstStyle/>
          <a:p>
            <a:pPr marL="0" indent="0">
              <a:buNone/>
            </a:pPr>
            <a:r>
              <a:rPr lang="en-US" sz="1400" b="1" dirty="0">
                <a:solidFill>
                  <a:srgbClr val="1A2E3B"/>
                </a:solidFill>
                <a:latin typeface="Trebuchet MS" pitchFamily="34" charset="0"/>
                <a:ea typeface="Trebuchet MS" pitchFamily="34" charset="-122"/>
                <a:cs typeface="Trebuchet MS" pitchFamily="34" charset="-120"/>
              </a:rPr>
              <a:t>Deduplicación Global (posts_vistos)</a:t>
            </a:r>
            <a:endParaRPr lang="en-US" sz="1400" dirty="0"/>
          </a:p>
        </p:txBody>
      </p:sp>
      <p:sp>
        <p:nvSpPr>
          <p:cNvPr id="8" name="Text 6"/>
          <p:cNvSpPr/>
          <p:nvPr/>
        </p:nvSpPr>
        <p:spPr>
          <a:xfrm>
            <a:off x="502920" y="1389888"/>
            <a:ext cx="8046720" cy="786384"/>
          </a:xfrm>
          <a:prstGeom prst="rect">
            <a:avLst/>
          </a:prstGeom>
          <a:noFill/>
        </p:spPr>
        <p:txBody>
          <a:bodyPr wrap="square" lIns="0" tIns="0" rIns="0" bIns="0" rtlCol="0" anchor="t"/>
          <a:lstStyle/>
          <a:p>
            <a:pPr marL="0" indent="0">
              <a:buNone/>
            </a:pPr>
            <a:r>
              <a:rPr lang="en-US" sz="1300" dirty="0">
                <a:solidFill>
                  <a:srgbClr val="5E7E8E"/>
                </a:solidFill>
                <a:latin typeface="Calibri" pitchFamily="34" charset="0"/>
                <a:ea typeface="Calibri" pitchFamily="34" charset="-122"/>
                <a:cs typeface="Calibri" pitchFamily="34" charset="-120"/>
              </a:rPr>
              <a:t>Un set persiste durante toda la sesión. Cuando el bloque 3 recupera un post ya visto en el bloque 1, lo descarta sin descargarlo de nuevo — elimina duplicados y requests redundantes sin guardar nada en disco.</a:t>
            </a:r>
            <a:endParaRPr lang="en-US" sz="1300" dirty="0"/>
          </a:p>
        </p:txBody>
      </p:sp>
      <p:sp>
        <p:nvSpPr>
          <p:cNvPr id="9" name="Shape 7"/>
          <p:cNvSpPr/>
          <p:nvPr/>
        </p:nvSpPr>
        <p:spPr>
          <a:xfrm>
            <a:off x="320040" y="2377440"/>
            <a:ext cx="8503920" cy="1261872"/>
          </a:xfrm>
          <a:prstGeom prst="rect">
            <a:avLst/>
          </a:prstGeom>
          <a:solidFill>
            <a:srgbClr val="FFFFFF"/>
          </a:solidFill>
          <a:ln w="12700">
            <a:solidFill>
              <a:srgbClr val="D8E8F0"/>
            </a:solidFill>
            <a:prstDash val="solid"/>
          </a:ln>
          <a:effectLst>
            <a:outerShdw blurRad="50800" dist="25400" dir="8100000" algn="bl" rotWithShape="0">
              <a:srgbClr val="000000">
                <a:alpha val="7000"/>
              </a:srgbClr>
            </a:outerShdw>
          </a:effectLst>
        </p:spPr>
      </p:sp>
      <p:sp>
        <p:nvSpPr>
          <p:cNvPr id="10" name="Shape 8"/>
          <p:cNvSpPr/>
          <p:nvPr/>
        </p:nvSpPr>
        <p:spPr>
          <a:xfrm>
            <a:off x="320040" y="2377440"/>
            <a:ext cx="64008" cy="1261872"/>
          </a:xfrm>
          <a:prstGeom prst="rect">
            <a:avLst/>
          </a:prstGeom>
          <a:solidFill>
            <a:srgbClr val="02C39A"/>
          </a:solidFill>
          <a:ln w="12700">
            <a:solidFill>
              <a:srgbClr val="02C39A"/>
            </a:solidFill>
            <a:prstDash val="solid"/>
          </a:ln>
        </p:spPr>
      </p:sp>
      <p:sp>
        <p:nvSpPr>
          <p:cNvPr id="11" name="Text 9"/>
          <p:cNvSpPr/>
          <p:nvPr/>
        </p:nvSpPr>
        <p:spPr>
          <a:xfrm>
            <a:off x="502920" y="2468880"/>
            <a:ext cx="8138160" cy="320040"/>
          </a:xfrm>
          <a:prstGeom prst="rect">
            <a:avLst/>
          </a:prstGeom>
          <a:noFill/>
        </p:spPr>
        <p:txBody>
          <a:bodyPr wrap="square" lIns="0" tIns="0" rIns="0" bIns="0" rtlCol="0" anchor="ctr"/>
          <a:lstStyle/>
          <a:p>
            <a:pPr marL="0" indent="0">
              <a:buNone/>
            </a:pPr>
            <a:r>
              <a:rPr lang="en-US" sz="1400" b="1" dirty="0">
                <a:solidFill>
                  <a:srgbClr val="1A2E3B"/>
                </a:solidFill>
                <a:latin typeface="Trebuchet MS" pitchFamily="34" charset="0"/>
                <a:ea typeface="Trebuchet MS" pitchFamily="34" charset="-122"/>
                <a:cs typeface="Trebuchet MS" pitchFamily="34" charset="-120"/>
              </a:rPr>
              <a:t>Control Interactivo por Bloques de 100</a:t>
            </a:r>
            <a:endParaRPr lang="en-US" sz="1400" dirty="0"/>
          </a:p>
        </p:txBody>
      </p:sp>
      <p:sp>
        <p:nvSpPr>
          <p:cNvPr id="12" name="Text 10"/>
          <p:cNvSpPr/>
          <p:nvPr/>
        </p:nvSpPr>
        <p:spPr>
          <a:xfrm>
            <a:off x="502920" y="2761488"/>
            <a:ext cx="8046720" cy="786384"/>
          </a:xfrm>
          <a:prstGeom prst="rect">
            <a:avLst/>
          </a:prstGeom>
          <a:noFill/>
        </p:spPr>
        <p:txBody>
          <a:bodyPr wrap="square" lIns="0" tIns="0" rIns="0" bIns="0" rtlCol="0" anchor="t"/>
          <a:lstStyle/>
          <a:p>
            <a:pPr marL="0" indent="0">
              <a:buNone/>
            </a:pPr>
            <a:r>
              <a:rPr lang="en-US" sz="1300" dirty="0">
                <a:solidFill>
                  <a:srgbClr val="5E7E8E"/>
                </a:solidFill>
                <a:latin typeface="Calibri" pitchFamily="34" charset="0"/>
                <a:ea typeface="Calibri" pitchFamily="34" charset="-122"/>
                <a:cs typeface="Calibri" pitchFamily="34" charset="-120"/>
              </a:rPr>
              <a:t>Al terminar cada bloque, el usuario elige [S] continuar o [N] guardar. El dataset se escribe de forma segura antes de salir, garantizando que los datos previos siempre estén intactos ante cualquier interrupción.</a:t>
            </a:r>
            <a:endParaRPr lang="en-US" sz="1300" dirty="0"/>
          </a:p>
        </p:txBody>
      </p:sp>
      <p:sp>
        <p:nvSpPr>
          <p:cNvPr id="13" name="Shape 11"/>
          <p:cNvSpPr/>
          <p:nvPr/>
        </p:nvSpPr>
        <p:spPr>
          <a:xfrm>
            <a:off x="320040" y="3749040"/>
            <a:ext cx="8503920" cy="1261872"/>
          </a:xfrm>
          <a:prstGeom prst="rect">
            <a:avLst/>
          </a:prstGeom>
          <a:solidFill>
            <a:srgbClr val="FFFFFF"/>
          </a:solidFill>
          <a:ln w="12700">
            <a:solidFill>
              <a:srgbClr val="D8E8F0"/>
            </a:solidFill>
            <a:prstDash val="solid"/>
          </a:ln>
          <a:effectLst>
            <a:outerShdw blurRad="50800" dist="25400" dir="8100000" algn="bl" rotWithShape="0">
              <a:srgbClr val="000000">
                <a:alpha val="7000"/>
              </a:srgbClr>
            </a:outerShdw>
          </a:effectLst>
        </p:spPr>
      </p:sp>
      <p:sp>
        <p:nvSpPr>
          <p:cNvPr id="14" name="Shape 12"/>
          <p:cNvSpPr/>
          <p:nvPr/>
        </p:nvSpPr>
        <p:spPr>
          <a:xfrm>
            <a:off x="320040" y="3749040"/>
            <a:ext cx="64008" cy="1261872"/>
          </a:xfrm>
          <a:prstGeom prst="rect">
            <a:avLst/>
          </a:prstGeom>
          <a:solidFill>
            <a:srgbClr val="02C39A"/>
          </a:solidFill>
          <a:ln w="12700">
            <a:solidFill>
              <a:srgbClr val="02C39A"/>
            </a:solidFill>
            <a:prstDash val="solid"/>
          </a:ln>
        </p:spPr>
      </p:sp>
      <p:sp>
        <p:nvSpPr>
          <p:cNvPr id="15" name="Text 13"/>
          <p:cNvSpPr/>
          <p:nvPr/>
        </p:nvSpPr>
        <p:spPr>
          <a:xfrm>
            <a:off x="502920" y="3840480"/>
            <a:ext cx="8138160" cy="320040"/>
          </a:xfrm>
          <a:prstGeom prst="rect">
            <a:avLst/>
          </a:prstGeom>
          <a:noFill/>
        </p:spPr>
        <p:txBody>
          <a:bodyPr wrap="square" lIns="0" tIns="0" rIns="0" bIns="0" rtlCol="0" anchor="ctr"/>
          <a:lstStyle/>
          <a:p>
            <a:pPr marL="0" indent="0">
              <a:buNone/>
            </a:pPr>
            <a:r>
              <a:rPr lang="en-US" sz="1400" b="1" dirty="0">
                <a:solidFill>
                  <a:srgbClr val="1A2E3B"/>
                </a:solidFill>
                <a:latin typeface="Trebuchet MS" pitchFamily="34" charset="0"/>
                <a:ea typeface="Trebuchet MS" pitchFamily="34" charset="-122"/>
                <a:cs typeface="Trebuchet MS" pitchFamily="34" charset="-120"/>
              </a:rPr>
              <a:t>Dataset de Salida (JSON por comentario)</a:t>
            </a:r>
            <a:endParaRPr lang="en-US" sz="1400" dirty="0"/>
          </a:p>
        </p:txBody>
      </p:sp>
      <p:sp>
        <p:nvSpPr>
          <p:cNvPr id="16" name="Text 14"/>
          <p:cNvSpPr/>
          <p:nvPr/>
        </p:nvSpPr>
        <p:spPr>
          <a:xfrm>
            <a:off x="502920" y="4133088"/>
            <a:ext cx="8046720" cy="786384"/>
          </a:xfrm>
          <a:prstGeom prst="rect">
            <a:avLst/>
          </a:prstGeom>
          <a:noFill/>
        </p:spPr>
        <p:txBody>
          <a:bodyPr wrap="square" lIns="0" tIns="0" rIns="0" bIns="0" rtlCol="0" anchor="t"/>
          <a:lstStyle/>
          <a:p>
            <a:pPr marL="0" indent="0">
              <a:buNone/>
            </a:pPr>
            <a:r>
              <a:rPr lang="en-US" sz="1300" dirty="0">
                <a:solidFill>
                  <a:srgbClr val="5E7E8E"/>
                </a:solidFill>
                <a:latin typeface="Calibri" pitchFamily="34" charset="0"/>
                <a:ea typeface="Calibri" pitchFamily="34" charset="-122"/>
                <a:cs typeface="Calibri" pitchFamily="34" charset="-120"/>
              </a:rPr>
              <a:t>Cada registro incluye: contexto de búsqueda (query_origen, bloque, sort_usado), datos del post (subreddit, score_post, num_comentarios) y datos del comentario (texto, autor, score, profundidad, fecha_extraccion). Listo para pasar al Limpiador.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21B2E"/>
        </a:solidFill>
        <a:effectLst/>
      </p:bgPr>
    </p:bg>
    <p:spTree>
      <p:nvGrpSpPr>
        <p:cNvPr id="1" name=""/>
        <p:cNvGrpSpPr/>
        <p:nvPr/>
      </p:nvGrpSpPr>
      <p:grpSpPr>
        <a:xfrm>
          <a:off x="0" y="0"/>
          <a:ext cx="0" cy="0"/>
          <a:chOff x="0" y="0"/>
          <a:chExt cx="0" cy="0"/>
        </a:xfrm>
      </p:grpSpPr>
      <p:sp>
        <p:nvSpPr>
          <p:cNvPr id="2" name="Text 0"/>
          <p:cNvSpPr/>
          <p:nvPr/>
        </p:nvSpPr>
        <p:spPr>
          <a:xfrm>
            <a:off x="5669280" y="182880"/>
            <a:ext cx="3291840" cy="4114800"/>
          </a:xfrm>
          <a:prstGeom prst="rect">
            <a:avLst/>
          </a:prstGeom>
          <a:noFill/>
        </p:spPr>
        <p:txBody>
          <a:bodyPr wrap="square" rtlCol="0" anchor="b"/>
          <a:lstStyle/>
          <a:p>
            <a:pPr marL="0" indent="0" algn="r">
              <a:buNone/>
            </a:pPr>
            <a:r>
              <a:rPr lang="en-US" sz="13000" b="1" dirty="0">
                <a:solidFill>
                  <a:srgbClr val="065A82">
                    <a:alpha val="40000"/>
                  </a:srgbClr>
                </a:solidFill>
                <a:latin typeface="Arial Black" pitchFamily="34" charset="0"/>
                <a:ea typeface="Arial Black" pitchFamily="34" charset="-122"/>
                <a:cs typeface="Arial Black" pitchFamily="34" charset="-120"/>
              </a:rPr>
              <a:t>02</a:t>
            </a:r>
            <a:endParaRPr lang="en-US" sz="13000" dirty="0"/>
          </a:p>
        </p:txBody>
      </p:sp>
      <p:sp>
        <p:nvSpPr>
          <p:cNvPr id="3" name="Shape 1"/>
          <p:cNvSpPr/>
          <p:nvPr/>
        </p:nvSpPr>
        <p:spPr>
          <a:xfrm>
            <a:off x="0" y="0"/>
            <a:ext cx="9144000" cy="109728"/>
          </a:xfrm>
          <a:prstGeom prst="rect">
            <a:avLst/>
          </a:prstGeom>
          <a:solidFill>
            <a:srgbClr val="1C7293"/>
          </a:solidFill>
          <a:ln w="12700">
            <a:solidFill>
              <a:srgbClr val="1C7293"/>
            </a:solidFill>
            <a:prstDash val="solid"/>
          </a:ln>
        </p:spPr>
      </p:sp>
      <p:sp>
        <p:nvSpPr>
          <p:cNvPr id="4" name="Shape 2"/>
          <p:cNvSpPr/>
          <p:nvPr/>
        </p:nvSpPr>
        <p:spPr>
          <a:xfrm>
            <a:off x="457200" y="411480"/>
            <a:ext cx="1737360" cy="347472"/>
          </a:xfrm>
          <a:prstGeom prst="rect">
            <a:avLst/>
          </a:prstGeom>
          <a:solidFill>
            <a:srgbClr val="1C7293"/>
          </a:solidFill>
          <a:ln w="12700">
            <a:solidFill>
              <a:srgbClr val="1C7293"/>
            </a:solidFill>
            <a:prstDash val="solid"/>
          </a:ln>
        </p:spPr>
      </p:sp>
      <p:sp>
        <p:nvSpPr>
          <p:cNvPr id="5" name="Text 3"/>
          <p:cNvSpPr/>
          <p:nvPr/>
        </p:nvSpPr>
        <p:spPr>
          <a:xfrm>
            <a:off x="457200" y="411480"/>
            <a:ext cx="1737360" cy="347472"/>
          </a:xfrm>
          <a:prstGeom prst="rect">
            <a:avLst/>
          </a:prstGeom>
          <a:noFill/>
        </p:spPr>
        <p:txBody>
          <a:bodyPr wrap="square" lIns="0" tIns="0" rIns="0" bIns="0" rtlCol="0" anchor="ctr"/>
          <a:lstStyle/>
          <a:p>
            <a:pPr marL="0" indent="0" algn="ctr">
              <a:buNone/>
            </a:pPr>
            <a:r>
              <a:rPr lang="en-US" sz="1100" b="1" dirty="0">
                <a:solidFill>
                  <a:srgbClr val="021B2E"/>
                </a:solidFill>
                <a:latin typeface="Calibri" pitchFamily="34" charset="0"/>
                <a:ea typeface="Calibri" pitchFamily="34" charset="-122"/>
                <a:cs typeface="Calibri" pitchFamily="34" charset="-120"/>
              </a:rPr>
              <a:t>MÓDULO 2</a:t>
            </a:r>
            <a:endParaRPr lang="en-US" sz="1100" dirty="0"/>
          </a:p>
        </p:txBody>
      </p:sp>
      <p:sp>
        <p:nvSpPr>
          <p:cNvPr id="6" name="Text 4"/>
          <p:cNvSpPr/>
          <p:nvPr/>
        </p:nvSpPr>
        <p:spPr>
          <a:xfrm>
            <a:off x="457200" y="960120"/>
            <a:ext cx="7772400" cy="1371600"/>
          </a:xfrm>
          <a:prstGeom prst="rect">
            <a:avLst/>
          </a:prstGeom>
          <a:noFill/>
        </p:spPr>
        <p:txBody>
          <a:bodyPr wrap="square" rtlCol="0" anchor="ctr"/>
          <a:lstStyle/>
          <a:p>
            <a:pPr marL="0" indent="0">
              <a:buNone/>
            </a:pPr>
            <a:r>
              <a:rPr lang="en-US" sz="3800" b="1" dirty="0">
                <a:solidFill>
                  <a:srgbClr val="FFFFFF"/>
                </a:solidFill>
                <a:latin typeface="Trebuchet MS" pitchFamily="34" charset="0"/>
                <a:ea typeface="Trebuchet MS" pitchFamily="34" charset="-122"/>
                <a:cs typeface="Trebuchet MS" pitchFamily="34" charset="-120"/>
              </a:rPr>
              <a:t>Limpiador de Dataset</a:t>
            </a:r>
            <a:endParaRPr lang="en-US" sz="3800" dirty="0"/>
          </a:p>
        </p:txBody>
      </p:sp>
      <p:sp>
        <p:nvSpPr>
          <p:cNvPr id="7" name="Text 5"/>
          <p:cNvSpPr/>
          <p:nvPr/>
        </p:nvSpPr>
        <p:spPr>
          <a:xfrm>
            <a:off x="457200" y="2468880"/>
            <a:ext cx="5943600" cy="640080"/>
          </a:xfrm>
          <a:prstGeom prst="rect">
            <a:avLst/>
          </a:prstGeom>
          <a:noFill/>
        </p:spPr>
        <p:txBody>
          <a:bodyPr wrap="square" rtlCol="0" anchor="ctr"/>
          <a:lstStyle/>
          <a:p>
            <a:pPr marL="0" indent="0">
              <a:buNone/>
            </a:pPr>
            <a:r>
              <a:rPr lang="en-US" sz="1600" i="1" dirty="0">
                <a:solidFill>
                  <a:srgbClr val="8CB8CC"/>
                </a:solidFill>
                <a:latin typeface="Calibri" pitchFamily="34" charset="0"/>
                <a:ea typeface="Calibri" pitchFamily="34" charset="-122"/>
                <a:cs typeface="Calibri" pitchFamily="34" charset="-120"/>
              </a:rPr>
              <a:t>11 pasos secuenciales de depuración y etiquetado semántico</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65A82"/>
          </a:solidFill>
          <a:ln w="12700">
            <a:solidFill>
              <a:srgbClr val="065A82"/>
            </a:solidFill>
            <a:prstDash val="solid"/>
          </a:ln>
        </p:spPr>
      </p:sp>
      <p:sp>
        <p:nvSpPr>
          <p:cNvPr id="3" name="Shape 1"/>
          <p:cNvSpPr/>
          <p:nvPr/>
        </p:nvSpPr>
        <p:spPr>
          <a:xfrm>
            <a:off x="0" y="749808"/>
            <a:ext cx="9144000" cy="54864"/>
          </a:xfrm>
          <a:prstGeom prst="rect">
            <a:avLst/>
          </a:prstGeom>
          <a:solidFill>
            <a:srgbClr val="1C7293"/>
          </a:solidFill>
          <a:ln w="12700">
            <a:solidFill>
              <a:srgbClr val="1C7293"/>
            </a:solidFill>
            <a:prstDash val="solid"/>
          </a:ln>
        </p:spPr>
      </p:sp>
      <p:sp>
        <p:nvSpPr>
          <p:cNvPr id="4" name="Text 2"/>
          <p:cNvSpPr/>
          <p:nvPr/>
        </p:nvSpPr>
        <p:spPr>
          <a:xfrm>
            <a:off x="320040" y="0"/>
            <a:ext cx="8503920" cy="749808"/>
          </a:xfrm>
          <a:prstGeom prst="rect">
            <a:avLst/>
          </a:prstGeom>
          <a:noFill/>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Limpiador — Pipeline de 11 Pasos</a:t>
            </a:r>
            <a:endParaRPr lang="en-US" sz="2200" dirty="0"/>
          </a:p>
        </p:txBody>
      </p:sp>
      <p:sp>
        <p:nvSpPr>
          <p:cNvPr id="5" name="Shape 3"/>
          <p:cNvSpPr/>
          <p:nvPr/>
        </p:nvSpPr>
        <p:spPr>
          <a:xfrm>
            <a:off x="320040" y="1005840"/>
            <a:ext cx="8503920" cy="1261872"/>
          </a:xfrm>
          <a:prstGeom prst="rect">
            <a:avLst/>
          </a:prstGeom>
          <a:solidFill>
            <a:srgbClr val="FFFFFF"/>
          </a:solidFill>
          <a:ln w="12700">
            <a:solidFill>
              <a:srgbClr val="D8E8F0"/>
            </a:solidFill>
            <a:prstDash val="solid"/>
          </a:ln>
          <a:effectLst>
            <a:outerShdw blurRad="50800" dist="25400" dir="8100000" algn="bl" rotWithShape="0">
              <a:srgbClr val="000000">
                <a:alpha val="7000"/>
              </a:srgbClr>
            </a:outerShdw>
          </a:effectLst>
        </p:spPr>
      </p:sp>
      <p:sp>
        <p:nvSpPr>
          <p:cNvPr id="6" name="Shape 4"/>
          <p:cNvSpPr/>
          <p:nvPr/>
        </p:nvSpPr>
        <p:spPr>
          <a:xfrm>
            <a:off x="320040" y="1005840"/>
            <a:ext cx="64008" cy="1261872"/>
          </a:xfrm>
          <a:prstGeom prst="rect">
            <a:avLst/>
          </a:prstGeom>
          <a:solidFill>
            <a:srgbClr val="1C7293"/>
          </a:solidFill>
          <a:ln w="12700">
            <a:solidFill>
              <a:srgbClr val="1C7293"/>
            </a:solidFill>
            <a:prstDash val="solid"/>
          </a:ln>
        </p:spPr>
      </p:sp>
      <p:sp>
        <p:nvSpPr>
          <p:cNvPr id="7" name="Text 5"/>
          <p:cNvSpPr/>
          <p:nvPr/>
        </p:nvSpPr>
        <p:spPr>
          <a:xfrm>
            <a:off x="502920" y="1097280"/>
            <a:ext cx="8138160" cy="320040"/>
          </a:xfrm>
          <a:prstGeom prst="rect">
            <a:avLst/>
          </a:prstGeom>
          <a:noFill/>
        </p:spPr>
        <p:txBody>
          <a:bodyPr wrap="square" lIns="0" tIns="0" rIns="0" bIns="0" rtlCol="0" anchor="ctr"/>
          <a:lstStyle/>
          <a:p>
            <a:pPr marL="0" indent="0">
              <a:buNone/>
            </a:pPr>
            <a:r>
              <a:rPr lang="en-US" sz="1400" b="1" dirty="0">
                <a:solidFill>
                  <a:srgbClr val="1A2E3B"/>
                </a:solidFill>
                <a:latin typeface="Trebuchet MS" pitchFamily="34" charset="0"/>
                <a:ea typeface="Trebuchet MS" pitchFamily="34" charset="-122"/>
                <a:cs typeface="Trebuchet MS" pitchFamily="34" charset="-120"/>
              </a:rPr>
              <a:t>Carga en Streaming (paso 1)</a:t>
            </a:r>
            <a:endParaRPr lang="en-US" sz="1400" dirty="0"/>
          </a:p>
        </p:txBody>
      </p:sp>
      <p:sp>
        <p:nvSpPr>
          <p:cNvPr id="8" name="Text 6"/>
          <p:cNvSpPr/>
          <p:nvPr/>
        </p:nvSpPr>
        <p:spPr>
          <a:xfrm>
            <a:off x="502920" y="1389888"/>
            <a:ext cx="8046720" cy="786384"/>
          </a:xfrm>
          <a:prstGeom prst="rect">
            <a:avLst/>
          </a:prstGeom>
          <a:noFill/>
        </p:spPr>
        <p:txBody>
          <a:bodyPr wrap="square" lIns="0" tIns="0" rIns="0" bIns="0" rtlCol="0" anchor="t"/>
          <a:lstStyle/>
          <a:p>
            <a:pPr marL="0" indent="0">
              <a:buNone/>
            </a:pPr>
            <a:r>
              <a:rPr lang="en-US" sz="1300" dirty="0">
                <a:solidFill>
                  <a:srgbClr val="5E7E8E"/>
                </a:solidFill>
                <a:latin typeface="Calibri" pitchFamily="34" charset="0"/>
                <a:ea typeface="Calibri" pitchFamily="34" charset="-122"/>
                <a:cs typeface="Calibri" pitchFamily="34" charset="-120"/>
              </a:rPr>
              <a:t>Para datasets &gt; 50 MB usa ijson en modo registro-a-registro, evitando agotar la RAM. Por debajo del umbral usa json estándar. Detecta automáticamente la estructura del JSON (array crudo, wrapper 'datos', 'registros'…).</a:t>
            </a:r>
            <a:endParaRPr lang="en-US" sz="1300" dirty="0"/>
          </a:p>
        </p:txBody>
      </p:sp>
      <p:sp>
        <p:nvSpPr>
          <p:cNvPr id="9" name="Shape 7"/>
          <p:cNvSpPr/>
          <p:nvPr/>
        </p:nvSpPr>
        <p:spPr>
          <a:xfrm>
            <a:off x="320040" y="2377440"/>
            <a:ext cx="8503920" cy="1261872"/>
          </a:xfrm>
          <a:prstGeom prst="rect">
            <a:avLst/>
          </a:prstGeom>
          <a:solidFill>
            <a:srgbClr val="FFFFFF"/>
          </a:solidFill>
          <a:ln w="12700">
            <a:solidFill>
              <a:srgbClr val="D8E8F0"/>
            </a:solidFill>
            <a:prstDash val="solid"/>
          </a:ln>
          <a:effectLst>
            <a:outerShdw blurRad="50800" dist="25400" dir="8100000" algn="bl" rotWithShape="0">
              <a:srgbClr val="000000">
                <a:alpha val="7000"/>
              </a:srgbClr>
            </a:outerShdw>
          </a:effectLst>
        </p:spPr>
      </p:sp>
      <p:sp>
        <p:nvSpPr>
          <p:cNvPr id="10" name="Shape 8"/>
          <p:cNvSpPr/>
          <p:nvPr/>
        </p:nvSpPr>
        <p:spPr>
          <a:xfrm>
            <a:off x="320040" y="2377440"/>
            <a:ext cx="64008" cy="1261872"/>
          </a:xfrm>
          <a:prstGeom prst="rect">
            <a:avLst/>
          </a:prstGeom>
          <a:solidFill>
            <a:srgbClr val="1C7293"/>
          </a:solidFill>
          <a:ln w="12700">
            <a:solidFill>
              <a:srgbClr val="1C7293"/>
            </a:solidFill>
            <a:prstDash val="solid"/>
          </a:ln>
        </p:spPr>
      </p:sp>
      <p:sp>
        <p:nvSpPr>
          <p:cNvPr id="11" name="Text 9"/>
          <p:cNvSpPr/>
          <p:nvPr/>
        </p:nvSpPr>
        <p:spPr>
          <a:xfrm>
            <a:off x="502920" y="2468880"/>
            <a:ext cx="8138160" cy="320040"/>
          </a:xfrm>
          <a:prstGeom prst="rect">
            <a:avLst/>
          </a:prstGeom>
          <a:noFill/>
        </p:spPr>
        <p:txBody>
          <a:bodyPr wrap="square" lIns="0" tIns="0" rIns="0" bIns="0" rtlCol="0" anchor="ctr"/>
          <a:lstStyle/>
          <a:p>
            <a:pPr marL="0" indent="0">
              <a:buNone/>
            </a:pPr>
            <a:r>
              <a:rPr lang="en-US" sz="1400" b="1" dirty="0">
                <a:solidFill>
                  <a:srgbClr val="1A2E3B"/>
                </a:solidFill>
                <a:latin typeface="Trebuchet MS" pitchFamily="34" charset="0"/>
                <a:ea typeface="Trebuchet MS" pitchFamily="34" charset="-122"/>
                <a:cs typeface="Trebuchet MS" pitchFamily="34" charset="-120"/>
              </a:rPr>
              <a:t>Filtros de Calidad (pasos 2–3, 7–8)</a:t>
            </a:r>
            <a:endParaRPr lang="en-US" sz="1400" dirty="0"/>
          </a:p>
        </p:txBody>
      </p:sp>
      <p:sp>
        <p:nvSpPr>
          <p:cNvPr id="12" name="Text 10"/>
          <p:cNvSpPr/>
          <p:nvPr/>
        </p:nvSpPr>
        <p:spPr>
          <a:xfrm>
            <a:off x="502920" y="2761488"/>
            <a:ext cx="8046720" cy="786384"/>
          </a:xfrm>
          <a:prstGeom prst="rect">
            <a:avLst/>
          </a:prstGeom>
          <a:noFill/>
        </p:spPr>
        <p:txBody>
          <a:bodyPr wrap="square" lIns="0" tIns="0" rIns="0" bIns="0" rtlCol="0" anchor="t"/>
          <a:lstStyle/>
          <a:p>
            <a:pPr marL="0" indent="0">
              <a:buNone/>
            </a:pPr>
            <a:r>
              <a:rPr lang="en-US" sz="1300" dirty="0">
                <a:solidFill>
                  <a:srgbClr val="5E7E8E"/>
                </a:solidFill>
                <a:latin typeface="Calibri" pitchFamily="34" charset="0"/>
                <a:ea typeface="Calibri" pitchFamily="34" charset="-122"/>
                <a:cs typeface="Calibri" pitchFamily="34" charset="-120"/>
              </a:rPr>
              <a:t>Descarta registros vacíos, bots conocidos ([deleted], [removed]) y comentarios con &lt; 30 caracteres. Filtra por score ≥ −5. Tasa de retención típica: 35–45% del dataset crudo.</a:t>
            </a:r>
            <a:endParaRPr lang="en-US" sz="1300" dirty="0"/>
          </a:p>
        </p:txBody>
      </p:sp>
      <p:sp>
        <p:nvSpPr>
          <p:cNvPr id="13" name="Shape 11"/>
          <p:cNvSpPr/>
          <p:nvPr/>
        </p:nvSpPr>
        <p:spPr>
          <a:xfrm>
            <a:off x="320040" y="3749040"/>
            <a:ext cx="8503920" cy="1261872"/>
          </a:xfrm>
          <a:prstGeom prst="rect">
            <a:avLst/>
          </a:prstGeom>
          <a:solidFill>
            <a:srgbClr val="FFFFFF"/>
          </a:solidFill>
          <a:ln w="12700">
            <a:solidFill>
              <a:srgbClr val="D8E8F0"/>
            </a:solidFill>
            <a:prstDash val="solid"/>
          </a:ln>
          <a:effectLst>
            <a:outerShdw blurRad="50800" dist="25400" dir="8100000" algn="bl" rotWithShape="0">
              <a:srgbClr val="000000">
                <a:alpha val="7000"/>
              </a:srgbClr>
            </a:outerShdw>
          </a:effectLst>
        </p:spPr>
      </p:sp>
      <p:sp>
        <p:nvSpPr>
          <p:cNvPr id="14" name="Shape 12"/>
          <p:cNvSpPr/>
          <p:nvPr/>
        </p:nvSpPr>
        <p:spPr>
          <a:xfrm>
            <a:off x="320040" y="3749040"/>
            <a:ext cx="64008" cy="1261872"/>
          </a:xfrm>
          <a:prstGeom prst="rect">
            <a:avLst/>
          </a:prstGeom>
          <a:solidFill>
            <a:srgbClr val="1C7293"/>
          </a:solidFill>
          <a:ln w="12700">
            <a:solidFill>
              <a:srgbClr val="1C7293"/>
            </a:solidFill>
            <a:prstDash val="solid"/>
          </a:ln>
        </p:spPr>
      </p:sp>
      <p:sp>
        <p:nvSpPr>
          <p:cNvPr id="15" name="Text 13"/>
          <p:cNvSpPr/>
          <p:nvPr/>
        </p:nvSpPr>
        <p:spPr>
          <a:xfrm>
            <a:off x="502920" y="3840480"/>
            <a:ext cx="8138160" cy="320040"/>
          </a:xfrm>
          <a:prstGeom prst="rect">
            <a:avLst/>
          </a:prstGeom>
          <a:noFill/>
        </p:spPr>
        <p:txBody>
          <a:bodyPr wrap="square" lIns="0" tIns="0" rIns="0" bIns="0" rtlCol="0" anchor="ctr"/>
          <a:lstStyle/>
          <a:p>
            <a:pPr marL="0" indent="0">
              <a:buNone/>
            </a:pPr>
            <a:r>
              <a:rPr lang="en-US" sz="1400" b="1" dirty="0">
                <a:solidFill>
                  <a:srgbClr val="1A2E3B"/>
                </a:solidFill>
                <a:latin typeface="Trebuchet MS" pitchFamily="34" charset="0"/>
                <a:ea typeface="Trebuchet MS" pitchFamily="34" charset="-122"/>
                <a:cs typeface="Trebuchet MS" pitchFamily="34" charset="-120"/>
              </a:rPr>
              <a:t>Normalización — Emojis y Jerga (pasos 4–5)</a:t>
            </a:r>
            <a:endParaRPr lang="en-US" sz="1400" dirty="0"/>
          </a:p>
        </p:txBody>
      </p:sp>
      <p:sp>
        <p:nvSpPr>
          <p:cNvPr id="16" name="Text 14"/>
          <p:cNvSpPr/>
          <p:nvPr/>
        </p:nvSpPr>
        <p:spPr>
          <a:xfrm>
            <a:off x="502920" y="4133088"/>
            <a:ext cx="8046720" cy="786384"/>
          </a:xfrm>
          <a:prstGeom prst="rect">
            <a:avLst/>
          </a:prstGeom>
          <a:noFill/>
        </p:spPr>
        <p:txBody>
          <a:bodyPr wrap="square" lIns="0" tIns="0" rIns="0" bIns="0" rtlCol="0" anchor="t"/>
          <a:lstStyle/>
          <a:p>
            <a:pPr marL="0" indent="0">
              <a:buNone/>
            </a:pPr>
            <a:r>
              <a:rPr lang="en-US" sz="1300" dirty="0">
                <a:solidFill>
                  <a:srgbClr val="5E7E8E"/>
                </a:solidFill>
                <a:latin typeface="Calibri" pitchFamily="34" charset="0"/>
                <a:ea typeface="Calibri" pitchFamily="34" charset="-122"/>
                <a:cs typeface="Calibri" pitchFamily="34" charset="-120"/>
              </a:rPr>
              <a:t>Convierte emojis Unicode a texto legible (😡 → :cara_enojada:). Expande jerga mexicana: 'pesimooooo' → 'pesimo', 'k no había' → 'que no había', 'xq' → 'porque'. El texto original se conserva intacto para reproducibilidad.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65A82"/>
          </a:solidFill>
          <a:ln w="12700">
            <a:solidFill>
              <a:srgbClr val="065A82"/>
            </a:solidFill>
            <a:prstDash val="solid"/>
          </a:ln>
        </p:spPr>
      </p:sp>
      <p:sp>
        <p:nvSpPr>
          <p:cNvPr id="3" name="Shape 1"/>
          <p:cNvSpPr/>
          <p:nvPr/>
        </p:nvSpPr>
        <p:spPr>
          <a:xfrm>
            <a:off x="0" y="749808"/>
            <a:ext cx="9144000" cy="54864"/>
          </a:xfrm>
          <a:prstGeom prst="rect">
            <a:avLst/>
          </a:prstGeom>
          <a:solidFill>
            <a:srgbClr val="1C7293"/>
          </a:solidFill>
          <a:ln w="12700">
            <a:solidFill>
              <a:srgbClr val="1C7293"/>
            </a:solidFill>
            <a:prstDash val="solid"/>
          </a:ln>
        </p:spPr>
      </p:sp>
      <p:sp>
        <p:nvSpPr>
          <p:cNvPr id="4" name="Text 2"/>
          <p:cNvSpPr/>
          <p:nvPr/>
        </p:nvSpPr>
        <p:spPr>
          <a:xfrm>
            <a:off x="320040" y="0"/>
            <a:ext cx="8503920" cy="749808"/>
          </a:xfrm>
          <a:prstGeom prst="rect">
            <a:avLst/>
          </a:prstGeom>
          <a:noFill/>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Limpiador — Relevancia, Dedup y Trazabilidad</a:t>
            </a:r>
            <a:endParaRPr lang="en-US" sz="2200" dirty="0"/>
          </a:p>
        </p:txBody>
      </p:sp>
      <p:sp>
        <p:nvSpPr>
          <p:cNvPr id="5" name="Shape 3"/>
          <p:cNvSpPr/>
          <p:nvPr/>
        </p:nvSpPr>
        <p:spPr>
          <a:xfrm>
            <a:off x="320040" y="1005840"/>
            <a:ext cx="8503920" cy="1261872"/>
          </a:xfrm>
          <a:prstGeom prst="rect">
            <a:avLst/>
          </a:prstGeom>
          <a:solidFill>
            <a:srgbClr val="FFFFFF"/>
          </a:solidFill>
          <a:ln w="12700">
            <a:solidFill>
              <a:srgbClr val="D8E8F0"/>
            </a:solidFill>
            <a:prstDash val="solid"/>
          </a:ln>
          <a:effectLst>
            <a:outerShdw blurRad="50800" dist="25400" dir="8100000" algn="bl" rotWithShape="0">
              <a:srgbClr val="000000">
                <a:alpha val="7000"/>
              </a:srgbClr>
            </a:outerShdw>
          </a:effectLst>
        </p:spPr>
      </p:sp>
      <p:sp>
        <p:nvSpPr>
          <p:cNvPr id="6" name="Shape 4"/>
          <p:cNvSpPr/>
          <p:nvPr/>
        </p:nvSpPr>
        <p:spPr>
          <a:xfrm>
            <a:off x="320040" y="1005840"/>
            <a:ext cx="64008" cy="1261872"/>
          </a:xfrm>
          <a:prstGeom prst="rect">
            <a:avLst/>
          </a:prstGeom>
          <a:solidFill>
            <a:srgbClr val="1C7293"/>
          </a:solidFill>
          <a:ln w="12700">
            <a:solidFill>
              <a:srgbClr val="1C7293"/>
            </a:solidFill>
            <a:prstDash val="solid"/>
          </a:ln>
        </p:spPr>
      </p:sp>
      <p:sp>
        <p:nvSpPr>
          <p:cNvPr id="7" name="Text 5"/>
          <p:cNvSpPr/>
          <p:nvPr/>
        </p:nvSpPr>
        <p:spPr>
          <a:xfrm>
            <a:off x="502920" y="1097280"/>
            <a:ext cx="8138160" cy="320040"/>
          </a:xfrm>
          <a:prstGeom prst="rect">
            <a:avLst/>
          </a:prstGeom>
          <a:noFill/>
        </p:spPr>
        <p:txBody>
          <a:bodyPr wrap="square" lIns="0" tIns="0" rIns="0" bIns="0" rtlCol="0" anchor="ctr"/>
          <a:lstStyle/>
          <a:p>
            <a:pPr marL="0" indent="0">
              <a:buNone/>
            </a:pPr>
            <a:r>
              <a:rPr lang="en-US" sz="1400" b="1" dirty="0">
                <a:solidFill>
                  <a:srgbClr val="1A2E3B"/>
                </a:solidFill>
                <a:latin typeface="Trebuchet MS" pitchFamily="34" charset="0"/>
                <a:ea typeface="Trebuchet MS" pitchFamily="34" charset="-122"/>
                <a:cs typeface="Trebuchet MS" pitchFamily="34" charset="-120"/>
              </a:rPr>
              <a:t>Filtro OR + AND — ~160 Términos (paso 9)</a:t>
            </a:r>
            <a:endParaRPr lang="en-US" sz="1400" dirty="0"/>
          </a:p>
        </p:txBody>
      </p:sp>
      <p:sp>
        <p:nvSpPr>
          <p:cNvPr id="8" name="Text 6"/>
          <p:cNvSpPr/>
          <p:nvPr/>
        </p:nvSpPr>
        <p:spPr>
          <a:xfrm>
            <a:off x="502920" y="1389888"/>
            <a:ext cx="8046720" cy="786384"/>
          </a:xfrm>
          <a:prstGeom prst="rect">
            <a:avLst/>
          </a:prstGeom>
          <a:noFill/>
        </p:spPr>
        <p:txBody>
          <a:bodyPr wrap="square" lIns="0" tIns="0" rIns="0" bIns="0" rtlCol="0" anchor="t"/>
          <a:lstStyle/>
          <a:p>
            <a:pPr marL="0" indent="0">
              <a:buNone/>
            </a:pPr>
            <a:r>
              <a:rPr lang="en-US" sz="1300" dirty="0">
                <a:solidFill>
                  <a:srgbClr val="5E7E8E"/>
                </a:solidFill>
                <a:latin typeface="Calibri" pitchFamily="34" charset="0"/>
                <a:ea typeface="Calibri" pitchFamily="34" charset="-122"/>
                <a:cs typeface="Calibri" pitchFamily="34" charset="-120"/>
              </a:rPr>
              <a:t>Primer criba OR: ~80 términos generales de salud (influenza, imss, hospital, tamiflu…). Si no hay ninguno, se descarta. Segunda criba AND: necesita sustantivo de salud + indicador de queja → relevancia 'alta'. Sin indicador → relevancia 'media'. Clasifica en 9 categorías semánticas: tiempo_espera, desabasto, mala_atención, costo_bolsillo, infraestructura, corrupción, recorte, prevención, recuperación.</a:t>
            </a:r>
            <a:endParaRPr lang="en-US" sz="1300" dirty="0"/>
          </a:p>
        </p:txBody>
      </p:sp>
      <p:sp>
        <p:nvSpPr>
          <p:cNvPr id="9" name="Shape 7"/>
          <p:cNvSpPr/>
          <p:nvPr/>
        </p:nvSpPr>
        <p:spPr>
          <a:xfrm>
            <a:off x="320040" y="2377440"/>
            <a:ext cx="8503920" cy="1261872"/>
          </a:xfrm>
          <a:prstGeom prst="rect">
            <a:avLst/>
          </a:prstGeom>
          <a:solidFill>
            <a:srgbClr val="FFFFFF"/>
          </a:solidFill>
          <a:ln w="12700">
            <a:solidFill>
              <a:srgbClr val="D8E8F0"/>
            </a:solidFill>
            <a:prstDash val="solid"/>
          </a:ln>
          <a:effectLst>
            <a:outerShdw blurRad="50800" dist="25400" dir="8100000" algn="bl" rotWithShape="0">
              <a:srgbClr val="000000">
                <a:alpha val="7000"/>
              </a:srgbClr>
            </a:outerShdw>
          </a:effectLst>
        </p:spPr>
      </p:sp>
      <p:sp>
        <p:nvSpPr>
          <p:cNvPr id="10" name="Shape 8"/>
          <p:cNvSpPr/>
          <p:nvPr/>
        </p:nvSpPr>
        <p:spPr>
          <a:xfrm>
            <a:off x="320040" y="2377440"/>
            <a:ext cx="64008" cy="1261872"/>
          </a:xfrm>
          <a:prstGeom prst="rect">
            <a:avLst/>
          </a:prstGeom>
          <a:solidFill>
            <a:srgbClr val="1C7293"/>
          </a:solidFill>
          <a:ln w="12700">
            <a:solidFill>
              <a:srgbClr val="1C7293"/>
            </a:solidFill>
            <a:prstDash val="solid"/>
          </a:ln>
        </p:spPr>
      </p:sp>
      <p:sp>
        <p:nvSpPr>
          <p:cNvPr id="11" name="Text 9"/>
          <p:cNvSpPr/>
          <p:nvPr/>
        </p:nvSpPr>
        <p:spPr>
          <a:xfrm>
            <a:off x="502920" y="2468880"/>
            <a:ext cx="8138160" cy="320040"/>
          </a:xfrm>
          <a:prstGeom prst="rect">
            <a:avLst/>
          </a:prstGeom>
          <a:noFill/>
        </p:spPr>
        <p:txBody>
          <a:bodyPr wrap="square" lIns="0" tIns="0" rIns="0" bIns="0" rtlCol="0" anchor="ctr"/>
          <a:lstStyle/>
          <a:p>
            <a:pPr marL="0" indent="0">
              <a:buNone/>
            </a:pPr>
            <a:r>
              <a:rPr lang="en-US" sz="1400" b="1" dirty="0">
                <a:solidFill>
                  <a:srgbClr val="1A2E3B"/>
                </a:solidFill>
                <a:latin typeface="Trebuchet MS" pitchFamily="34" charset="0"/>
                <a:ea typeface="Trebuchet MS" pitchFamily="34" charset="-122"/>
                <a:cs typeface="Trebuchet MS" pitchFamily="34" charset="-120"/>
              </a:rPr>
              <a:t>Deduplicación MD5 y Escritura en Streaming (pasos 10–11)</a:t>
            </a:r>
            <a:endParaRPr lang="en-US" sz="1400" dirty="0"/>
          </a:p>
        </p:txBody>
      </p:sp>
      <p:sp>
        <p:nvSpPr>
          <p:cNvPr id="12" name="Text 10"/>
          <p:cNvSpPr/>
          <p:nvPr/>
        </p:nvSpPr>
        <p:spPr>
          <a:xfrm>
            <a:off x="502920" y="2761488"/>
            <a:ext cx="8046720" cy="786384"/>
          </a:xfrm>
          <a:prstGeom prst="rect">
            <a:avLst/>
          </a:prstGeom>
          <a:noFill/>
        </p:spPr>
        <p:txBody>
          <a:bodyPr wrap="square" lIns="0" tIns="0" rIns="0" bIns="0" rtlCol="0" anchor="t"/>
          <a:lstStyle/>
          <a:p>
            <a:pPr marL="0" indent="0">
              <a:buNone/>
            </a:pPr>
            <a:r>
              <a:rPr lang="en-US" sz="1300" dirty="0">
                <a:solidFill>
                  <a:srgbClr val="5E7E8E"/>
                </a:solidFill>
                <a:latin typeface="Calibri" pitchFamily="34" charset="0"/>
                <a:ea typeface="Calibri" pitchFamily="34" charset="-122"/>
                <a:cs typeface="Calibri" pitchFamily="34" charset="-120"/>
              </a:rPr>
              <a:t>Hash MD5 del comentario normalizado detecta duplicados entre bloques del scraper. Escritura inmediata al disco por registro (sin acumular en memoria). Al cerrar se actualizan los metadatos con conteos finales reales.</a:t>
            </a:r>
            <a:endParaRPr lang="en-US" sz="1300" dirty="0"/>
          </a:p>
        </p:txBody>
      </p:sp>
      <p:sp>
        <p:nvSpPr>
          <p:cNvPr id="13" name="Shape 11"/>
          <p:cNvSpPr/>
          <p:nvPr/>
        </p:nvSpPr>
        <p:spPr>
          <a:xfrm>
            <a:off x="320040" y="3749040"/>
            <a:ext cx="8503920" cy="1261872"/>
          </a:xfrm>
          <a:prstGeom prst="rect">
            <a:avLst/>
          </a:prstGeom>
          <a:solidFill>
            <a:srgbClr val="FFFFFF"/>
          </a:solidFill>
          <a:ln w="12700">
            <a:solidFill>
              <a:srgbClr val="D8E8F0"/>
            </a:solidFill>
            <a:prstDash val="solid"/>
          </a:ln>
          <a:effectLst>
            <a:outerShdw blurRad="50800" dist="25400" dir="8100000" algn="bl" rotWithShape="0">
              <a:srgbClr val="000000">
                <a:alpha val="7000"/>
              </a:srgbClr>
            </a:outerShdw>
          </a:effectLst>
        </p:spPr>
      </p:sp>
      <p:sp>
        <p:nvSpPr>
          <p:cNvPr id="14" name="Shape 12"/>
          <p:cNvSpPr/>
          <p:nvPr/>
        </p:nvSpPr>
        <p:spPr>
          <a:xfrm>
            <a:off x="320040" y="3749040"/>
            <a:ext cx="64008" cy="1261872"/>
          </a:xfrm>
          <a:prstGeom prst="rect">
            <a:avLst/>
          </a:prstGeom>
          <a:solidFill>
            <a:srgbClr val="1C7293"/>
          </a:solidFill>
          <a:ln w="12700">
            <a:solidFill>
              <a:srgbClr val="1C7293"/>
            </a:solidFill>
            <a:prstDash val="solid"/>
          </a:ln>
        </p:spPr>
      </p:sp>
      <p:sp>
        <p:nvSpPr>
          <p:cNvPr id="15" name="Text 13"/>
          <p:cNvSpPr/>
          <p:nvPr/>
        </p:nvSpPr>
        <p:spPr>
          <a:xfrm>
            <a:off x="502920" y="3840480"/>
            <a:ext cx="8138160" cy="320040"/>
          </a:xfrm>
          <a:prstGeom prst="rect">
            <a:avLst/>
          </a:prstGeom>
          <a:noFill/>
        </p:spPr>
        <p:txBody>
          <a:bodyPr wrap="square" lIns="0" tIns="0" rIns="0" bIns="0" rtlCol="0" anchor="ctr"/>
          <a:lstStyle/>
          <a:p>
            <a:pPr marL="0" indent="0">
              <a:buNone/>
            </a:pPr>
            <a:r>
              <a:rPr lang="en-US" sz="1400" b="1" dirty="0">
                <a:solidFill>
                  <a:srgbClr val="1A2E3B"/>
                </a:solidFill>
                <a:latin typeface="Trebuchet MS" pitchFamily="34" charset="0"/>
                <a:ea typeface="Trebuchet MS" pitchFamily="34" charset="-122"/>
                <a:cs typeface="Trebuchet MS" pitchFamily="34" charset="-120"/>
              </a:rPr>
              <a:t>3 Versiones de Texto por Registro</a:t>
            </a:r>
            <a:endParaRPr lang="en-US" sz="1400" dirty="0"/>
          </a:p>
        </p:txBody>
      </p:sp>
      <p:sp>
        <p:nvSpPr>
          <p:cNvPr id="16" name="Text 14"/>
          <p:cNvSpPr/>
          <p:nvPr/>
        </p:nvSpPr>
        <p:spPr>
          <a:xfrm>
            <a:off x="502920" y="4133088"/>
            <a:ext cx="8046720" cy="786384"/>
          </a:xfrm>
          <a:prstGeom prst="rect">
            <a:avLst/>
          </a:prstGeom>
          <a:noFill/>
        </p:spPr>
        <p:txBody>
          <a:bodyPr wrap="square" lIns="0" tIns="0" rIns="0" bIns="0" rtlCol="0" anchor="t"/>
          <a:lstStyle/>
          <a:p>
            <a:pPr marL="0" indent="0">
              <a:buNone/>
            </a:pPr>
            <a:r>
              <a:rPr lang="en-US" sz="1300" dirty="0">
                <a:solidFill>
                  <a:srgbClr val="5E7E8E"/>
                </a:solidFill>
                <a:latin typeface="Calibri" pitchFamily="34" charset="0"/>
                <a:ea typeface="Calibri" pitchFamily="34" charset="-122"/>
                <a:cs typeface="Calibri" pitchFamily="34" charset="-120"/>
              </a:rPr>
              <a:t>comentario_raw: original sin modificar. comentario: emojis convertidos, HTML/URLs eliminados, negaciones conservadas. comentario_norm: jerga expandida, usado solo para filtros internos. El corpus resultante es consumible directamente por transformers, spaCy y NLTK.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21B2E"/>
        </a:solidFill>
        <a:effectLst/>
      </p:bgPr>
    </p:bg>
    <p:spTree>
      <p:nvGrpSpPr>
        <p:cNvPr id="1" name=""/>
        <p:cNvGrpSpPr/>
        <p:nvPr/>
      </p:nvGrpSpPr>
      <p:grpSpPr>
        <a:xfrm>
          <a:off x="0" y="0"/>
          <a:ext cx="0" cy="0"/>
          <a:chOff x="0" y="0"/>
          <a:chExt cx="0" cy="0"/>
        </a:xfrm>
      </p:grpSpPr>
      <p:sp>
        <p:nvSpPr>
          <p:cNvPr id="2" name="Text 0"/>
          <p:cNvSpPr/>
          <p:nvPr/>
        </p:nvSpPr>
        <p:spPr>
          <a:xfrm>
            <a:off x="5669280" y="182880"/>
            <a:ext cx="3291840" cy="4114800"/>
          </a:xfrm>
          <a:prstGeom prst="rect">
            <a:avLst/>
          </a:prstGeom>
          <a:noFill/>
        </p:spPr>
        <p:txBody>
          <a:bodyPr wrap="square" rtlCol="0" anchor="b"/>
          <a:lstStyle/>
          <a:p>
            <a:pPr marL="0" indent="0" algn="r">
              <a:buNone/>
            </a:pPr>
            <a:r>
              <a:rPr lang="en-US" sz="13000" b="1" dirty="0">
                <a:solidFill>
                  <a:srgbClr val="065A82">
                    <a:alpha val="40000"/>
                  </a:srgbClr>
                </a:solidFill>
                <a:latin typeface="Arial Black" pitchFamily="34" charset="0"/>
                <a:ea typeface="Arial Black" pitchFamily="34" charset="-122"/>
                <a:cs typeface="Arial Black" pitchFamily="34" charset="-120"/>
              </a:rPr>
              <a:t>03</a:t>
            </a:r>
            <a:endParaRPr lang="en-US" sz="13000" dirty="0"/>
          </a:p>
        </p:txBody>
      </p:sp>
      <p:sp>
        <p:nvSpPr>
          <p:cNvPr id="3" name="Shape 1"/>
          <p:cNvSpPr/>
          <p:nvPr/>
        </p:nvSpPr>
        <p:spPr>
          <a:xfrm>
            <a:off x="0" y="0"/>
            <a:ext cx="9144000" cy="109728"/>
          </a:xfrm>
          <a:prstGeom prst="rect">
            <a:avLst/>
          </a:prstGeom>
          <a:solidFill>
            <a:srgbClr val="065A82"/>
          </a:solidFill>
          <a:ln w="12700">
            <a:solidFill>
              <a:srgbClr val="065A82"/>
            </a:solidFill>
            <a:prstDash val="solid"/>
          </a:ln>
        </p:spPr>
      </p:sp>
      <p:sp>
        <p:nvSpPr>
          <p:cNvPr id="4" name="Shape 2"/>
          <p:cNvSpPr/>
          <p:nvPr/>
        </p:nvSpPr>
        <p:spPr>
          <a:xfrm>
            <a:off x="457200" y="411480"/>
            <a:ext cx="1737360" cy="347472"/>
          </a:xfrm>
          <a:prstGeom prst="rect">
            <a:avLst/>
          </a:prstGeom>
          <a:solidFill>
            <a:srgbClr val="065A82"/>
          </a:solidFill>
          <a:ln w="12700">
            <a:solidFill>
              <a:srgbClr val="065A82"/>
            </a:solidFill>
            <a:prstDash val="solid"/>
          </a:ln>
        </p:spPr>
      </p:sp>
      <p:sp>
        <p:nvSpPr>
          <p:cNvPr id="5" name="Text 3"/>
          <p:cNvSpPr/>
          <p:nvPr/>
        </p:nvSpPr>
        <p:spPr>
          <a:xfrm>
            <a:off x="457200" y="411480"/>
            <a:ext cx="1737360" cy="347472"/>
          </a:xfrm>
          <a:prstGeom prst="rect">
            <a:avLst/>
          </a:prstGeom>
          <a:noFill/>
        </p:spPr>
        <p:txBody>
          <a:bodyPr wrap="square" lIns="0" tIns="0" rIns="0" bIns="0" rtlCol="0" anchor="ctr"/>
          <a:lstStyle/>
          <a:p>
            <a:pPr marL="0" indent="0" algn="ctr">
              <a:buNone/>
            </a:pPr>
            <a:r>
              <a:rPr lang="en-US" sz="1100" b="1" dirty="0">
                <a:solidFill>
                  <a:srgbClr val="021B2E"/>
                </a:solidFill>
                <a:latin typeface="Calibri" pitchFamily="34" charset="0"/>
                <a:ea typeface="Calibri" pitchFamily="34" charset="-122"/>
                <a:cs typeface="Calibri" pitchFamily="34" charset="-120"/>
              </a:rPr>
              <a:t>MÓDULO 3</a:t>
            </a:r>
            <a:endParaRPr lang="en-US" sz="1100" dirty="0"/>
          </a:p>
        </p:txBody>
      </p:sp>
      <p:sp>
        <p:nvSpPr>
          <p:cNvPr id="6" name="Text 4"/>
          <p:cNvSpPr/>
          <p:nvPr/>
        </p:nvSpPr>
        <p:spPr>
          <a:xfrm>
            <a:off x="457200" y="960120"/>
            <a:ext cx="7772400" cy="1371600"/>
          </a:xfrm>
          <a:prstGeom prst="rect">
            <a:avLst/>
          </a:prstGeom>
          <a:noFill/>
        </p:spPr>
        <p:txBody>
          <a:bodyPr wrap="square" rtlCol="0" anchor="ctr"/>
          <a:lstStyle/>
          <a:p>
            <a:pPr marL="0" indent="0">
              <a:buNone/>
            </a:pPr>
            <a:r>
              <a:rPr lang="en-US" sz="3800" b="1" dirty="0">
                <a:solidFill>
                  <a:srgbClr val="FFFFFF"/>
                </a:solidFill>
                <a:latin typeface="Trebuchet MS" pitchFamily="34" charset="0"/>
                <a:ea typeface="Trebuchet MS" pitchFamily="34" charset="-122"/>
                <a:cs typeface="Trebuchet MS" pitchFamily="34" charset="-120"/>
              </a:rPr>
              <a:t>Enriquecedor de Dataset</a:t>
            </a:r>
            <a:endParaRPr lang="en-US" sz="3800" dirty="0"/>
          </a:p>
        </p:txBody>
      </p:sp>
      <p:sp>
        <p:nvSpPr>
          <p:cNvPr id="7" name="Text 5"/>
          <p:cNvSpPr/>
          <p:nvPr/>
        </p:nvSpPr>
        <p:spPr>
          <a:xfrm>
            <a:off x="457200" y="2468880"/>
            <a:ext cx="5943600" cy="640080"/>
          </a:xfrm>
          <a:prstGeom prst="rect">
            <a:avLst/>
          </a:prstGeom>
          <a:noFill/>
        </p:spPr>
        <p:txBody>
          <a:bodyPr wrap="square" rtlCol="0" anchor="ctr"/>
          <a:lstStyle/>
          <a:p>
            <a:pPr marL="0" indent="0">
              <a:buNone/>
            </a:pPr>
            <a:r>
              <a:rPr lang="en-US" sz="1600" i="1" dirty="0">
                <a:solidFill>
                  <a:srgbClr val="8CB8CC"/>
                </a:solidFill>
                <a:latin typeface="Calibri" pitchFamily="34" charset="0"/>
                <a:ea typeface="Calibri" pitchFamily="34" charset="-122"/>
                <a:cs typeface="Calibri" pitchFamily="34" charset="-120"/>
              </a:rPr>
              <a:t>4 métricas originales: IFB · Polaridad localizada · Impacto · Sarcasmo</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65A82"/>
          </a:solidFill>
          <a:ln w="12700">
            <a:solidFill>
              <a:srgbClr val="065A82"/>
            </a:solidFill>
            <a:prstDash val="solid"/>
          </a:ln>
        </p:spPr>
      </p:sp>
      <p:sp>
        <p:nvSpPr>
          <p:cNvPr id="3" name="Shape 1"/>
          <p:cNvSpPr/>
          <p:nvPr/>
        </p:nvSpPr>
        <p:spPr>
          <a:xfrm>
            <a:off x="0" y="749808"/>
            <a:ext cx="9144000" cy="54864"/>
          </a:xfrm>
          <a:prstGeom prst="rect">
            <a:avLst/>
          </a:prstGeom>
          <a:solidFill>
            <a:srgbClr val="065A82"/>
          </a:solidFill>
          <a:ln w="12700">
            <a:solidFill>
              <a:srgbClr val="065A82"/>
            </a:solidFill>
            <a:prstDash val="solid"/>
          </a:ln>
        </p:spPr>
      </p:sp>
      <p:sp>
        <p:nvSpPr>
          <p:cNvPr id="4" name="Text 2"/>
          <p:cNvSpPr/>
          <p:nvPr/>
        </p:nvSpPr>
        <p:spPr>
          <a:xfrm>
            <a:off x="320040" y="0"/>
            <a:ext cx="8503920" cy="749808"/>
          </a:xfrm>
          <a:prstGeom prst="rect">
            <a:avLst/>
          </a:prstGeom>
          <a:noFill/>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Enriquecedor — IFB y Polaridad Localizada</a:t>
            </a:r>
            <a:endParaRPr lang="en-US" sz="2200" dirty="0"/>
          </a:p>
        </p:txBody>
      </p:sp>
      <p:sp>
        <p:nvSpPr>
          <p:cNvPr id="5" name="Shape 3"/>
          <p:cNvSpPr/>
          <p:nvPr/>
        </p:nvSpPr>
        <p:spPr>
          <a:xfrm>
            <a:off x="320040" y="1005840"/>
            <a:ext cx="8503920" cy="1261872"/>
          </a:xfrm>
          <a:prstGeom prst="rect">
            <a:avLst/>
          </a:prstGeom>
          <a:solidFill>
            <a:srgbClr val="FFFFFF"/>
          </a:solidFill>
          <a:ln w="12700">
            <a:solidFill>
              <a:srgbClr val="D8E8F0"/>
            </a:solidFill>
            <a:prstDash val="solid"/>
          </a:ln>
          <a:effectLst>
            <a:outerShdw blurRad="50800" dist="25400" dir="8100000" algn="bl" rotWithShape="0">
              <a:srgbClr val="000000">
                <a:alpha val="7000"/>
              </a:srgbClr>
            </a:outerShdw>
          </a:effectLst>
        </p:spPr>
      </p:sp>
      <p:sp>
        <p:nvSpPr>
          <p:cNvPr id="6" name="Shape 4"/>
          <p:cNvSpPr/>
          <p:nvPr/>
        </p:nvSpPr>
        <p:spPr>
          <a:xfrm>
            <a:off x="320040" y="1005840"/>
            <a:ext cx="64008" cy="1261872"/>
          </a:xfrm>
          <a:prstGeom prst="rect">
            <a:avLst/>
          </a:prstGeom>
          <a:solidFill>
            <a:srgbClr val="065A82"/>
          </a:solidFill>
          <a:ln w="12700">
            <a:solidFill>
              <a:srgbClr val="065A82"/>
            </a:solidFill>
            <a:prstDash val="solid"/>
          </a:ln>
        </p:spPr>
      </p:sp>
      <p:sp>
        <p:nvSpPr>
          <p:cNvPr id="7" name="Text 5"/>
          <p:cNvSpPr/>
          <p:nvPr/>
        </p:nvSpPr>
        <p:spPr>
          <a:xfrm>
            <a:off x="502920" y="1097280"/>
            <a:ext cx="8138160" cy="320040"/>
          </a:xfrm>
          <a:prstGeom prst="rect">
            <a:avLst/>
          </a:prstGeom>
          <a:noFill/>
        </p:spPr>
        <p:txBody>
          <a:bodyPr wrap="square" lIns="0" tIns="0" rIns="0" bIns="0" rtlCol="0" anchor="ctr"/>
          <a:lstStyle/>
          <a:p>
            <a:pPr marL="0" indent="0">
              <a:buNone/>
            </a:pPr>
            <a:r>
              <a:rPr lang="en-US" sz="1400" b="1" dirty="0">
                <a:solidFill>
                  <a:srgbClr val="1A2E3B"/>
                </a:solidFill>
                <a:latin typeface="Trebuchet MS" pitchFamily="34" charset="0"/>
                <a:ea typeface="Trebuchet MS" pitchFamily="34" charset="-122"/>
                <a:cs typeface="Trebuchet MS" pitchFamily="34" charset="-120"/>
              </a:rPr>
              <a:t>Índice de Fricción Burocrática — IFB (0–10)</a:t>
            </a:r>
            <a:endParaRPr lang="en-US" sz="1400" dirty="0"/>
          </a:p>
        </p:txBody>
      </p:sp>
      <p:sp>
        <p:nvSpPr>
          <p:cNvPr id="8" name="Text 6"/>
          <p:cNvSpPr/>
          <p:nvPr/>
        </p:nvSpPr>
        <p:spPr>
          <a:xfrm>
            <a:off x="502920" y="1389888"/>
            <a:ext cx="8046720" cy="786384"/>
          </a:xfrm>
          <a:prstGeom prst="rect">
            <a:avLst/>
          </a:prstGeom>
          <a:noFill/>
        </p:spPr>
        <p:txBody>
          <a:bodyPr wrap="square" lIns="0" tIns="0" rIns="0" bIns="0" rtlCol="0" anchor="t"/>
          <a:lstStyle/>
          <a:p>
            <a:pPr marL="0" indent="0">
              <a:buNone/>
            </a:pPr>
            <a:r>
              <a:rPr lang="en-US" sz="1300" dirty="0">
                <a:solidFill>
                  <a:srgbClr val="5E7E8E"/>
                </a:solidFill>
                <a:latin typeface="Calibri" pitchFamily="34" charset="0"/>
                <a:ea typeface="Calibri" pitchFamily="34" charset="-122"/>
                <a:cs typeface="Calibri" pitchFamily="34" charset="-120"/>
              </a:rPr>
              <a:t>Cuantifica el esfuerzo ciudadano para navegar el sistema de salud. 6 señales ponderadas: tiempo de espera (×1.5), burocracia (×1.5), pago privado (×2), rechazo (×2), múltiples intentos (×1.5), daño clínico por fricción (×3). Niveles: ninguno · bajo · medio · alto · crítico.</a:t>
            </a:r>
            <a:endParaRPr lang="en-US" sz="1300" dirty="0"/>
          </a:p>
        </p:txBody>
      </p:sp>
      <p:sp>
        <p:nvSpPr>
          <p:cNvPr id="9" name="Shape 7"/>
          <p:cNvSpPr/>
          <p:nvPr/>
        </p:nvSpPr>
        <p:spPr>
          <a:xfrm>
            <a:off x="320040" y="2377440"/>
            <a:ext cx="8503920" cy="1261872"/>
          </a:xfrm>
          <a:prstGeom prst="rect">
            <a:avLst/>
          </a:prstGeom>
          <a:solidFill>
            <a:srgbClr val="FFFFFF"/>
          </a:solidFill>
          <a:ln w="12700">
            <a:solidFill>
              <a:srgbClr val="D8E8F0"/>
            </a:solidFill>
            <a:prstDash val="solid"/>
          </a:ln>
          <a:effectLst>
            <a:outerShdw blurRad="50800" dist="25400" dir="8100000" algn="bl" rotWithShape="0">
              <a:srgbClr val="000000">
                <a:alpha val="7000"/>
              </a:srgbClr>
            </a:outerShdw>
          </a:effectLst>
        </p:spPr>
      </p:sp>
      <p:sp>
        <p:nvSpPr>
          <p:cNvPr id="10" name="Shape 8"/>
          <p:cNvSpPr/>
          <p:nvPr/>
        </p:nvSpPr>
        <p:spPr>
          <a:xfrm>
            <a:off x="320040" y="2377440"/>
            <a:ext cx="64008" cy="1261872"/>
          </a:xfrm>
          <a:prstGeom prst="rect">
            <a:avLst/>
          </a:prstGeom>
          <a:solidFill>
            <a:srgbClr val="065A82"/>
          </a:solidFill>
          <a:ln w="12700">
            <a:solidFill>
              <a:srgbClr val="065A82"/>
            </a:solidFill>
            <a:prstDash val="solid"/>
          </a:ln>
        </p:spPr>
      </p:sp>
      <p:sp>
        <p:nvSpPr>
          <p:cNvPr id="11" name="Text 9"/>
          <p:cNvSpPr/>
          <p:nvPr/>
        </p:nvSpPr>
        <p:spPr>
          <a:xfrm>
            <a:off x="502920" y="2468880"/>
            <a:ext cx="8138160" cy="320040"/>
          </a:xfrm>
          <a:prstGeom prst="rect">
            <a:avLst/>
          </a:prstGeom>
          <a:noFill/>
        </p:spPr>
        <p:txBody>
          <a:bodyPr wrap="square" lIns="0" tIns="0" rIns="0" bIns="0" rtlCol="0" anchor="ctr"/>
          <a:lstStyle/>
          <a:p>
            <a:pPr marL="0" indent="0">
              <a:buNone/>
            </a:pPr>
            <a:r>
              <a:rPr lang="en-US" sz="1400" b="1" dirty="0">
                <a:solidFill>
                  <a:srgbClr val="1A2E3B"/>
                </a:solidFill>
                <a:latin typeface="Trebuchet MS" pitchFamily="34" charset="0"/>
                <a:ea typeface="Trebuchet MS" pitchFamily="34" charset="-122"/>
                <a:cs typeface="Trebuchet MS" pitchFamily="34" charset="-120"/>
              </a:rPr>
              <a:t>Polaridad Localizada MX</a:t>
            </a:r>
            <a:endParaRPr lang="en-US" sz="1400" dirty="0"/>
          </a:p>
        </p:txBody>
      </p:sp>
      <p:sp>
        <p:nvSpPr>
          <p:cNvPr id="12" name="Text 10"/>
          <p:cNvSpPr/>
          <p:nvPr/>
        </p:nvSpPr>
        <p:spPr>
          <a:xfrm>
            <a:off x="502920" y="2761488"/>
            <a:ext cx="8046720" cy="786384"/>
          </a:xfrm>
          <a:prstGeom prst="rect">
            <a:avLst/>
          </a:prstGeom>
          <a:noFill/>
        </p:spPr>
        <p:txBody>
          <a:bodyPr wrap="square" lIns="0" tIns="0" rIns="0" bIns="0" rtlCol="0" anchor="t"/>
          <a:lstStyle/>
          <a:p>
            <a:pPr marL="0" indent="0">
              <a:buNone/>
            </a:pPr>
            <a:r>
              <a:rPr lang="en-US" sz="1300" dirty="0">
                <a:solidFill>
                  <a:srgbClr val="5E7E8E"/>
                </a:solidFill>
                <a:latin typeface="Calibri" pitchFamily="34" charset="0"/>
                <a:ea typeface="Calibri" pitchFamily="34" charset="-122"/>
                <a:cs typeface="Calibri" pitchFamily="34" charset="-120"/>
              </a:rPr>
              <a:t>Lexicon de ~60 términos del español coloquial mexicano en salud pública: 'viacrucis' (3.0), 'vuelta y vuelta' (2.8), 'particular' (2.5), 'desabasto' (2.0). 6 capas de amplificación: intensificadores (×1.1–1.3), signos de exclamación, emojis negativos (+0.4 c/u), letras repetidas, inversión por sarcasmo y techo anti-inflación.</a:t>
            </a:r>
            <a:endParaRPr lang="en-US" sz="1300" dirty="0"/>
          </a:p>
        </p:txBody>
      </p:sp>
      <p:sp>
        <p:nvSpPr>
          <p:cNvPr id="13" name="Shape 11"/>
          <p:cNvSpPr/>
          <p:nvPr/>
        </p:nvSpPr>
        <p:spPr>
          <a:xfrm>
            <a:off x="320040" y="3749040"/>
            <a:ext cx="8503920" cy="1261872"/>
          </a:xfrm>
          <a:prstGeom prst="rect">
            <a:avLst/>
          </a:prstGeom>
          <a:solidFill>
            <a:srgbClr val="FFFFFF"/>
          </a:solidFill>
          <a:ln w="12700">
            <a:solidFill>
              <a:srgbClr val="D8E8F0"/>
            </a:solidFill>
            <a:prstDash val="solid"/>
          </a:ln>
          <a:effectLst>
            <a:outerShdw blurRad="50800" dist="25400" dir="8100000" algn="bl" rotWithShape="0">
              <a:srgbClr val="000000">
                <a:alpha val="7000"/>
              </a:srgbClr>
            </a:outerShdw>
          </a:effectLst>
        </p:spPr>
      </p:sp>
      <p:sp>
        <p:nvSpPr>
          <p:cNvPr id="14" name="Shape 12"/>
          <p:cNvSpPr/>
          <p:nvPr/>
        </p:nvSpPr>
        <p:spPr>
          <a:xfrm>
            <a:off x="320040" y="3749040"/>
            <a:ext cx="64008" cy="1261872"/>
          </a:xfrm>
          <a:prstGeom prst="rect">
            <a:avLst/>
          </a:prstGeom>
          <a:solidFill>
            <a:srgbClr val="065A82"/>
          </a:solidFill>
          <a:ln w="12700">
            <a:solidFill>
              <a:srgbClr val="065A82"/>
            </a:solidFill>
            <a:prstDash val="solid"/>
          </a:ln>
        </p:spPr>
      </p:sp>
      <p:sp>
        <p:nvSpPr>
          <p:cNvPr id="15" name="Text 13"/>
          <p:cNvSpPr/>
          <p:nvPr/>
        </p:nvSpPr>
        <p:spPr>
          <a:xfrm>
            <a:off x="502920" y="3840480"/>
            <a:ext cx="8138160" cy="320040"/>
          </a:xfrm>
          <a:prstGeom prst="rect">
            <a:avLst/>
          </a:prstGeom>
          <a:noFill/>
        </p:spPr>
        <p:txBody>
          <a:bodyPr wrap="square" lIns="0" tIns="0" rIns="0" bIns="0" rtlCol="0" anchor="ctr"/>
          <a:lstStyle/>
          <a:p>
            <a:pPr marL="0" indent="0">
              <a:buNone/>
            </a:pPr>
            <a:r>
              <a:rPr lang="en-US" sz="1400" b="1" dirty="0">
                <a:solidFill>
                  <a:srgbClr val="1A2E3B"/>
                </a:solidFill>
                <a:latin typeface="Trebuchet MS" pitchFamily="34" charset="0"/>
                <a:ea typeface="Trebuchet MS" pitchFamily="34" charset="-122"/>
                <a:cs typeface="Trebuchet MS" pitchFamily="34" charset="-120"/>
              </a:rPr>
              <a:t>Pipeline de 8 Pasos Secuenciales</a:t>
            </a:r>
            <a:endParaRPr lang="en-US" sz="1400" dirty="0"/>
          </a:p>
        </p:txBody>
      </p:sp>
      <p:sp>
        <p:nvSpPr>
          <p:cNvPr id="16" name="Text 14"/>
          <p:cNvSpPr/>
          <p:nvPr/>
        </p:nvSpPr>
        <p:spPr>
          <a:xfrm>
            <a:off x="502920" y="4133088"/>
            <a:ext cx="8046720" cy="786384"/>
          </a:xfrm>
          <a:prstGeom prst="rect">
            <a:avLst/>
          </a:prstGeom>
          <a:noFill/>
        </p:spPr>
        <p:txBody>
          <a:bodyPr wrap="square" lIns="0" tIns="0" rIns="0" bIns="0" rtlCol="0" anchor="t"/>
          <a:lstStyle/>
          <a:p>
            <a:pPr marL="0" indent="0">
              <a:buNone/>
            </a:pPr>
            <a:r>
              <a:rPr lang="en-US" sz="1300" dirty="0">
                <a:solidFill>
                  <a:srgbClr val="5E7E8E"/>
                </a:solidFill>
                <a:latin typeface="Calibri" pitchFamily="34" charset="0"/>
                <a:ea typeface="Calibri" pitchFamily="34" charset="-122"/>
                <a:cs typeface="Calibri" pitchFamily="34" charset="-120"/>
              </a:rPr>
              <a:t>Emojis → texto · limpieza profunda · filtro de longitud (&lt; 25 chars) · re-clasificar relevancia · detectar 8 contextos temáticos · detectar sarcasmo (15 regex) · convertir fechas UTC→ISO · calcular IFB/polaridad/impacto/densidad.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65A82"/>
          </a:solidFill>
          <a:ln w="12700">
            <a:solidFill>
              <a:srgbClr val="065A82"/>
            </a:solidFill>
            <a:prstDash val="solid"/>
          </a:ln>
        </p:spPr>
      </p:sp>
      <p:sp>
        <p:nvSpPr>
          <p:cNvPr id="3" name="Shape 1"/>
          <p:cNvSpPr/>
          <p:nvPr/>
        </p:nvSpPr>
        <p:spPr>
          <a:xfrm>
            <a:off x="0" y="749808"/>
            <a:ext cx="9144000" cy="54864"/>
          </a:xfrm>
          <a:prstGeom prst="rect">
            <a:avLst/>
          </a:prstGeom>
          <a:solidFill>
            <a:srgbClr val="065A82"/>
          </a:solidFill>
          <a:ln w="12700">
            <a:solidFill>
              <a:srgbClr val="065A82"/>
            </a:solidFill>
            <a:prstDash val="solid"/>
          </a:ln>
        </p:spPr>
      </p:sp>
      <p:sp>
        <p:nvSpPr>
          <p:cNvPr id="4" name="Text 2"/>
          <p:cNvSpPr/>
          <p:nvPr/>
        </p:nvSpPr>
        <p:spPr>
          <a:xfrm>
            <a:off x="320040" y="0"/>
            <a:ext cx="8503920" cy="749808"/>
          </a:xfrm>
          <a:prstGeom prst="rect">
            <a:avLst/>
          </a:prstGeom>
          <a:noFill/>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Enriquecedor — Impacto, Sarcasmo y Contextos</a:t>
            </a:r>
            <a:endParaRPr lang="en-US" sz="2200" dirty="0"/>
          </a:p>
        </p:txBody>
      </p:sp>
      <p:sp>
        <p:nvSpPr>
          <p:cNvPr id="5" name="Shape 3"/>
          <p:cNvSpPr/>
          <p:nvPr/>
        </p:nvSpPr>
        <p:spPr>
          <a:xfrm>
            <a:off x="320040" y="1005840"/>
            <a:ext cx="8503920" cy="1261872"/>
          </a:xfrm>
          <a:prstGeom prst="rect">
            <a:avLst/>
          </a:prstGeom>
          <a:solidFill>
            <a:srgbClr val="FFFFFF"/>
          </a:solidFill>
          <a:ln w="12700">
            <a:solidFill>
              <a:srgbClr val="D8E8F0"/>
            </a:solidFill>
            <a:prstDash val="solid"/>
          </a:ln>
          <a:effectLst>
            <a:outerShdw blurRad="50800" dist="25400" dir="8100000" algn="bl" rotWithShape="0">
              <a:srgbClr val="000000">
                <a:alpha val="7000"/>
              </a:srgbClr>
            </a:outerShdw>
          </a:effectLst>
        </p:spPr>
      </p:sp>
      <p:sp>
        <p:nvSpPr>
          <p:cNvPr id="6" name="Shape 4"/>
          <p:cNvSpPr/>
          <p:nvPr/>
        </p:nvSpPr>
        <p:spPr>
          <a:xfrm>
            <a:off x="320040" y="1005840"/>
            <a:ext cx="64008" cy="1261872"/>
          </a:xfrm>
          <a:prstGeom prst="rect">
            <a:avLst/>
          </a:prstGeom>
          <a:solidFill>
            <a:srgbClr val="065A82"/>
          </a:solidFill>
          <a:ln w="12700">
            <a:solidFill>
              <a:srgbClr val="065A82"/>
            </a:solidFill>
            <a:prstDash val="solid"/>
          </a:ln>
        </p:spPr>
      </p:sp>
      <p:sp>
        <p:nvSpPr>
          <p:cNvPr id="7" name="Text 5"/>
          <p:cNvSpPr/>
          <p:nvPr/>
        </p:nvSpPr>
        <p:spPr>
          <a:xfrm>
            <a:off x="502920" y="1097280"/>
            <a:ext cx="8138160" cy="320040"/>
          </a:xfrm>
          <a:prstGeom prst="rect">
            <a:avLst/>
          </a:prstGeom>
          <a:noFill/>
        </p:spPr>
        <p:txBody>
          <a:bodyPr wrap="square" lIns="0" tIns="0" rIns="0" bIns="0" rtlCol="0" anchor="ctr"/>
          <a:lstStyle/>
          <a:p>
            <a:pPr marL="0" indent="0">
              <a:buNone/>
            </a:pPr>
            <a:r>
              <a:rPr lang="en-US" sz="1400" b="1" dirty="0">
                <a:solidFill>
                  <a:srgbClr val="1A2E3B"/>
                </a:solidFill>
                <a:latin typeface="Trebuchet MS" pitchFamily="34" charset="0"/>
                <a:ea typeface="Trebuchet MS" pitchFamily="34" charset="-122"/>
                <a:cs typeface="Trebuchet MS" pitchFamily="34" charset="-120"/>
              </a:rPr>
              <a:t>Nivel de Impacto en 3 Dimensiones</a:t>
            </a:r>
            <a:endParaRPr lang="en-US" sz="1400" dirty="0"/>
          </a:p>
        </p:txBody>
      </p:sp>
      <p:sp>
        <p:nvSpPr>
          <p:cNvPr id="8" name="Text 6"/>
          <p:cNvSpPr/>
          <p:nvPr/>
        </p:nvSpPr>
        <p:spPr>
          <a:xfrm>
            <a:off x="502920" y="1389888"/>
            <a:ext cx="8046720" cy="786384"/>
          </a:xfrm>
          <a:prstGeom prst="rect">
            <a:avLst/>
          </a:prstGeom>
          <a:noFill/>
        </p:spPr>
        <p:txBody>
          <a:bodyPr wrap="square" lIns="0" tIns="0" rIns="0" bIns="0" rtlCol="0" anchor="t"/>
          <a:lstStyle/>
          <a:p>
            <a:pPr marL="0" indent="0">
              <a:buNone/>
            </a:pPr>
            <a:r>
              <a:rPr lang="en-US" sz="1300" dirty="0">
                <a:solidFill>
                  <a:srgbClr val="5E7E8E"/>
                </a:solidFill>
                <a:latin typeface="Calibri" pitchFamily="34" charset="0"/>
                <a:ea typeface="Calibri" pitchFamily="34" charset="-122"/>
                <a:cs typeface="Calibri" pitchFamily="34" charset="-120"/>
              </a:rPr>
              <a:t>Clasificación jerárquica — el nivel final es la dimensión de mayor gravedad presente. Administrativo (0): trámites, citas, sistema caído. Económico (1): pago de bolsillo, pérdida de trabajo. Clínico (3): la fricción causó daño a la salud — nivel máximo de gravedad.</a:t>
            </a:r>
            <a:endParaRPr lang="en-US" sz="1300" dirty="0"/>
          </a:p>
        </p:txBody>
      </p:sp>
      <p:sp>
        <p:nvSpPr>
          <p:cNvPr id="9" name="Shape 7"/>
          <p:cNvSpPr/>
          <p:nvPr/>
        </p:nvSpPr>
        <p:spPr>
          <a:xfrm>
            <a:off x="320040" y="2377440"/>
            <a:ext cx="8503920" cy="1261872"/>
          </a:xfrm>
          <a:prstGeom prst="rect">
            <a:avLst/>
          </a:prstGeom>
          <a:solidFill>
            <a:srgbClr val="FFFFFF"/>
          </a:solidFill>
          <a:ln w="12700">
            <a:solidFill>
              <a:srgbClr val="D8E8F0"/>
            </a:solidFill>
            <a:prstDash val="solid"/>
          </a:ln>
          <a:effectLst>
            <a:outerShdw blurRad="50800" dist="25400" dir="8100000" algn="bl" rotWithShape="0">
              <a:srgbClr val="000000">
                <a:alpha val="7000"/>
              </a:srgbClr>
            </a:outerShdw>
          </a:effectLst>
        </p:spPr>
      </p:sp>
      <p:sp>
        <p:nvSpPr>
          <p:cNvPr id="10" name="Shape 8"/>
          <p:cNvSpPr/>
          <p:nvPr/>
        </p:nvSpPr>
        <p:spPr>
          <a:xfrm>
            <a:off x="320040" y="2377440"/>
            <a:ext cx="64008" cy="1261872"/>
          </a:xfrm>
          <a:prstGeom prst="rect">
            <a:avLst/>
          </a:prstGeom>
          <a:solidFill>
            <a:srgbClr val="065A82"/>
          </a:solidFill>
          <a:ln w="12700">
            <a:solidFill>
              <a:srgbClr val="065A82"/>
            </a:solidFill>
            <a:prstDash val="solid"/>
          </a:ln>
        </p:spPr>
      </p:sp>
      <p:sp>
        <p:nvSpPr>
          <p:cNvPr id="11" name="Text 9"/>
          <p:cNvSpPr/>
          <p:nvPr/>
        </p:nvSpPr>
        <p:spPr>
          <a:xfrm>
            <a:off x="502920" y="2468880"/>
            <a:ext cx="8138160" cy="320040"/>
          </a:xfrm>
          <a:prstGeom prst="rect">
            <a:avLst/>
          </a:prstGeom>
          <a:noFill/>
        </p:spPr>
        <p:txBody>
          <a:bodyPr wrap="square" lIns="0" tIns="0" rIns="0" bIns="0" rtlCol="0" anchor="ctr"/>
          <a:lstStyle/>
          <a:p>
            <a:pPr marL="0" indent="0">
              <a:buNone/>
            </a:pPr>
            <a:r>
              <a:rPr lang="en-US" sz="1400" b="1" dirty="0">
                <a:solidFill>
                  <a:srgbClr val="1A2E3B"/>
                </a:solidFill>
                <a:latin typeface="Trebuchet MS" pitchFamily="34" charset="0"/>
                <a:ea typeface="Trebuchet MS" pitchFamily="34" charset="-122"/>
                <a:cs typeface="Trebuchet MS" pitchFamily="34" charset="-120"/>
              </a:rPr>
              <a:t>Detección de Sarcasmo — 15 Patrones Regex</a:t>
            </a:r>
            <a:endParaRPr lang="en-US" sz="1400" dirty="0"/>
          </a:p>
        </p:txBody>
      </p:sp>
      <p:sp>
        <p:nvSpPr>
          <p:cNvPr id="12" name="Text 10"/>
          <p:cNvSpPr/>
          <p:nvPr/>
        </p:nvSpPr>
        <p:spPr>
          <a:xfrm>
            <a:off x="502920" y="2761488"/>
            <a:ext cx="8046720" cy="786384"/>
          </a:xfrm>
          <a:prstGeom prst="rect">
            <a:avLst/>
          </a:prstGeom>
          <a:noFill/>
        </p:spPr>
        <p:txBody>
          <a:bodyPr wrap="square" lIns="0" tIns="0" rIns="0" bIns="0" rtlCol="0" anchor="t"/>
          <a:lstStyle/>
          <a:p>
            <a:pPr marL="0" indent="0">
              <a:buNone/>
            </a:pPr>
            <a:r>
              <a:rPr lang="en-US" sz="1300" dirty="0">
                <a:solidFill>
                  <a:srgbClr val="5E7E8E"/>
                </a:solidFill>
                <a:latin typeface="Calibri" pitchFamily="34" charset="0"/>
                <a:ea typeface="Calibri" pitchFamily="34" charset="-122"/>
                <a:cs typeface="Calibri" pitchFamily="34" charset="-120"/>
              </a:rPr>
              <a:t>Identifica ironía antes de calcular la polaridad para invertir el signo. Ejemplos: 'Qué excelente servicio…', 'Gracias por nada', 'Muy eficiente el IMSS', 'Super rápido (3 horas)'. Si se detecta sarcasmo, la polaridad se procesa en modo invertido.</a:t>
            </a:r>
            <a:endParaRPr lang="en-US" sz="1300" dirty="0"/>
          </a:p>
        </p:txBody>
      </p:sp>
      <p:sp>
        <p:nvSpPr>
          <p:cNvPr id="13" name="Shape 11"/>
          <p:cNvSpPr/>
          <p:nvPr/>
        </p:nvSpPr>
        <p:spPr>
          <a:xfrm>
            <a:off x="320040" y="3749040"/>
            <a:ext cx="8503920" cy="1261872"/>
          </a:xfrm>
          <a:prstGeom prst="rect">
            <a:avLst/>
          </a:prstGeom>
          <a:solidFill>
            <a:srgbClr val="FFFFFF"/>
          </a:solidFill>
          <a:ln w="12700">
            <a:solidFill>
              <a:srgbClr val="D8E8F0"/>
            </a:solidFill>
            <a:prstDash val="solid"/>
          </a:ln>
          <a:effectLst>
            <a:outerShdw blurRad="50800" dist="25400" dir="8100000" algn="bl" rotWithShape="0">
              <a:srgbClr val="000000">
                <a:alpha val="7000"/>
              </a:srgbClr>
            </a:outerShdw>
          </a:effectLst>
        </p:spPr>
      </p:sp>
      <p:sp>
        <p:nvSpPr>
          <p:cNvPr id="14" name="Shape 12"/>
          <p:cNvSpPr/>
          <p:nvPr/>
        </p:nvSpPr>
        <p:spPr>
          <a:xfrm>
            <a:off x="320040" y="3749040"/>
            <a:ext cx="64008" cy="1261872"/>
          </a:xfrm>
          <a:prstGeom prst="rect">
            <a:avLst/>
          </a:prstGeom>
          <a:solidFill>
            <a:srgbClr val="065A82"/>
          </a:solidFill>
          <a:ln w="12700">
            <a:solidFill>
              <a:srgbClr val="065A82"/>
            </a:solidFill>
            <a:prstDash val="solid"/>
          </a:ln>
        </p:spPr>
      </p:sp>
      <p:sp>
        <p:nvSpPr>
          <p:cNvPr id="15" name="Text 13"/>
          <p:cNvSpPr/>
          <p:nvPr/>
        </p:nvSpPr>
        <p:spPr>
          <a:xfrm>
            <a:off x="502920" y="3840480"/>
            <a:ext cx="8138160" cy="320040"/>
          </a:xfrm>
          <a:prstGeom prst="rect">
            <a:avLst/>
          </a:prstGeom>
          <a:noFill/>
        </p:spPr>
        <p:txBody>
          <a:bodyPr wrap="square" lIns="0" tIns="0" rIns="0" bIns="0" rtlCol="0" anchor="ctr"/>
          <a:lstStyle/>
          <a:p>
            <a:pPr marL="0" indent="0">
              <a:buNone/>
            </a:pPr>
            <a:r>
              <a:rPr lang="en-US" sz="1400" b="1" dirty="0">
                <a:solidFill>
                  <a:srgbClr val="1A2E3B"/>
                </a:solidFill>
                <a:latin typeface="Trebuchet MS" pitchFamily="34" charset="0"/>
                <a:ea typeface="Trebuchet MS" pitchFamily="34" charset="-122"/>
                <a:cs typeface="Trebuchet MS" pitchFamily="34" charset="-120"/>
              </a:rPr>
              <a:t>Etiquetado Múltiple — 8 Contextos Temáticos</a:t>
            </a:r>
            <a:endParaRPr lang="en-US" sz="1400" dirty="0"/>
          </a:p>
        </p:txBody>
      </p:sp>
      <p:sp>
        <p:nvSpPr>
          <p:cNvPr id="16" name="Text 14"/>
          <p:cNvSpPr/>
          <p:nvPr/>
        </p:nvSpPr>
        <p:spPr>
          <a:xfrm>
            <a:off x="502920" y="4133088"/>
            <a:ext cx="8046720" cy="786384"/>
          </a:xfrm>
          <a:prstGeom prst="rect">
            <a:avLst/>
          </a:prstGeom>
          <a:noFill/>
        </p:spPr>
        <p:txBody>
          <a:bodyPr wrap="square" lIns="0" tIns="0" rIns="0" bIns="0" rtlCol="0" anchor="t"/>
          <a:lstStyle/>
          <a:p>
            <a:pPr marL="0" indent="0">
              <a:buNone/>
            </a:pPr>
            <a:r>
              <a:rPr lang="en-US" sz="1300" dirty="0">
                <a:solidFill>
                  <a:srgbClr val="5E7E8E"/>
                </a:solidFill>
                <a:latin typeface="Calibri" pitchFamily="34" charset="0"/>
                <a:ea typeface="Calibri" pitchFamily="34" charset="-122"/>
                <a:cs typeface="Calibri" pitchFamily="34" charset="-120"/>
              </a:rPr>
              <a:t>Cada registro puede pertenecer simultáneamente a: Tiempo de espera · Medicamentos · Atención médica · Trámites · Costo/pago · Rechazo · Infraestructura · Impacto emocional. La salida es directamente usable para entrenar clasificadores ML, series de tiempo y comparativa institucional.</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21B2E"/>
        </a:solidFill>
        <a:effectLst/>
      </p:bgPr>
    </p:bg>
    <p:spTree>
      <p:nvGrpSpPr>
        <p:cNvPr id="1" name=""/>
        <p:cNvGrpSpPr/>
        <p:nvPr/>
      </p:nvGrpSpPr>
      <p:grpSpPr>
        <a:xfrm>
          <a:off x="0" y="0"/>
          <a:ext cx="0" cy="0"/>
          <a:chOff x="0" y="0"/>
          <a:chExt cx="0" cy="0"/>
        </a:xfrm>
      </p:grpSpPr>
      <p:sp>
        <p:nvSpPr>
          <p:cNvPr id="2" name="Text 0"/>
          <p:cNvSpPr/>
          <p:nvPr/>
        </p:nvSpPr>
        <p:spPr>
          <a:xfrm>
            <a:off x="5669280" y="182880"/>
            <a:ext cx="3291840" cy="4114800"/>
          </a:xfrm>
          <a:prstGeom prst="rect">
            <a:avLst/>
          </a:prstGeom>
          <a:noFill/>
        </p:spPr>
        <p:txBody>
          <a:bodyPr wrap="square" rtlCol="0" anchor="b"/>
          <a:lstStyle/>
          <a:p>
            <a:pPr marL="0" indent="0" algn="r">
              <a:buNone/>
            </a:pPr>
            <a:r>
              <a:rPr lang="en-US" sz="13000" b="1" dirty="0">
                <a:solidFill>
                  <a:srgbClr val="065A82">
                    <a:alpha val="40000"/>
                  </a:srgbClr>
                </a:solidFill>
                <a:latin typeface="Arial Black" pitchFamily="34" charset="0"/>
                <a:ea typeface="Arial Black" pitchFamily="34" charset="-122"/>
                <a:cs typeface="Arial Black" pitchFamily="34" charset="-120"/>
              </a:rPr>
              <a:t>04</a:t>
            </a:r>
            <a:endParaRPr lang="en-US" sz="13000" dirty="0"/>
          </a:p>
        </p:txBody>
      </p:sp>
      <p:sp>
        <p:nvSpPr>
          <p:cNvPr id="3" name="Shape 1"/>
          <p:cNvSpPr/>
          <p:nvPr/>
        </p:nvSpPr>
        <p:spPr>
          <a:xfrm>
            <a:off x="0" y="0"/>
            <a:ext cx="9144000" cy="109728"/>
          </a:xfrm>
          <a:prstGeom prst="rect">
            <a:avLst/>
          </a:prstGeom>
          <a:solidFill>
            <a:srgbClr val="4A90B8"/>
          </a:solidFill>
          <a:ln w="12700">
            <a:solidFill>
              <a:srgbClr val="4A90B8"/>
            </a:solidFill>
            <a:prstDash val="solid"/>
          </a:ln>
        </p:spPr>
      </p:sp>
      <p:sp>
        <p:nvSpPr>
          <p:cNvPr id="4" name="Shape 2"/>
          <p:cNvSpPr/>
          <p:nvPr/>
        </p:nvSpPr>
        <p:spPr>
          <a:xfrm>
            <a:off x="457200" y="411480"/>
            <a:ext cx="1737360" cy="347472"/>
          </a:xfrm>
          <a:prstGeom prst="rect">
            <a:avLst/>
          </a:prstGeom>
          <a:solidFill>
            <a:srgbClr val="4A90B8"/>
          </a:solidFill>
          <a:ln w="12700">
            <a:solidFill>
              <a:srgbClr val="4A90B8"/>
            </a:solidFill>
            <a:prstDash val="solid"/>
          </a:ln>
        </p:spPr>
      </p:sp>
      <p:sp>
        <p:nvSpPr>
          <p:cNvPr id="5" name="Text 3"/>
          <p:cNvSpPr/>
          <p:nvPr/>
        </p:nvSpPr>
        <p:spPr>
          <a:xfrm>
            <a:off x="457200" y="411480"/>
            <a:ext cx="1737360" cy="347472"/>
          </a:xfrm>
          <a:prstGeom prst="rect">
            <a:avLst/>
          </a:prstGeom>
          <a:noFill/>
        </p:spPr>
        <p:txBody>
          <a:bodyPr wrap="square" lIns="0" tIns="0" rIns="0" bIns="0" rtlCol="0" anchor="ctr"/>
          <a:lstStyle/>
          <a:p>
            <a:pPr marL="0" indent="0" algn="ctr">
              <a:buNone/>
            </a:pPr>
            <a:r>
              <a:rPr lang="en-US" sz="1100" b="1" dirty="0">
                <a:solidFill>
                  <a:srgbClr val="021B2E"/>
                </a:solidFill>
                <a:latin typeface="Calibri" pitchFamily="34" charset="0"/>
                <a:ea typeface="Calibri" pitchFamily="34" charset="-122"/>
                <a:cs typeface="Calibri" pitchFamily="34" charset="-120"/>
              </a:rPr>
              <a:t>MÓDULO 4</a:t>
            </a:r>
            <a:endParaRPr lang="en-US" sz="1100" dirty="0"/>
          </a:p>
        </p:txBody>
      </p:sp>
      <p:sp>
        <p:nvSpPr>
          <p:cNvPr id="6" name="Text 4"/>
          <p:cNvSpPr/>
          <p:nvPr/>
        </p:nvSpPr>
        <p:spPr>
          <a:xfrm>
            <a:off x="457200" y="960120"/>
            <a:ext cx="7772400" cy="1371600"/>
          </a:xfrm>
          <a:prstGeom prst="rect">
            <a:avLst/>
          </a:prstGeom>
          <a:noFill/>
        </p:spPr>
        <p:txBody>
          <a:bodyPr wrap="square" rtlCol="0" anchor="ctr"/>
          <a:lstStyle/>
          <a:p>
            <a:pPr marL="0" indent="0">
              <a:buNone/>
            </a:pPr>
            <a:r>
              <a:rPr lang="en-US" sz="3800" b="1" dirty="0">
                <a:solidFill>
                  <a:srgbClr val="FFFFFF"/>
                </a:solidFill>
                <a:latin typeface="Trebuchet MS" pitchFamily="34" charset="0"/>
                <a:ea typeface="Trebuchet MS" pitchFamily="34" charset="-122"/>
                <a:cs typeface="Trebuchet MS" pitchFamily="34" charset="-120"/>
              </a:rPr>
              <a:t>Normalizador NLP</a:t>
            </a:r>
            <a:endParaRPr lang="en-US" sz="3800" dirty="0"/>
          </a:p>
        </p:txBody>
      </p:sp>
      <p:sp>
        <p:nvSpPr>
          <p:cNvPr id="7" name="Text 5"/>
          <p:cNvSpPr/>
          <p:nvPr/>
        </p:nvSpPr>
        <p:spPr>
          <a:xfrm>
            <a:off x="457200" y="2468880"/>
            <a:ext cx="5943600" cy="640080"/>
          </a:xfrm>
          <a:prstGeom prst="rect">
            <a:avLst/>
          </a:prstGeom>
          <a:noFill/>
        </p:spPr>
        <p:txBody>
          <a:bodyPr wrap="square" rtlCol="0" anchor="ctr"/>
          <a:lstStyle/>
          <a:p>
            <a:pPr marL="0" indent="0">
              <a:buNone/>
            </a:pPr>
            <a:r>
              <a:rPr lang="en-US" sz="1600" i="1" dirty="0">
                <a:solidFill>
                  <a:srgbClr val="8CB8CC"/>
                </a:solidFill>
                <a:latin typeface="Calibri" pitchFamily="34" charset="0"/>
                <a:ea typeface="Calibri" pitchFamily="34" charset="-122"/>
                <a:cs typeface="Calibri" pitchFamily="34" charset="-120"/>
              </a:rPr>
              <a:t>Del texto coloquial al corpus listo para TF-IDF, BoW y embeddings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65A82"/>
          </a:solidFill>
          <a:ln w="12700">
            <a:solidFill>
              <a:srgbClr val="065A82"/>
            </a:solidFill>
            <a:prstDash val="solid"/>
          </a:ln>
        </p:spPr>
      </p:sp>
      <p:sp>
        <p:nvSpPr>
          <p:cNvPr id="3" name="Shape 1"/>
          <p:cNvSpPr/>
          <p:nvPr/>
        </p:nvSpPr>
        <p:spPr>
          <a:xfrm>
            <a:off x="0" y="749808"/>
            <a:ext cx="9144000" cy="54864"/>
          </a:xfrm>
          <a:prstGeom prst="rect">
            <a:avLst/>
          </a:prstGeom>
          <a:solidFill>
            <a:srgbClr val="4A90B8"/>
          </a:solidFill>
          <a:ln w="12700">
            <a:solidFill>
              <a:srgbClr val="4A90B8"/>
            </a:solidFill>
            <a:prstDash val="solid"/>
          </a:ln>
        </p:spPr>
      </p:sp>
      <p:sp>
        <p:nvSpPr>
          <p:cNvPr id="4" name="Text 2"/>
          <p:cNvSpPr/>
          <p:nvPr/>
        </p:nvSpPr>
        <p:spPr>
          <a:xfrm>
            <a:off x="320040" y="0"/>
            <a:ext cx="8503920" cy="749808"/>
          </a:xfrm>
          <a:prstGeom prst="rect">
            <a:avLst/>
          </a:prstGeom>
          <a:noFill/>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Normalizador NLP — Pipeline y Puntos Críticos</a:t>
            </a:r>
            <a:endParaRPr lang="en-US" sz="2200" dirty="0"/>
          </a:p>
        </p:txBody>
      </p:sp>
      <p:sp>
        <p:nvSpPr>
          <p:cNvPr id="5" name="Shape 3"/>
          <p:cNvSpPr/>
          <p:nvPr/>
        </p:nvSpPr>
        <p:spPr>
          <a:xfrm>
            <a:off x="320040" y="1005840"/>
            <a:ext cx="8503920" cy="1261872"/>
          </a:xfrm>
          <a:prstGeom prst="rect">
            <a:avLst/>
          </a:prstGeom>
          <a:solidFill>
            <a:srgbClr val="FFFFFF"/>
          </a:solidFill>
          <a:ln w="12700">
            <a:solidFill>
              <a:srgbClr val="D8E8F0"/>
            </a:solidFill>
            <a:prstDash val="solid"/>
          </a:ln>
          <a:effectLst>
            <a:outerShdw blurRad="50800" dist="25400" dir="8100000" algn="bl" rotWithShape="0">
              <a:srgbClr val="000000">
                <a:alpha val="7000"/>
              </a:srgbClr>
            </a:outerShdw>
          </a:effectLst>
        </p:spPr>
      </p:sp>
      <p:sp>
        <p:nvSpPr>
          <p:cNvPr id="6" name="Shape 4"/>
          <p:cNvSpPr/>
          <p:nvPr/>
        </p:nvSpPr>
        <p:spPr>
          <a:xfrm>
            <a:off x="320040" y="1005840"/>
            <a:ext cx="64008" cy="1261872"/>
          </a:xfrm>
          <a:prstGeom prst="rect">
            <a:avLst/>
          </a:prstGeom>
          <a:solidFill>
            <a:srgbClr val="4A90B8"/>
          </a:solidFill>
          <a:ln w="12700">
            <a:solidFill>
              <a:srgbClr val="4A90B8"/>
            </a:solidFill>
            <a:prstDash val="solid"/>
          </a:ln>
        </p:spPr>
      </p:sp>
      <p:sp>
        <p:nvSpPr>
          <p:cNvPr id="7" name="Text 5"/>
          <p:cNvSpPr/>
          <p:nvPr/>
        </p:nvSpPr>
        <p:spPr>
          <a:xfrm>
            <a:off x="502920" y="1097280"/>
            <a:ext cx="8138160" cy="320040"/>
          </a:xfrm>
          <a:prstGeom prst="rect">
            <a:avLst/>
          </a:prstGeom>
          <a:noFill/>
        </p:spPr>
        <p:txBody>
          <a:bodyPr wrap="square" lIns="0" tIns="0" rIns="0" bIns="0" rtlCol="0" anchor="ctr"/>
          <a:lstStyle/>
          <a:p>
            <a:pPr marL="0" indent="0">
              <a:buNone/>
            </a:pPr>
            <a:r>
              <a:rPr lang="en-US" sz="1400" b="1" dirty="0">
                <a:solidFill>
                  <a:srgbClr val="1A2E3B"/>
                </a:solidFill>
                <a:latin typeface="Trebuchet MS" pitchFamily="34" charset="0"/>
                <a:ea typeface="Trebuchet MS" pitchFamily="34" charset="-122"/>
                <a:cs typeface="Trebuchet MS" pitchFamily="34" charset="-120"/>
              </a:rPr>
              <a:t>8 Pasos — El Orden Importa</a:t>
            </a:r>
            <a:endParaRPr lang="en-US" sz="1400" dirty="0"/>
          </a:p>
        </p:txBody>
      </p:sp>
      <p:sp>
        <p:nvSpPr>
          <p:cNvPr id="8" name="Text 6"/>
          <p:cNvSpPr/>
          <p:nvPr/>
        </p:nvSpPr>
        <p:spPr>
          <a:xfrm>
            <a:off x="502920" y="1389888"/>
            <a:ext cx="8046720" cy="786384"/>
          </a:xfrm>
          <a:prstGeom prst="rect">
            <a:avLst/>
          </a:prstGeom>
          <a:noFill/>
        </p:spPr>
        <p:txBody>
          <a:bodyPr wrap="square" lIns="0" tIns="0" rIns="0" bIns="0" rtlCol="0" anchor="t"/>
          <a:lstStyle/>
          <a:p>
            <a:pPr marL="0" indent="0">
              <a:buNone/>
            </a:pPr>
            <a:r>
              <a:rPr lang="en-US" sz="1300" dirty="0">
                <a:solidFill>
                  <a:srgbClr val="5E7E8E"/>
                </a:solidFill>
                <a:latin typeface="Calibri" pitchFamily="34" charset="0"/>
                <a:ea typeface="Calibri" pitchFamily="34" charset="-122"/>
                <a:cs typeface="Calibri" pitchFamily="34" charset="-120"/>
              </a:rPr>
              <a:t>1) Emojis → texto plano. 2) N-gramas pre-spaCy (33 patrones bigramas/trigramas). 3) spaCy: tokenizer + morphologizer + lemmatizer + NER. 4) Filtros de ruido (puntuación, números, &lt; 2 chars). 5) Excepciones de lema (~45 entradas). 6) Filtro stopwords con protegidos. 7) Extracción NER. 8) Cálculo de peso Reddit.</a:t>
            </a:r>
            <a:endParaRPr lang="en-US" sz="1300" dirty="0"/>
          </a:p>
        </p:txBody>
      </p:sp>
      <p:sp>
        <p:nvSpPr>
          <p:cNvPr id="9" name="Shape 7"/>
          <p:cNvSpPr/>
          <p:nvPr/>
        </p:nvSpPr>
        <p:spPr>
          <a:xfrm>
            <a:off x="320040" y="2377440"/>
            <a:ext cx="8503920" cy="1261872"/>
          </a:xfrm>
          <a:prstGeom prst="rect">
            <a:avLst/>
          </a:prstGeom>
          <a:solidFill>
            <a:srgbClr val="FFFFFF"/>
          </a:solidFill>
          <a:ln w="12700">
            <a:solidFill>
              <a:srgbClr val="D8E8F0"/>
            </a:solidFill>
            <a:prstDash val="solid"/>
          </a:ln>
          <a:effectLst>
            <a:outerShdw blurRad="50800" dist="25400" dir="8100000" algn="bl" rotWithShape="0">
              <a:srgbClr val="000000">
                <a:alpha val="7000"/>
              </a:srgbClr>
            </a:outerShdw>
          </a:effectLst>
        </p:spPr>
      </p:sp>
      <p:sp>
        <p:nvSpPr>
          <p:cNvPr id="10" name="Shape 8"/>
          <p:cNvSpPr/>
          <p:nvPr/>
        </p:nvSpPr>
        <p:spPr>
          <a:xfrm>
            <a:off x="320040" y="2377440"/>
            <a:ext cx="64008" cy="1261872"/>
          </a:xfrm>
          <a:prstGeom prst="rect">
            <a:avLst/>
          </a:prstGeom>
          <a:solidFill>
            <a:srgbClr val="4A90B8"/>
          </a:solidFill>
          <a:ln w="12700">
            <a:solidFill>
              <a:srgbClr val="4A90B8"/>
            </a:solidFill>
            <a:prstDash val="solid"/>
          </a:ln>
        </p:spPr>
      </p:sp>
      <p:sp>
        <p:nvSpPr>
          <p:cNvPr id="11" name="Text 9"/>
          <p:cNvSpPr/>
          <p:nvPr/>
        </p:nvSpPr>
        <p:spPr>
          <a:xfrm>
            <a:off x="502920" y="2468880"/>
            <a:ext cx="8138160" cy="320040"/>
          </a:xfrm>
          <a:prstGeom prst="rect">
            <a:avLst/>
          </a:prstGeom>
          <a:noFill/>
        </p:spPr>
        <p:txBody>
          <a:bodyPr wrap="square" lIns="0" tIns="0" rIns="0" bIns="0" rtlCol="0" anchor="ctr"/>
          <a:lstStyle/>
          <a:p>
            <a:pPr marL="0" indent="0">
              <a:buNone/>
            </a:pPr>
            <a:r>
              <a:rPr lang="en-US" sz="1400" b="1" dirty="0">
                <a:solidFill>
                  <a:srgbClr val="1A2E3B"/>
                </a:solidFill>
                <a:latin typeface="Trebuchet MS" pitchFamily="34" charset="0"/>
                <a:ea typeface="Trebuchet MS" pitchFamily="34" charset="-122"/>
                <a:cs typeface="Trebuchet MS" pitchFamily="34" charset="-120"/>
              </a:rPr>
              <a:t>Protección de Negaciones — Señal Semántica Crítica</a:t>
            </a:r>
            <a:endParaRPr lang="en-US" sz="1400" dirty="0"/>
          </a:p>
        </p:txBody>
      </p:sp>
      <p:sp>
        <p:nvSpPr>
          <p:cNvPr id="12" name="Text 10"/>
          <p:cNvSpPr/>
          <p:nvPr/>
        </p:nvSpPr>
        <p:spPr>
          <a:xfrm>
            <a:off x="502920" y="2761488"/>
            <a:ext cx="8046720" cy="786384"/>
          </a:xfrm>
          <a:prstGeom prst="rect">
            <a:avLst/>
          </a:prstGeom>
          <a:noFill/>
        </p:spPr>
        <p:txBody>
          <a:bodyPr wrap="square" lIns="0" tIns="0" rIns="0" bIns="0" rtlCol="0" anchor="t"/>
          <a:lstStyle/>
          <a:p>
            <a:pPr marL="0" indent="0">
              <a:buNone/>
            </a:pPr>
            <a:r>
              <a:rPr lang="en-US" sz="1300" dirty="0">
                <a:solidFill>
                  <a:srgbClr val="5E7E8E"/>
                </a:solidFill>
                <a:latin typeface="Calibri" pitchFamily="34" charset="0"/>
                <a:ea typeface="Calibri" pitchFamily="34" charset="-122"/>
                <a:cs typeface="Calibri" pitchFamily="34" charset="-120"/>
              </a:rPr>
              <a:t>Sin protección, stopwords estándar eliminan 'no', 'ni', 'nunca' y los vectores de 'no hay medicamento' y 'hay medicamento' se vuelven idénticos — el modelo no puede distinguir queja de disponibilidad. Con NEGACIONES_PROTEGIDAS, el bigrama se consolida como no_hay_medicamento antes de spaCy, produciendo vectores distintos.</a:t>
            </a:r>
            <a:endParaRPr lang="en-US" sz="1300" dirty="0"/>
          </a:p>
        </p:txBody>
      </p:sp>
      <p:sp>
        <p:nvSpPr>
          <p:cNvPr id="13" name="Shape 11"/>
          <p:cNvSpPr/>
          <p:nvPr/>
        </p:nvSpPr>
        <p:spPr>
          <a:xfrm>
            <a:off x="320040" y="3749040"/>
            <a:ext cx="8503920" cy="1261872"/>
          </a:xfrm>
          <a:prstGeom prst="rect">
            <a:avLst/>
          </a:prstGeom>
          <a:solidFill>
            <a:srgbClr val="FFFFFF"/>
          </a:solidFill>
          <a:ln w="12700">
            <a:solidFill>
              <a:srgbClr val="D8E8F0"/>
            </a:solidFill>
            <a:prstDash val="solid"/>
          </a:ln>
          <a:effectLst>
            <a:outerShdw blurRad="50800" dist="25400" dir="8100000" algn="bl" rotWithShape="0">
              <a:srgbClr val="000000">
                <a:alpha val="7000"/>
              </a:srgbClr>
            </a:outerShdw>
          </a:effectLst>
        </p:spPr>
      </p:sp>
      <p:sp>
        <p:nvSpPr>
          <p:cNvPr id="14" name="Shape 12"/>
          <p:cNvSpPr/>
          <p:nvPr/>
        </p:nvSpPr>
        <p:spPr>
          <a:xfrm>
            <a:off x="320040" y="3749040"/>
            <a:ext cx="64008" cy="1261872"/>
          </a:xfrm>
          <a:prstGeom prst="rect">
            <a:avLst/>
          </a:prstGeom>
          <a:solidFill>
            <a:srgbClr val="4A90B8"/>
          </a:solidFill>
          <a:ln w="12700">
            <a:solidFill>
              <a:srgbClr val="4A90B8"/>
            </a:solidFill>
            <a:prstDash val="solid"/>
          </a:ln>
        </p:spPr>
      </p:sp>
      <p:sp>
        <p:nvSpPr>
          <p:cNvPr id="15" name="Text 13"/>
          <p:cNvSpPr/>
          <p:nvPr/>
        </p:nvSpPr>
        <p:spPr>
          <a:xfrm>
            <a:off x="502920" y="3840480"/>
            <a:ext cx="8138160" cy="320040"/>
          </a:xfrm>
          <a:prstGeom prst="rect">
            <a:avLst/>
          </a:prstGeom>
          <a:noFill/>
        </p:spPr>
        <p:txBody>
          <a:bodyPr wrap="square" lIns="0" tIns="0" rIns="0" bIns="0" rtlCol="0" anchor="ctr"/>
          <a:lstStyle/>
          <a:p>
            <a:pPr marL="0" indent="0">
              <a:buNone/>
            </a:pPr>
            <a:r>
              <a:rPr lang="en-US" sz="1400" b="1" dirty="0">
                <a:solidFill>
                  <a:srgbClr val="1A2E3B"/>
                </a:solidFill>
                <a:latin typeface="Trebuchet MS" pitchFamily="34" charset="0"/>
                <a:ea typeface="Trebuchet MS" pitchFamily="34" charset="-122"/>
                <a:cs typeface="Trebuchet MS" pitchFamily="34" charset="-120"/>
              </a:rPr>
              <a:t>Tabla de Excepciones de Lema (~45 entradas)</a:t>
            </a:r>
            <a:endParaRPr lang="en-US" sz="1400" dirty="0"/>
          </a:p>
        </p:txBody>
      </p:sp>
      <p:sp>
        <p:nvSpPr>
          <p:cNvPr id="16" name="Text 14"/>
          <p:cNvSpPr/>
          <p:nvPr/>
        </p:nvSpPr>
        <p:spPr>
          <a:xfrm>
            <a:off x="502920" y="4133088"/>
            <a:ext cx="8046720" cy="786384"/>
          </a:xfrm>
          <a:prstGeom prst="rect">
            <a:avLst/>
          </a:prstGeom>
          <a:noFill/>
        </p:spPr>
        <p:txBody>
          <a:bodyPr wrap="square" lIns="0" tIns="0" rIns="0" bIns="0" rtlCol="0" anchor="t"/>
          <a:lstStyle/>
          <a:p>
            <a:pPr marL="0" indent="0">
              <a:buNone/>
            </a:pPr>
            <a:r>
              <a:rPr lang="en-US" sz="1300" dirty="0">
                <a:solidFill>
                  <a:srgbClr val="5E7E8E"/>
                </a:solidFill>
                <a:latin typeface="Calibri" pitchFamily="34" charset="0"/>
                <a:ea typeface="Calibri" pitchFamily="34" charset="-122"/>
                <a:cs typeface="Calibri" pitchFamily="34" charset="-120"/>
              </a:rPr>
              <a:t>spaCy genérico neutraliza términos clave: 'pésimo' → 'malo' (pierde intensidad emocional), 'falleció' → 'caer' (pierde temporalidad clínica). Las excepciones corrigen esto: 'pésimo' → 'pésimo', 'falleció' → 'fallecer', n-gramas como no_hay_sistema se conservan intactos.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65A82"/>
          </a:solidFill>
          <a:ln w="12700">
            <a:solidFill>
              <a:srgbClr val="065A82"/>
            </a:solidFill>
            <a:prstDash val="solid"/>
          </a:ln>
        </p:spPr>
      </p:sp>
      <p:sp>
        <p:nvSpPr>
          <p:cNvPr id="3" name="Shape 1"/>
          <p:cNvSpPr/>
          <p:nvPr/>
        </p:nvSpPr>
        <p:spPr>
          <a:xfrm>
            <a:off x="0" y="749808"/>
            <a:ext cx="9144000" cy="54864"/>
          </a:xfrm>
          <a:prstGeom prst="rect">
            <a:avLst/>
          </a:prstGeom>
          <a:solidFill>
            <a:srgbClr val="4A90B8"/>
          </a:solidFill>
          <a:ln w="12700">
            <a:solidFill>
              <a:srgbClr val="4A90B8"/>
            </a:solidFill>
            <a:prstDash val="solid"/>
          </a:ln>
        </p:spPr>
      </p:sp>
      <p:sp>
        <p:nvSpPr>
          <p:cNvPr id="4" name="Text 2"/>
          <p:cNvSpPr/>
          <p:nvPr/>
        </p:nvSpPr>
        <p:spPr>
          <a:xfrm>
            <a:off x="320040" y="0"/>
            <a:ext cx="8503920" cy="749808"/>
          </a:xfrm>
          <a:prstGeom prst="rect">
            <a:avLst/>
          </a:prstGeom>
          <a:noFill/>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Normalizador NLP — NER, Peso Reddit y Salida</a:t>
            </a:r>
            <a:endParaRPr lang="en-US" sz="2200" dirty="0"/>
          </a:p>
        </p:txBody>
      </p:sp>
      <p:sp>
        <p:nvSpPr>
          <p:cNvPr id="5" name="Shape 3"/>
          <p:cNvSpPr/>
          <p:nvPr/>
        </p:nvSpPr>
        <p:spPr>
          <a:xfrm>
            <a:off x="320040" y="1005840"/>
            <a:ext cx="8503920" cy="1261872"/>
          </a:xfrm>
          <a:prstGeom prst="rect">
            <a:avLst/>
          </a:prstGeom>
          <a:solidFill>
            <a:srgbClr val="FFFFFF"/>
          </a:solidFill>
          <a:ln w="12700">
            <a:solidFill>
              <a:srgbClr val="D8E8F0"/>
            </a:solidFill>
            <a:prstDash val="solid"/>
          </a:ln>
          <a:effectLst>
            <a:outerShdw blurRad="50800" dist="25400" dir="8100000" algn="bl" rotWithShape="0">
              <a:srgbClr val="000000">
                <a:alpha val="7000"/>
              </a:srgbClr>
            </a:outerShdw>
          </a:effectLst>
        </p:spPr>
      </p:sp>
      <p:sp>
        <p:nvSpPr>
          <p:cNvPr id="6" name="Shape 4"/>
          <p:cNvSpPr/>
          <p:nvPr/>
        </p:nvSpPr>
        <p:spPr>
          <a:xfrm>
            <a:off x="320040" y="1005840"/>
            <a:ext cx="64008" cy="1261872"/>
          </a:xfrm>
          <a:prstGeom prst="rect">
            <a:avLst/>
          </a:prstGeom>
          <a:solidFill>
            <a:srgbClr val="4A90B8"/>
          </a:solidFill>
          <a:ln w="12700">
            <a:solidFill>
              <a:srgbClr val="4A90B8"/>
            </a:solidFill>
            <a:prstDash val="solid"/>
          </a:ln>
        </p:spPr>
      </p:sp>
      <p:sp>
        <p:nvSpPr>
          <p:cNvPr id="7" name="Text 5"/>
          <p:cNvSpPr/>
          <p:nvPr/>
        </p:nvSpPr>
        <p:spPr>
          <a:xfrm>
            <a:off x="502920" y="1097280"/>
            <a:ext cx="8138160" cy="320040"/>
          </a:xfrm>
          <a:prstGeom prst="rect">
            <a:avLst/>
          </a:prstGeom>
          <a:noFill/>
        </p:spPr>
        <p:txBody>
          <a:bodyPr wrap="square" lIns="0" tIns="0" rIns="0" bIns="0" rtlCol="0" anchor="ctr"/>
          <a:lstStyle/>
          <a:p>
            <a:pPr marL="0" indent="0">
              <a:buNone/>
            </a:pPr>
            <a:r>
              <a:rPr lang="en-US" sz="1400" b="1" dirty="0">
                <a:solidFill>
                  <a:srgbClr val="1A2E3B"/>
                </a:solidFill>
                <a:latin typeface="Trebuchet MS" pitchFamily="34" charset="0"/>
                <a:ea typeface="Trebuchet MS" pitchFamily="34" charset="-122"/>
                <a:cs typeface="Trebuchet MS" pitchFamily="34" charset="-120"/>
              </a:rPr>
              <a:t>Extracción de Entidades (NER)</a:t>
            </a:r>
            <a:endParaRPr lang="en-US" sz="1400" dirty="0"/>
          </a:p>
        </p:txBody>
      </p:sp>
      <p:sp>
        <p:nvSpPr>
          <p:cNvPr id="8" name="Text 6"/>
          <p:cNvSpPr/>
          <p:nvPr/>
        </p:nvSpPr>
        <p:spPr>
          <a:xfrm>
            <a:off x="502920" y="1389888"/>
            <a:ext cx="8046720" cy="786384"/>
          </a:xfrm>
          <a:prstGeom prst="rect">
            <a:avLst/>
          </a:prstGeom>
          <a:noFill/>
        </p:spPr>
        <p:txBody>
          <a:bodyPr wrap="square" lIns="0" tIns="0" rIns="0" bIns="0" rtlCol="0" anchor="t"/>
          <a:lstStyle/>
          <a:p>
            <a:pPr marL="0" indent="0">
              <a:buNone/>
            </a:pPr>
            <a:r>
              <a:rPr lang="en-US" sz="1300" dirty="0">
                <a:solidFill>
                  <a:srgbClr val="5E7E8E"/>
                </a:solidFill>
                <a:latin typeface="Calibri" pitchFamily="34" charset="0"/>
                <a:ea typeface="Calibri" pitchFamily="34" charset="-122"/>
                <a:cs typeface="Calibri" pitchFamily="34" charset="-120"/>
              </a:rPr>
              <a:t>spaCy detecta ORG, LOC y GPE. Un buscador de respaldo normaliza variantes no reconocidas ('el imss' → IMSS). Permite filtrar y comparar quejas por institución o región sin trabajo manual. Ejemplo: 'IMSS' (ORG), 'CDMX' (GPE), 'Monterrey' (LOC).</a:t>
            </a:r>
            <a:endParaRPr lang="en-US" sz="1300" dirty="0"/>
          </a:p>
        </p:txBody>
      </p:sp>
      <p:sp>
        <p:nvSpPr>
          <p:cNvPr id="9" name="Shape 7"/>
          <p:cNvSpPr/>
          <p:nvPr/>
        </p:nvSpPr>
        <p:spPr>
          <a:xfrm>
            <a:off x="320040" y="2377440"/>
            <a:ext cx="8503920" cy="1261872"/>
          </a:xfrm>
          <a:prstGeom prst="rect">
            <a:avLst/>
          </a:prstGeom>
          <a:solidFill>
            <a:srgbClr val="FFFFFF"/>
          </a:solidFill>
          <a:ln w="12700">
            <a:solidFill>
              <a:srgbClr val="D8E8F0"/>
            </a:solidFill>
            <a:prstDash val="solid"/>
          </a:ln>
          <a:effectLst>
            <a:outerShdw blurRad="50800" dist="25400" dir="8100000" algn="bl" rotWithShape="0">
              <a:srgbClr val="000000">
                <a:alpha val="7000"/>
              </a:srgbClr>
            </a:outerShdw>
          </a:effectLst>
        </p:spPr>
      </p:sp>
      <p:sp>
        <p:nvSpPr>
          <p:cNvPr id="10" name="Shape 8"/>
          <p:cNvSpPr/>
          <p:nvPr/>
        </p:nvSpPr>
        <p:spPr>
          <a:xfrm>
            <a:off x="320040" y="2377440"/>
            <a:ext cx="64008" cy="1261872"/>
          </a:xfrm>
          <a:prstGeom prst="rect">
            <a:avLst/>
          </a:prstGeom>
          <a:solidFill>
            <a:srgbClr val="4A90B8"/>
          </a:solidFill>
          <a:ln w="12700">
            <a:solidFill>
              <a:srgbClr val="4A90B8"/>
            </a:solidFill>
            <a:prstDash val="solid"/>
          </a:ln>
        </p:spPr>
      </p:sp>
      <p:sp>
        <p:nvSpPr>
          <p:cNvPr id="11" name="Text 9"/>
          <p:cNvSpPr/>
          <p:nvPr/>
        </p:nvSpPr>
        <p:spPr>
          <a:xfrm>
            <a:off x="502920" y="2468880"/>
            <a:ext cx="8138160" cy="320040"/>
          </a:xfrm>
          <a:prstGeom prst="rect">
            <a:avLst/>
          </a:prstGeom>
          <a:noFill/>
        </p:spPr>
        <p:txBody>
          <a:bodyPr wrap="square" lIns="0" tIns="0" rIns="0" bIns="0" rtlCol="0" anchor="ctr"/>
          <a:lstStyle/>
          <a:p>
            <a:pPr marL="0" indent="0">
              <a:buNone/>
            </a:pPr>
            <a:r>
              <a:rPr lang="en-US" sz="1400" b="1" dirty="0">
                <a:solidFill>
                  <a:srgbClr val="1A2E3B"/>
                </a:solidFill>
                <a:latin typeface="Trebuchet MS" pitchFamily="34" charset="0"/>
                <a:ea typeface="Trebuchet MS" pitchFamily="34" charset="-122"/>
                <a:cs typeface="Trebuchet MS" pitchFamily="34" charset="-120"/>
              </a:rPr>
              <a:t>Peso Reddit — Ponderación de Relevancia</a:t>
            </a:r>
            <a:endParaRPr lang="en-US" sz="1400" dirty="0"/>
          </a:p>
        </p:txBody>
      </p:sp>
      <p:sp>
        <p:nvSpPr>
          <p:cNvPr id="12" name="Text 10"/>
          <p:cNvSpPr/>
          <p:nvPr/>
        </p:nvSpPr>
        <p:spPr>
          <a:xfrm>
            <a:off x="502920" y="2761488"/>
            <a:ext cx="8046720" cy="786384"/>
          </a:xfrm>
          <a:prstGeom prst="rect">
            <a:avLst/>
          </a:prstGeom>
          <a:noFill/>
        </p:spPr>
        <p:txBody>
          <a:bodyPr wrap="square" lIns="0" tIns="0" rIns="0" bIns="0" rtlCol="0" anchor="t"/>
          <a:lstStyle/>
          <a:p>
            <a:pPr marL="0" indent="0">
              <a:buNone/>
            </a:pPr>
            <a:r>
              <a:rPr lang="en-US" sz="1300" dirty="0">
                <a:solidFill>
                  <a:srgbClr val="5E7E8E"/>
                </a:solidFill>
                <a:latin typeface="Calibri" pitchFamily="34" charset="0"/>
                <a:ea typeface="Calibri" pitchFamily="34" charset="-122"/>
                <a:cs typeface="Calibri" pitchFamily="34" charset="-120"/>
              </a:rPr>
              <a:t>Los comentarios muy votados expresan opinión validada por la comunidad. Fórmula: log1p(score_comentario)×0.7 + log1p(score_post)×0.3 × penalización por profundidad. 70% del peso del comentario + 30% del post padre. Permite dar más influencia a esas filas en TF-IDF.</a:t>
            </a:r>
            <a:endParaRPr lang="en-US" sz="1300" dirty="0"/>
          </a:p>
        </p:txBody>
      </p:sp>
      <p:sp>
        <p:nvSpPr>
          <p:cNvPr id="13" name="Shape 11"/>
          <p:cNvSpPr/>
          <p:nvPr/>
        </p:nvSpPr>
        <p:spPr>
          <a:xfrm>
            <a:off x="320040" y="3749040"/>
            <a:ext cx="8503920" cy="1261872"/>
          </a:xfrm>
          <a:prstGeom prst="rect">
            <a:avLst/>
          </a:prstGeom>
          <a:solidFill>
            <a:srgbClr val="FFFFFF"/>
          </a:solidFill>
          <a:ln w="12700">
            <a:solidFill>
              <a:srgbClr val="D8E8F0"/>
            </a:solidFill>
            <a:prstDash val="solid"/>
          </a:ln>
          <a:effectLst>
            <a:outerShdw blurRad="50800" dist="25400" dir="8100000" algn="bl" rotWithShape="0">
              <a:srgbClr val="000000">
                <a:alpha val="7000"/>
              </a:srgbClr>
            </a:outerShdw>
          </a:effectLst>
        </p:spPr>
      </p:sp>
      <p:sp>
        <p:nvSpPr>
          <p:cNvPr id="14" name="Shape 12"/>
          <p:cNvSpPr/>
          <p:nvPr/>
        </p:nvSpPr>
        <p:spPr>
          <a:xfrm>
            <a:off x="320040" y="3749040"/>
            <a:ext cx="64008" cy="1261872"/>
          </a:xfrm>
          <a:prstGeom prst="rect">
            <a:avLst/>
          </a:prstGeom>
          <a:solidFill>
            <a:srgbClr val="4A90B8"/>
          </a:solidFill>
          <a:ln w="12700">
            <a:solidFill>
              <a:srgbClr val="4A90B8"/>
            </a:solidFill>
            <a:prstDash val="solid"/>
          </a:ln>
        </p:spPr>
      </p:sp>
      <p:sp>
        <p:nvSpPr>
          <p:cNvPr id="15" name="Text 13"/>
          <p:cNvSpPr/>
          <p:nvPr/>
        </p:nvSpPr>
        <p:spPr>
          <a:xfrm>
            <a:off x="502920" y="3840480"/>
            <a:ext cx="8138160" cy="320040"/>
          </a:xfrm>
          <a:prstGeom prst="rect">
            <a:avLst/>
          </a:prstGeom>
          <a:noFill/>
        </p:spPr>
        <p:txBody>
          <a:bodyPr wrap="square" lIns="0" tIns="0" rIns="0" bIns="0" rtlCol="0" anchor="ctr"/>
          <a:lstStyle/>
          <a:p>
            <a:pPr marL="0" indent="0">
              <a:buNone/>
            </a:pPr>
            <a:r>
              <a:rPr lang="en-US" sz="1400" b="1" dirty="0">
                <a:solidFill>
                  <a:srgbClr val="1A2E3B"/>
                </a:solidFill>
                <a:latin typeface="Trebuchet MS" pitchFamily="34" charset="0"/>
                <a:ea typeface="Trebuchet MS" pitchFamily="34" charset="-122"/>
                <a:cs typeface="Trebuchet MS" pitchFamily="34" charset="-120"/>
              </a:rPr>
              <a:t>Campos Añadidos por Registro</a:t>
            </a:r>
            <a:endParaRPr lang="en-US" sz="1400" dirty="0"/>
          </a:p>
        </p:txBody>
      </p:sp>
      <p:sp>
        <p:nvSpPr>
          <p:cNvPr id="16" name="Text 14"/>
          <p:cNvSpPr/>
          <p:nvPr/>
        </p:nvSpPr>
        <p:spPr>
          <a:xfrm>
            <a:off x="502920" y="4133088"/>
            <a:ext cx="8046720" cy="786384"/>
          </a:xfrm>
          <a:prstGeom prst="rect">
            <a:avLst/>
          </a:prstGeom>
          <a:noFill/>
        </p:spPr>
        <p:txBody>
          <a:bodyPr wrap="square" lIns="0" tIns="0" rIns="0" bIns="0" rtlCol="0" anchor="t"/>
          <a:lstStyle/>
          <a:p>
            <a:pPr marL="0" indent="0">
              <a:buNone/>
            </a:pPr>
            <a:r>
              <a:rPr lang="en-US" sz="1300" dirty="0">
                <a:solidFill>
                  <a:srgbClr val="5E7E8E"/>
                </a:solidFill>
                <a:latin typeface="Calibri" pitchFamily="34" charset="0"/>
                <a:ea typeface="Calibri" pitchFamily="34" charset="-122"/>
                <a:cs typeface="Calibri" pitchFamily="34" charset="-120"/>
              </a:rPr>
              <a:t>tokens: lista de tokens finales. texto_normalizado: string listo para vectorizar. ratio_reduccion: 35–55% típico (87 → 31 tokens). entidades_ner: {instituciones, lugares}. peso_reddit: valor numérico. Usos: TF-IDF/BoW, FastText/Word2Vec, análisis geoespacial y comparativa IMSS vs ISSSTE.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21B2E"/>
        </a:solidFill>
        <a:effectLst/>
      </p:bgPr>
    </p:bg>
    <p:spTree>
      <p:nvGrpSpPr>
        <p:cNvPr id="1" name=""/>
        <p:cNvGrpSpPr/>
        <p:nvPr/>
      </p:nvGrpSpPr>
      <p:grpSpPr>
        <a:xfrm>
          <a:off x="0" y="0"/>
          <a:ext cx="0" cy="0"/>
          <a:chOff x="0" y="0"/>
          <a:chExt cx="0" cy="0"/>
        </a:xfrm>
      </p:grpSpPr>
      <p:sp>
        <p:nvSpPr>
          <p:cNvPr id="2" name="Text 0"/>
          <p:cNvSpPr/>
          <p:nvPr/>
        </p:nvSpPr>
        <p:spPr>
          <a:xfrm>
            <a:off x="5669280" y="182880"/>
            <a:ext cx="3291840" cy="4114800"/>
          </a:xfrm>
          <a:prstGeom prst="rect">
            <a:avLst/>
          </a:prstGeom>
          <a:noFill/>
        </p:spPr>
        <p:txBody>
          <a:bodyPr wrap="square" rtlCol="0" anchor="b"/>
          <a:lstStyle/>
          <a:p>
            <a:pPr marL="0" indent="0" algn="r">
              <a:buNone/>
            </a:pPr>
            <a:r>
              <a:rPr lang="en-US" sz="13000" b="1" dirty="0">
                <a:solidFill>
                  <a:srgbClr val="065A82">
                    <a:alpha val="40000"/>
                  </a:srgbClr>
                </a:solidFill>
                <a:latin typeface="Arial Black" pitchFamily="34" charset="0"/>
                <a:ea typeface="Arial Black" pitchFamily="34" charset="-122"/>
                <a:cs typeface="Arial Black" pitchFamily="34" charset="-120"/>
              </a:rPr>
              <a:t>05</a:t>
            </a:r>
            <a:endParaRPr lang="en-US" sz="13000" dirty="0"/>
          </a:p>
        </p:txBody>
      </p:sp>
      <p:sp>
        <p:nvSpPr>
          <p:cNvPr id="3" name="Shape 1"/>
          <p:cNvSpPr/>
          <p:nvPr/>
        </p:nvSpPr>
        <p:spPr>
          <a:xfrm>
            <a:off x="0" y="0"/>
            <a:ext cx="9144000" cy="109728"/>
          </a:xfrm>
          <a:prstGeom prst="rect">
            <a:avLst/>
          </a:prstGeom>
          <a:solidFill>
            <a:srgbClr val="7EB8D0"/>
          </a:solidFill>
          <a:ln w="12700">
            <a:solidFill>
              <a:srgbClr val="7EB8D0"/>
            </a:solidFill>
            <a:prstDash val="solid"/>
          </a:ln>
        </p:spPr>
      </p:sp>
      <p:sp>
        <p:nvSpPr>
          <p:cNvPr id="4" name="Shape 2"/>
          <p:cNvSpPr/>
          <p:nvPr/>
        </p:nvSpPr>
        <p:spPr>
          <a:xfrm>
            <a:off x="457200" y="411480"/>
            <a:ext cx="1737360" cy="347472"/>
          </a:xfrm>
          <a:prstGeom prst="rect">
            <a:avLst/>
          </a:prstGeom>
          <a:solidFill>
            <a:srgbClr val="7EB8D0"/>
          </a:solidFill>
          <a:ln w="12700">
            <a:solidFill>
              <a:srgbClr val="7EB8D0"/>
            </a:solidFill>
            <a:prstDash val="solid"/>
          </a:ln>
        </p:spPr>
      </p:sp>
      <p:sp>
        <p:nvSpPr>
          <p:cNvPr id="5" name="Text 3"/>
          <p:cNvSpPr/>
          <p:nvPr/>
        </p:nvSpPr>
        <p:spPr>
          <a:xfrm>
            <a:off x="457200" y="411480"/>
            <a:ext cx="1737360" cy="347472"/>
          </a:xfrm>
          <a:prstGeom prst="rect">
            <a:avLst/>
          </a:prstGeom>
          <a:noFill/>
        </p:spPr>
        <p:txBody>
          <a:bodyPr wrap="square" lIns="0" tIns="0" rIns="0" bIns="0" rtlCol="0" anchor="ctr"/>
          <a:lstStyle/>
          <a:p>
            <a:pPr marL="0" indent="0" algn="ctr">
              <a:buNone/>
            </a:pPr>
            <a:r>
              <a:rPr lang="en-US" sz="1100" b="1" dirty="0">
                <a:solidFill>
                  <a:srgbClr val="021B2E"/>
                </a:solidFill>
                <a:latin typeface="Calibri" pitchFamily="34" charset="0"/>
                <a:ea typeface="Calibri" pitchFamily="34" charset="-122"/>
                <a:cs typeface="Calibri" pitchFamily="34" charset="-120"/>
              </a:rPr>
              <a:t>MÓDULO 5</a:t>
            </a:r>
            <a:endParaRPr lang="en-US" sz="1100" dirty="0"/>
          </a:p>
        </p:txBody>
      </p:sp>
      <p:sp>
        <p:nvSpPr>
          <p:cNvPr id="6" name="Text 4"/>
          <p:cNvSpPr/>
          <p:nvPr/>
        </p:nvSpPr>
        <p:spPr>
          <a:xfrm>
            <a:off x="457200" y="960120"/>
            <a:ext cx="7772400" cy="1371600"/>
          </a:xfrm>
          <a:prstGeom prst="rect">
            <a:avLst/>
          </a:prstGeom>
          <a:noFill/>
        </p:spPr>
        <p:txBody>
          <a:bodyPr wrap="square" rtlCol="0" anchor="ctr"/>
          <a:lstStyle/>
          <a:p>
            <a:pPr marL="0" indent="0">
              <a:buNone/>
            </a:pPr>
            <a:r>
              <a:rPr lang="en-US" sz="3800" b="1" dirty="0">
                <a:solidFill>
                  <a:srgbClr val="FFFFFF"/>
                </a:solidFill>
                <a:latin typeface="Trebuchet MS" pitchFamily="34" charset="0"/>
                <a:ea typeface="Trebuchet MS" pitchFamily="34" charset="-122"/>
                <a:cs typeface="Trebuchet MS" pitchFamily="34" charset="-120"/>
              </a:rPr>
              <a:t>Auto-Etiquetador BERT</a:t>
            </a:r>
            <a:endParaRPr lang="en-US" sz="3800" dirty="0"/>
          </a:p>
        </p:txBody>
      </p:sp>
      <p:sp>
        <p:nvSpPr>
          <p:cNvPr id="7" name="Text 5"/>
          <p:cNvSpPr/>
          <p:nvPr/>
        </p:nvSpPr>
        <p:spPr>
          <a:xfrm>
            <a:off x="457200" y="2468880"/>
            <a:ext cx="5943600" cy="640080"/>
          </a:xfrm>
          <a:prstGeom prst="rect">
            <a:avLst/>
          </a:prstGeom>
          <a:noFill/>
        </p:spPr>
        <p:txBody>
          <a:bodyPr wrap="square" rtlCol="0" anchor="ctr"/>
          <a:lstStyle/>
          <a:p>
            <a:pPr marL="0" indent="0">
              <a:buNone/>
            </a:pPr>
            <a:r>
              <a:rPr lang="en-US" sz="1600" i="1" dirty="0">
                <a:solidFill>
                  <a:srgbClr val="8CB8CC"/>
                </a:solidFill>
                <a:latin typeface="Calibri" pitchFamily="34" charset="0"/>
                <a:ea typeface="Calibri" pitchFamily="34" charset="-122"/>
                <a:cs typeface="Calibri" pitchFamily="34" charset="-120"/>
              </a:rPr>
              <a:t>Sentimiento con robertuito + lógica híbrida de relevancia y trazabilidad</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65A82"/>
          </a:solidFill>
          <a:ln w="12700">
            <a:solidFill>
              <a:srgbClr val="065A82"/>
            </a:solidFill>
            <a:prstDash val="solid"/>
          </a:ln>
        </p:spPr>
      </p:sp>
      <p:sp>
        <p:nvSpPr>
          <p:cNvPr id="3" name="Shape 1"/>
          <p:cNvSpPr/>
          <p:nvPr/>
        </p:nvSpPr>
        <p:spPr>
          <a:xfrm>
            <a:off x="0" y="749808"/>
            <a:ext cx="9144000" cy="54864"/>
          </a:xfrm>
          <a:prstGeom prst="rect">
            <a:avLst/>
          </a:prstGeom>
          <a:solidFill>
            <a:srgbClr val="7EB8D0"/>
          </a:solidFill>
          <a:ln w="12700">
            <a:solidFill>
              <a:srgbClr val="7EB8D0"/>
            </a:solidFill>
            <a:prstDash val="solid"/>
          </a:ln>
        </p:spPr>
      </p:sp>
      <p:sp>
        <p:nvSpPr>
          <p:cNvPr id="4" name="Text 2"/>
          <p:cNvSpPr/>
          <p:nvPr/>
        </p:nvSpPr>
        <p:spPr>
          <a:xfrm>
            <a:off x="320040" y="0"/>
            <a:ext cx="8503920" cy="749808"/>
          </a:xfrm>
          <a:prstGeom prst="rect">
            <a:avLst/>
          </a:prstGeom>
          <a:noFill/>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Auto-Etiquetador — Modelo y Lógica Híbrida</a:t>
            </a:r>
            <a:endParaRPr lang="en-US" sz="2200" dirty="0"/>
          </a:p>
        </p:txBody>
      </p:sp>
      <p:sp>
        <p:nvSpPr>
          <p:cNvPr id="5" name="Shape 3"/>
          <p:cNvSpPr/>
          <p:nvPr/>
        </p:nvSpPr>
        <p:spPr>
          <a:xfrm>
            <a:off x="320040" y="1005840"/>
            <a:ext cx="8503920" cy="1261872"/>
          </a:xfrm>
          <a:prstGeom prst="rect">
            <a:avLst/>
          </a:prstGeom>
          <a:solidFill>
            <a:srgbClr val="FFFFFF"/>
          </a:solidFill>
          <a:ln w="12700">
            <a:solidFill>
              <a:srgbClr val="D8E8F0"/>
            </a:solidFill>
            <a:prstDash val="solid"/>
          </a:ln>
          <a:effectLst>
            <a:outerShdw blurRad="50800" dist="25400" dir="8100000" algn="bl" rotWithShape="0">
              <a:srgbClr val="000000">
                <a:alpha val="7000"/>
              </a:srgbClr>
            </a:outerShdw>
          </a:effectLst>
        </p:spPr>
      </p:sp>
      <p:sp>
        <p:nvSpPr>
          <p:cNvPr id="6" name="Shape 4"/>
          <p:cNvSpPr/>
          <p:nvPr/>
        </p:nvSpPr>
        <p:spPr>
          <a:xfrm>
            <a:off x="320040" y="1005840"/>
            <a:ext cx="64008" cy="1261872"/>
          </a:xfrm>
          <a:prstGeom prst="rect">
            <a:avLst/>
          </a:prstGeom>
          <a:solidFill>
            <a:srgbClr val="7EB8D0"/>
          </a:solidFill>
          <a:ln w="12700">
            <a:solidFill>
              <a:srgbClr val="7EB8D0"/>
            </a:solidFill>
            <a:prstDash val="solid"/>
          </a:ln>
        </p:spPr>
      </p:sp>
      <p:sp>
        <p:nvSpPr>
          <p:cNvPr id="7" name="Text 5"/>
          <p:cNvSpPr/>
          <p:nvPr/>
        </p:nvSpPr>
        <p:spPr>
          <a:xfrm>
            <a:off x="502920" y="1097280"/>
            <a:ext cx="8138160" cy="320040"/>
          </a:xfrm>
          <a:prstGeom prst="rect">
            <a:avLst/>
          </a:prstGeom>
          <a:noFill/>
        </p:spPr>
        <p:txBody>
          <a:bodyPr wrap="square" lIns="0" tIns="0" rIns="0" bIns="0" rtlCol="0" anchor="ctr"/>
          <a:lstStyle/>
          <a:p>
            <a:pPr marL="0" indent="0">
              <a:buNone/>
            </a:pPr>
            <a:r>
              <a:rPr lang="en-US" sz="1400" b="1" dirty="0">
                <a:solidFill>
                  <a:srgbClr val="1A2E3B"/>
                </a:solidFill>
                <a:latin typeface="Trebuchet MS" pitchFamily="34" charset="0"/>
                <a:ea typeface="Trebuchet MS" pitchFamily="34" charset="-122"/>
                <a:cs typeface="Trebuchet MS" pitchFamily="34" charset="-120"/>
              </a:rPr>
              <a:t>Modelo: robertuito-sentiment-analysis</a:t>
            </a:r>
            <a:endParaRPr lang="en-US" sz="1400" dirty="0"/>
          </a:p>
        </p:txBody>
      </p:sp>
      <p:sp>
        <p:nvSpPr>
          <p:cNvPr id="8" name="Text 6"/>
          <p:cNvSpPr/>
          <p:nvPr/>
        </p:nvSpPr>
        <p:spPr>
          <a:xfrm>
            <a:off x="502920" y="1389888"/>
            <a:ext cx="8046720" cy="786384"/>
          </a:xfrm>
          <a:prstGeom prst="rect">
            <a:avLst/>
          </a:prstGeom>
          <a:noFill/>
        </p:spPr>
        <p:txBody>
          <a:bodyPr wrap="square" lIns="0" tIns="0" rIns="0" bIns="0" rtlCol="0" anchor="t"/>
          <a:lstStyle/>
          <a:p>
            <a:pPr marL="0" indent="0">
              <a:buNone/>
            </a:pPr>
            <a:r>
              <a:rPr lang="en-US" sz="1300" dirty="0">
                <a:solidFill>
                  <a:srgbClr val="5E7E8E"/>
                </a:solidFill>
                <a:latin typeface="Calibri" pitchFamily="34" charset="0"/>
                <a:ea typeface="Calibri" pitchFamily="34" charset="-122"/>
                <a:cs typeface="Calibri" pitchFamily="34" charset="-120"/>
              </a:rPr>
              <a:t>RoBERTa especializado en español coloquial, entrenado en ~60M tweets (AR, MX, ES). Reconoce jerga mexicana: wey, chido, neta, emojis y siglas. Clases: POS/NEG/NEU con probabilidades calibradas. 512 tokens máx — suficiente para comentarios Reddit. Usa comentario original (con emojis y ¡!) para BERT; el texto normalizado queda para TF-IDF.</a:t>
            </a:r>
            <a:endParaRPr lang="en-US" sz="1300" dirty="0"/>
          </a:p>
        </p:txBody>
      </p:sp>
      <p:sp>
        <p:nvSpPr>
          <p:cNvPr id="9" name="Shape 7"/>
          <p:cNvSpPr/>
          <p:nvPr/>
        </p:nvSpPr>
        <p:spPr>
          <a:xfrm>
            <a:off x="320040" y="2377440"/>
            <a:ext cx="8503920" cy="1261872"/>
          </a:xfrm>
          <a:prstGeom prst="rect">
            <a:avLst/>
          </a:prstGeom>
          <a:solidFill>
            <a:srgbClr val="FFFFFF"/>
          </a:solidFill>
          <a:ln w="12700">
            <a:solidFill>
              <a:srgbClr val="D8E8F0"/>
            </a:solidFill>
            <a:prstDash val="solid"/>
          </a:ln>
          <a:effectLst>
            <a:outerShdw blurRad="50800" dist="25400" dir="8100000" algn="bl" rotWithShape="0">
              <a:srgbClr val="000000">
                <a:alpha val="7000"/>
              </a:srgbClr>
            </a:outerShdw>
          </a:effectLst>
        </p:spPr>
      </p:sp>
      <p:sp>
        <p:nvSpPr>
          <p:cNvPr id="10" name="Shape 8"/>
          <p:cNvSpPr/>
          <p:nvPr/>
        </p:nvSpPr>
        <p:spPr>
          <a:xfrm>
            <a:off x="320040" y="2377440"/>
            <a:ext cx="64008" cy="1261872"/>
          </a:xfrm>
          <a:prstGeom prst="rect">
            <a:avLst/>
          </a:prstGeom>
          <a:solidFill>
            <a:srgbClr val="7EB8D0"/>
          </a:solidFill>
          <a:ln w="12700">
            <a:solidFill>
              <a:srgbClr val="7EB8D0"/>
            </a:solidFill>
            <a:prstDash val="solid"/>
          </a:ln>
        </p:spPr>
      </p:sp>
      <p:sp>
        <p:nvSpPr>
          <p:cNvPr id="11" name="Text 9"/>
          <p:cNvSpPr/>
          <p:nvPr/>
        </p:nvSpPr>
        <p:spPr>
          <a:xfrm>
            <a:off x="502920" y="2468880"/>
            <a:ext cx="8138160" cy="320040"/>
          </a:xfrm>
          <a:prstGeom prst="rect">
            <a:avLst/>
          </a:prstGeom>
          <a:noFill/>
        </p:spPr>
        <p:txBody>
          <a:bodyPr wrap="square" lIns="0" tIns="0" rIns="0" bIns="0" rtlCol="0" anchor="ctr"/>
          <a:lstStyle/>
          <a:p>
            <a:pPr marL="0" indent="0">
              <a:buNone/>
            </a:pPr>
            <a:r>
              <a:rPr lang="en-US" sz="1400" b="1" dirty="0">
                <a:solidFill>
                  <a:srgbClr val="1A2E3B"/>
                </a:solidFill>
                <a:latin typeface="Trebuchet MS" pitchFamily="34" charset="0"/>
                <a:ea typeface="Trebuchet MS" pitchFamily="34" charset="-122"/>
                <a:cs typeface="Trebuchet MS" pitchFamily="34" charset="-120"/>
              </a:rPr>
              <a:t>Lógica Híbrida — 4 Reglas en Cascada</a:t>
            </a:r>
            <a:endParaRPr lang="en-US" sz="1400" dirty="0"/>
          </a:p>
        </p:txBody>
      </p:sp>
      <p:sp>
        <p:nvSpPr>
          <p:cNvPr id="12" name="Text 10"/>
          <p:cNvSpPr/>
          <p:nvPr/>
        </p:nvSpPr>
        <p:spPr>
          <a:xfrm>
            <a:off x="502920" y="2761488"/>
            <a:ext cx="8046720" cy="786384"/>
          </a:xfrm>
          <a:prstGeom prst="rect">
            <a:avLst/>
          </a:prstGeom>
          <a:noFill/>
        </p:spPr>
        <p:txBody>
          <a:bodyPr wrap="square" lIns="0" tIns="0" rIns="0" bIns="0" rtlCol="0" anchor="t"/>
          <a:lstStyle/>
          <a:p>
            <a:pPr marL="0" indent="0">
              <a:buNone/>
            </a:pPr>
            <a:r>
              <a:rPr lang="en-US" sz="1300" dirty="0">
                <a:solidFill>
                  <a:srgbClr val="5E7E8E"/>
                </a:solidFill>
                <a:latin typeface="Calibri" pitchFamily="34" charset="0"/>
                <a:ea typeface="Calibri" pitchFamily="34" charset="-122"/>
                <a:cs typeface="Calibri" pitchFamily="34" charset="-120"/>
              </a:rPr>
              <a:t>Regla 0: token de vacunación informativa → forzar 'media' (evita falsos positivos). Regla 1: POS o NEU → asignar 'media' automáticamente. Regla 2: NEG + score_queja ≥ 1.5 (término sistémico presente) → asignar 'alta'. Regla 3: NEG + score_queja &lt; 1.5 → marcar bert_ambiguo para revisión manual.</a:t>
            </a:r>
            <a:endParaRPr lang="en-US" sz="1300" dirty="0"/>
          </a:p>
        </p:txBody>
      </p:sp>
      <p:sp>
        <p:nvSpPr>
          <p:cNvPr id="13" name="Shape 11"/>
          <p:cNvSpPr/>
          <p:nvPr/>
        </p:nvSpPr>
        <p:spPr>
          <a:xfrm>
            <a:off x="320040" y="3749040"/>
            <a:ext cx="8503920" cy="1261872"/>
          </a:xfrm>
          <a:prstGeom prst="rect">
            <a:avLst/>
          </a:prstGeom>
          <a:solidFill>
            <a:srgbClr val="FFFFFF"/>
          </a:solidFill>
          <a:ln w="12700">
            <a:solidFill>
              <a:srgbClr val="D8E8F0"/>
            </a:solidFill>
            <a:prstDash val="solid"/>
          </a:ln>
          <a:effectLst>
            <a:outerShdw blurRad="50800" dist="25400" dir="8100000" algn="bl" rotWithShape="0">
              <a:srgbClr val="000000">
                <a:alpha val="7000"/>
              </a:srgbClr>
            </a:outerShdw>
          </a:effectLst>
        </p:spPr>
      </p:sp>
      <p:sp>
        <p:nvSpPr>
          <p:cNvPr id="14" name="Shape 12"/>
          <p:cNvSpPr/>
          <p:nvPr/>
        </p:nvSpPr>
        <p:spPr>
          <a:xfrm>
            <a:off x="320040" y="3749040"/>
            <a:ext cx="64008" cy="1261872"/>
          </a:xfrm>
          <a:prstGeom prst="rect">
            <a:avLst/>
          </a:prstGeom>
          <a:solidFill>
            <a:srgbClr val="7EB8D0"/>
          </a:solidFill>
          <a:ln w="12700">
            <a:solidFill>
              <a:srgbClr val="7EB8D0"/>
            </a:solidFill>
            <a:prstDash val="solid"/>
          </a:ln>
        </p:spPr>
      </p:sp>
      <p:sp>
        <p:nvSpPr>
          <p:cNvPr id="15" name="Text 13"/>
          <p:cNvSpPr/>
          <p:nvPr/>
        </p:nvSpPr>
        <p:spPr>
          <a:xfrm>
            <a:off x="502920" y="3840480"/>
            <a:ext cx="8138160" cy="320040"/>
          </a:xfrm>
          <a:prstGeom prst="rect">
            <a:avLst/>
          </a:prstGeom>
          <a:noFill/>
        </p:spPr>
        <p:txBody>
          <a:bodyPr wrap="square" lIns="0" tIns="0" rIns="0" bIns="0" rtlCol="0" anchor="ctr"/>
          <a:lstStyle/>
          <a:p>
            <a:pPr marL="0" indent="0">
              <a:buNone/>
            </a:pPr>
            <a:r>
              <a:rPr lang="en-US" sz="1400" b="1" dirty="0">
                <a:solidFill>
                  <a:srgbClr val="1A2E3B"/>
                </a:solidFill>
                <a:latin typeface="Trebuchet MS" pitchFamily="34" charset="0"/>
                <a:ea typeface="Trebuchet MS" pitchFamily="34" charset="-122"/>
                <a:cs typeface="Trebuchet MS" pitchFamily="34" charset="-120"/>
              </a:rPr>
              <a:t>Score de Queja Sistémica</a:t>
            </a:r>
            <a:endParaRPr lang="en-US" sz="1400" dirty="0"/>
          </a:p>
        </p:txBody>
      </p:sp>
      <p:sp>
        <p:nvSpPr>
          <p:cNvPr id="16" name="Text 14"/>
          <p:cNvSpPr/>
          <p:nvPr/>
        </p:nvSpPr>
        <p:spPr>
          <a:xfrm>
            <a:off x="502920" y="4133088"/>
            <a:ext cx="8046720" cy="786384"/>
          </a:xfrm>
          <a:prstGeom prst="rect">
            <a:avLst/>
          </a:prstGeom>
          <a:noFill/>
        </p:spPr>
        <p:txBody>
          <a:bodyPr wrap="square" lIns="0" tIns="0" rIns="0" bIns="0" rtlCol="0" anchor="t"/>
          <a:lstStyle/>
          <a:p>
            <a:pPr marL="0" indent="0">
              <a:buNone/>
            </a:pPr>
            <a:r>
              <a:rPr lang="en-US" sz="1300" dirty="0">
                <a:solidFill>
                  <a:srgbClr val="5E7E8E"/>
                </a:solidFill>
                <a:latin typeface="Calibri" pitchFamily="34" charset="0"/>
                <a:ea typeface="Calibri" pitchFamily="34" charset="-122"/>
                <a:cs typeface="Calibri" pitchFamily="34" charset="-120"/>
              </a:rPr>
              <a:t>Suma 1.5 por cada término del mini-lexicon en texto_normalizado: Desabasto (desabasto, no_hay_medicamento, escasez), Burocracia (viacrucis, vuelta_y_vuelta), Pago privado (de_mi_bolsillo, tuve_que_pagar), Rechazo (no_me_atendieron, saturado), Impacto clínico (fallecer, uci, intubado), Corrupción (mordida, moche).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65A82"/>
          </a:solidFill>
          <a:ln w="12700">
            <a:solidFill>
              <a:srgbClr val="065A82"/>
            </a:solidFill>
            <a:prstDash val="solid"/>
          </a:ln>
        </p:spPr>
      </p:sp>
      <p:sp>
        <p:nvSpPr>
          <p:cNvPr id="3" name="Shape 1"/>
          <p:cNvSpPr/>
          <p:nvPr/>
        </p:nvSpPr>
        <p:spPr>
          <a:xfrm>
            <a:off x="0" y="749808"/>
            <a:ext cx="9144000" cy="54864"/>
          </a:xfrm>
          <a:prstGeom prst="rect">
            <a:avLst/>
          </a:prstGeom>
          <a:solidFill>
            <a:srgbClr val="7EB8D0"/>
          </a:solidFill>
          <a:ln w="12700">
            <a:solidFill>
              <a:srgbClr val="7EB8D0"/>
            </a:solidFill>
            <a:prstDash val="solid"/>
          </a:ln>
        </p:spPr>
      </p:sp>
      <p:sp>
        <p:nvSpPr>
          <p:cNvPr id="4" name="Text 2"/>
          <p:cNvSpPr/>
          <p:nvPr/>
        </p:nvSpPr>
        <p:spPr>
          <a:xfrm>
            <a:off x="320040" y="0"/>
            <a:ext cx="8503920" cy="749808"/>
          </a:xfrm>
          <a:prstGeom prst="rect">
            <a:avLst/>
          </a:prstGeom>
          <a:noFill/>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Auto-Etiquetador — Revisión Manual y Trazabilidad</a:t>
            </a:r>
            <a:endParaRPr lang="en-US" sz="2200" dirty="0"/>
          </a:p>
        </p:txBody>
      </p:sp>
      <p:sp>
        <p:nvSpPr>
          <p:cNvPr id="5" name="Shape 3"/>
          <p:cNvSpPr/>
          <p:nvPr/>
        </p:nvSpPr>
        <p:spPr>
          <a:xfrm>
            <a:off x="320040" y="1005840"/>
            <a:ext cx="8503920" cy="1261872"/>
          </a:xfrm>
          <a:prstGeom prst="rect">
            <a:avLst/>
          </a:prstGeom>
          <a:solidFill>
            <a:srgbClr val="FFFFFF"/>
          </a:solidFill>
          <a:ln w="12700">
            <a:solidFill>
              <a:srgbClr val="D8E8F0"/>
            </a:solidFill>
            <a:prstDash val="solid"/>
          </a:ln>
          <a:effectLst>
            <a:outerShdw blurRad="50800" dist="25400" dir="8100000" algn="bl" rotWithShape="0">
              <a:srgbClr val="000000">
                <a:alpha val="7000"/>
              </a:srgbClr>
            </a:outerShdw>
          </a:effectLst>
        </p:spPr>
      </p:sp>
      <p:sp>
        <p:nvSpPr>
          <p:cNvPr id="6" name="Shape 4"/>
          <p:cNvSpPr/>
          <p:nvPr/>
        </p:nvSpPr>
        <p:spPr>
          <a:xfrm>
            <a:off x="320040" y="1005840"/>
            <a:ext cx="64008" cy="1261872"/>
          </a:xfrm>
          <a:prstGeom prst="rect">
            <a:avLst/>
          </a:prstGeom>
          <a:solidFill>
            <a:srgbClr val="7EB8D0"/>
          </a:solidFill>
          <a:ln w="12700">
            <a:solidFill>
              <a:srgbClr val="7EB8D0"/>
            </a:solidFill>
            <a:prstDash val="solid"/>
          </a:ln>
        </p:spPr>
      </p:sp>
      <p:sp>
        <p:nvSpPr>
          <p:cNvPr id="7" name="Text 5"/>
          <p:cNvSpPr/>
          <p:nvPr/>
        </p:nvSpPr>
        <p:spPr>
          <a:xfrm>
            <a:off x="502920" y="1097280"/>
            <a:ext cx="8138160" cy="320040"/>
          </a:xfrm>
          <a:prstGeom prst="rect">
            <a:avLst/>
          </a:prstGeom>
          <a:noFill/>
        </p:spPr>
        <p:txBody>
          <a:bodyPr wrap="square" lIns="0" tIns="0" rIns="0" bIns="0" rtlCol="0" anchor="ctr"/>
          <a:lstStyle/>
          <a:p>
            <a:pPr marL="0" indent="0">
              <a:buNone/>
            </a:pPr>
            <a:r>
              <a:rPr lang="en-US" sz="1400" b="1" dirty="0">
                <a:solidFill>
                  <a:srgbClr val="1A2E3B"/>
                </a:solidFill>
                <a:latin typeface="Trebuchet MS" pitchFamily="34" charset="0"/>
                <a:ea typeface="Trebuchet MS" pitchFamily="34" charset="-122"/>
                <a:cs typeface="Trebuchet MS" pitchFamily="34" charset="-120"/>
              </a:rPr>
              <a:t>Revisión Manual Interactiva (casos bert_ambiguo)</a:t>
            </a:r>
            <a:endParaRPr lang="en-US" sz="1400" dirty="0"/>
          </a:p>
        </p:txBody>
      </p:sp>
      <p:sp>
        <p:nvSpPr>
          <p:cNvPr id="8" name="Text 6"/>
          <p:cNvSpPr/>
          <p:nvPr/>
        </p:nvSpPr>
        <p:spPr>
          <a:xfrm>
            <a:off x="502920" y="1389888"/>
            <a:ext cx="8046720" cy="786384"/>
          </a:xfrm>
          <a:prstGeom prst="rect">
            <a:avLst/>
          </a:prstGeom>
          <a:noFill/>
        </p:spPr>
        <p:txBody>
          <a:bodyPr wrap="square" lIns="0" tIns="0" rIns="0" bIns="0" rtlCol="0" anchor="t"/>
          <a:lstStyle/>
          <a:p>
            <a:pPr marL="0" indent="0">
              <a:buNone/>
            </a:pPr>
            <a:r>
              <a:rPr lang="en-US" sz="1300" dirty="0">
                <a:solidFill>
                  <a:srgbClr val="5E7E8E"/>
                </a:solidFill>
                <a:latin typeface="Calibri" pitchFamily="34" charset="0"/>
                <a:ea typeface="Calibri" pitchFamily="34" charset="-122"/>
                <a:cs typeface="Calibri" pitchFamily="34" charset="-120"/>
              </a:rPr>
              <a:t>Los casos NEG sin señal sistémica suficiente se presentan uno a uno en consola con: texto original, probabilidades BERT y score de queja. El investigador elige [a] alta / [m] media / [s] saltar / [q] terminar sesión. Máx 400 casos en cola; tiempo estimado 30–60 min para ~300 casos. Los no revisados se exportan en cola_revision_*.json.</a:t>
            </a:r>
            <a:endParaRPr lang="en-US" sz="1300" dirty="0"/>
          </a:p>
        </p:txBody>
      </p:sp>
      <p:sp>
        <p:nvSpPr>
          <p:cNvPr id="9" name="Shape 7"/>
          <p:cNvSpPr/>
          <p:nvPr/>
        </p:nvSpPr>
        <p:spPr>
          <a:xfrm>
            <a:off x="320040" y="2377440"/>
            <a:ext cx="8503920" cy="1261872"/>
          </a:xfrm>
          <a:prstGeom prst="rect">
            <a:avLst/>
          </a:prstGeom>
          <a:solidFill>
            <a:srgbClr val="FFFFFF"/>
          </a:solidFill>
          <a:ln w="12700">
            <a:solidFill>
              <a:srgbClr val="D8E8F0"/>
            </a:solidFill>
            <a:prstDash val="solid"/>
          </a:ln>
          <a:effectLst>
            <a:outerShdw blurRad="50800" dist="25400" dir="8100000" algn="bl" rotWithShape="0">
              <a:srgbClr val="000000">
                <a:alpha val="7000"/>
              </a:srgbClr>
            </a:outerShdw>
          </a:effectLst>
        </p:spPr>
      </p:sp>
      <p:sp>
        <p:nvSpPr>
          <p:cNvPr id="10" name="Shape 8"/>
          <p:cNvSpPr/>
          <p:nvPr/>
        </p:nvSpPr>
        <p:spPr>
          <a:xfrm>
            <a:off x="320040" y="2377440"/>
            <a:ext cx="64008" cy="1261872"/>
          </a:xfrm>
          <a:prstGeom prst="rect">
            <a:avLst/>
          </a:prstGeom>
          <a:solidFill>
            <a:srgbClr val="7EB8D0"/>
          </a:solidFill>
          <a:ln w="12700">
            <a:solidFill>
              <a:srgbClr val="7EB8D0"/>
            </a:solidFill>
            <a:prstDash val="solid"/>
          </a:ln>
        </p:spPr>
      </p:sp>
      <p:sp>
        <p:nvSpPr>
          <p:cNvPr id="11" name="Text 9"/>
          <p:cNvSpPr/>
          <p:nvPr/>
        </p:nvSpPr>
        <p:spPr>
          <a:xfrm>
            <a:off x="502920" y="2468880"/>
            <a:ext cx="8138160" cy="320040"/>
          </a:xfrm>
          <a:prstGeom prst="rect">
            <a:avLst/>
          </a:prstGeom>
          <a:noFill/>
        </p:spPr>
        <p:txBody>
          <a:bodyPr wrap="square" lIns="0" tIns="0" rIns="0" bIns="0" rtlCol="0" anchor="ctr"/>
          <a:lstStyle/>
          <a:p>
            <a:pPr marL="0" indent="0">
              <a:buNone/>
            </a:pPr>
            <a:r>
              <a:rPr lang="en-US" sz="1400" b="1" dirty="0">
                <a:solidFill>
                  <a:srgbClr val="1A2E3B"/>
                </a:solidFill>
                <a:latin typeface="Trebuchet MS" pitchFamily="34" charset="0"/>
                <a:ea typeface="Trebuchet MS" pitchFamily="34" charset="-122"/>
                <a:cs typeface="Trebuchet MS" pitchFamily="34" charset="-120"/>
              </a:rPr>
              <a:t>Campos de Trazabilidad Añadidos</a:t>
            </a:r>
            <a:endParaRPr lang="en-US" sz="1400" dirty="0"/>
          </a:p>
        </p:txBody>
      </p:sp>
      <p:sp>
        <p:nvSpPr>
          <p:cNvPr id="12" name="Text 10"/>
          <p:cNvSpPr/>
          <p:nvPr/>
        </p:nvSpPr>
        <p:spPr>
          <a:xfrm>
            <a:off x="502920" y="2761488"/>
            <a:ext cx="8046720" cy="786384"/>
          </a:xfrm>
          <a:prstGeom prst="rect">
            <a:avLst/>
          </a:prstGeom>
          <a:noFill/>
        </p:spPr>
        <p:txBody>
          <a:bodyPr wrap="square" lIns="0" tIns="0" rIns="0" bIns="0" rtlCol="0" anchor="t"/>
          <a:lstStyle/>
          <a:p>
            <a:pPr marL="0" indent="0">
              <a:buNone/>
            </a:pPr>
            <a:r>
              <a:rPr lang="en-US" sz="1300" dirty="0">
                <a:solidFill>
                  <a:srgbClr val="5E7E8E"/>
                </a:solidFill>
                <a:latin typeface="Calibri" pitchFamily="34" charset="0"/>
                <a:ea typeface="Calibri" pitchFamily="34" charset="-122"/>
                <a:cs typeface="Calibri" pitchFamily="34" charset="-120"/>
              </a:rPr>
              <a:t>sentimiento_bert (NEG/POS/NEU) · prob_neg/pos/neu · confianza_bert · sentimiento_num (NEG=2, NEU=1, POS=0, feature numérica para vectorizar_v3.py) · relevancia actualizada · etiqueta_fuente (bert_auto | bert_queja | forzado_media | revisado_manual) · etiqueta_razon · requiere_revision.</a:t>
            </a:r>
            <a:endParaRPr lang="en-US" sz="1300" dirty="0"/>
          </a:p>
        </p:txBody>
      </p:sp>
      <p:sp>
        <p:nvSpPr>
          <p:cNvPr id="13" name="Shape 11"/>
          <p:cNvSpPr/>
          <p:nvPr/>
        </p:nvSpPr>
        <p:spPr>
          <a:xfrm>
            <a:off x="320040" y="3749040"/>
            <a:ext cx="8503920" cy="1261872"/>
          </a:xfrm>
          <a:prstGeom prst="rect">
            <a:avLst/>
          </a:prstGeom>
          <a:solidFill>
            <a:srgbClr val="FFFFFF"/>
          </a:solidFill>
          <a:ln w="12700">
            <a:solidFill>
              <a:srgbClr val="D8E8F0"/>
            </a:solidFill>
            <a:prstDash val="solid"/>
          </a:ln>
          <a:effectLst>
            <a:outerShdw blurRad="50800" dist="25400" dir="8100000" algn="bl" rotWithShape="0">
              <a:srgbClr val="000000">
                <a:alpha val="7000"/>
              </a:srgbClr>
            </a:outerShdw>
          </a:effectLst>
        </p:spPr>
      </p:sp>
      <p:sp>
        <p:nvSpPr>
          <p:cNvPr id="14" name="Shape 12"/>
          <p:cNvSpPr/>
          <p:nvPr/>
        </p:nvSpPr>
        <p:spPr>
          <a:xfrm>
            <a:off x="320040" y="3749040"/>
            <a:ext cx="64008" cy="1261872"/>
          </a:xfrm>
          <a:prstGeom prst="rect">
            <a:avLst/>
          </a:prstGeom>
          <a:solidFill>
            <a:srgbClr val="7EB8D0"/>
          </a:solidFill>
          <a:ln w="12700">
            <a:solidFill>
              <a:srgbClr val="7EB8D0"/>
            </a:solidFill>
            <a:prstDash val="solid"/>
          </a:ln>
        </p:spPr>
      </p:sp>
      <p:sp>
        <p:nvSpPr>
          <p:cNvPr id="15" name="Text 13"/>
          <p:cNvSpPr/>
          <p:nvPr/>
        </p:nvSpPr>
        <p:spPr>
          <a:xfrm>
            <a:off x="502920" y="3840480"/>
            <a:ext cx="8138160" cy="320040"/>
          </a:xfrm>
          <a:prstGeom prst="rect">
            <a:avLst/>
          </a:prstGeom>
          <a:noFill/>
        </p:spPr>
        <p:txBody>
          <a:bodyPr wrap="square" lIns="0" tIns="0" rIns="0" bIns="0" rtlCol="0" anchor="ctr"/>
          <a:lstStyle/>
          <a:p>
            <a:pPr marL="0" indent="0">
              <a:buNone/>
            </a:pPr>
            <a:r>
              <a:rPr lang="en-US" sz="1400" b="1" dirty="0">
                <a:solidFill>
                  <a:srgbClr val="1A2E3B"/>
                </a:solidFill>
                <a:latin typeface="Trebuchet MS" pitchFamily="34" charset="0"/>
                <a:ea typeface="Trebuchet MS" pitchFamily="34" charset="-122"/>
                <a:cs typeface="Trebuchet MS" pitchFamily="34" charset="-120"/>
              </a:rPr>
              <a:t>Integración con vectorizar_v3.py</a:t>
            </a:r>
            <a:endParaRPr lang="en-US" sz="1400" dirty="0"/>
          </a:p>
        </p:txBody>
      </p:sp>
      <p:sp>
        <p:nvSpPr>
          <p:cNvPr id="16" name="Text 14"/>
          <p:cNvSpPr/>
          <p:nvPr/>
        </p:nvSpPr>
        <p:spPr>
          <a:xfrm>
            <a:off x="502920" y="4133088"/>
            <a:ext cx="8046720" cy="786384"/>
          </a:xfrm>
          <a:prstGeom prst="rect">
            <a:avLst/>
          </a:prstGeom>
          <a:noFill/>
        </p:spPr>
        <p:txBody>
          <a:bodyPr wrap="square" lIns="0" tIns="0" rIns="0" bIns="0" rtlCol="0" anchor="t"/>
          <a:lstStyle/>
          <a:p>
            <a:pPr marL="0" indent="0">
              <a:buNone/>
            </a:pPr>
            <a:r>
              <a:rPr lang="en-US" sz="1300" dirty="0">
                <a:solidFill>
                  <a:srgbClr val="5E7E8E"/>
                </a:solidFill>
                <a:latin typeface="Calibri" pitchFamily="34" charset="0"/>
                <a:ea typeface="Calibri" pitchFamily="34" charset="-122"/>
                <a:cs typeface="Calibri" pitchFamily="34" charset="-120"/>
              </a:rPr>
              <a:t>Genera dataset_etiquetado_*.json (corpus completo, entrada directa para el vectorizador) y cola_revision_*.json (casos ambiguos pendientes). sentimiento_num se añade a FEATURES_NUMERICAS junto con polaridad_score, ifb_score, impacto_escala y peso_reddit.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21B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E07B39"/>
          </a:solidFill>
          <a:ln w="12700">
            <a:solidFill>
              <a:srgbClr val="E07B39"/>
            </a:solidFill>
            <a:prstDash val="solid"/>
          </a:ln>
        </p:spPr>
      </p:sp>
      <p:sp>
        <p:nvSpPr>
          <p:cNvPr id="3" name="Text 1"/>
          <p:cNvSpPr/>
          <p:nvPr/>
        </p:nvSpPr>
        <p:spPr>
          <a:xfrm>
            <a:off x="5029200" y="-274320"/>
            <a:ext cx="4114800" cy="5394960"/>
          </a:xfrm>
          <a:prstGeom prst="rect">
            <a:avLst/>
          </a:prstGeom>
          <a:noFill/>
        </p:spPr>
        <p:txBody>
          <a:bodyPr wrap="square" rtlCol="0" anchor="b"/>
          <a:lstStyle/>
          <a:p>
            <a:pPr marL="0" indent="0" algn="r">
              <a:buNone/>
            </a:pPr>
            <a:r>
              <a:rPr lang="en-US" sz="20000" b="1" dirty="0">
                <a:solidFill>
                  <a:srgbClr val="065A82">
                    <a:alpha val="45000"/>
                  </a:srgbClr>
                </a:solidFill>
                <a:latin typeface="Arial Black" pitchFamily="34" charset="0"/>
                <a:ea typeface="Arial Black" pitchFamily="34" charset="-122"/>
                <a:cs typeface="Arial Black" pitchFamily="34" charset="-120"/>
              </a:rPr>
              <a:t>0</a:t>
            </a:r>
            <a:r>
              <a:rPr lang="es-ES_tradnl" altLang="en-US" sz="20000" b="1" dirty="0">
                <a:solidFill>
                  <a:srgbClr val="065A82">
                    <a:alpha val="45000"/>
                  </a:srgbClr>
                </a:solidFill>
                <a:latin typeface="Arial Black" pitchFamily="34" charset="0"/>
                <a:ea typeface="Arial Black" pitchFamily="34" charset="-122"/>
                <a:cs typeface="Arial Black" pitchFamily="34" charset="-120"/>
              </a:rPr>
              <a:t>6</a:t>
            </a:r>
            <a:endParaRPr lang="es-ES_tradnl" altLang="en-US" sz="20000" b="1" dirty="0">
              <a:solidFill>
                <a:srgbClr val="065A82">
                  <a:alpha val="45000"/>
                </a:srgbClr>
              </a:solidFill>
              <a:latin typeface="Arial Black" pitchFamily="34" charset="0"/>
              <a:ea typeface="Arial Black" pitchFamily="34" charset="-122"/>
              <a:cs typeface="Arial Black" pitchFamily="34" charset="-120"/>
            </a:endParaRPr>
          </a:p>
        </p:txBody>
      </p:sp>
      <p:sp>
        <p:nvSpPr>
          <p:cNvPr id="4" name="Shape 2"/>
          <p:cNvSpPr/>
          <p:nvPr/>
        </p:nvSpPr>
        <p:spPr>
          <a:xfrm>
            <a:off x="457200" y="384048"/>
            <a:ext cx="1920240" cy="329184"/>
          </a:xfrm>
          <a:prstGeom prst="rect">
            <a:avLst/>
          </a:prstGeom>
          <a:solidFill>
            <a:srgbClr val="E07B39"/>
          </a:solidFill>
          <a:ln w="12700">
            <a:solidFill>
              <a:srgbClr val="E07B39"/>
            </a:solidFill>
            <a:prstDash val="solid"/>
          </a:ln>
        </p:spPr>
      </p:sp>
      <p:sp>
        <p:nvSpPr>
          <p:cNvPr id="5" name="Text 3"/>
          <p:cNvSpPr/>
          <p:nvPr/>
        </p:nvSpPr>
        <p:spPr>
          <a:xfrm>
            <a:off x="457200" y="384048"/>
            <a:ext cx="1920240" cy="329184"/>
          </a:xfrm>
          <a:prstGeom prst="rect">
            <a:avLst/>
          </a:prstGeom>
          <a:noFill/>
        </p:spPr>
        <p:txBody>
          <a:bodyPr wrap="square" lIns="0" tIns="0" rIns="0" bIns="0" rtlCol="0" anchor="ctr"/>
          <a:lstStyle/>
          <a:p>
            <a:pPr marL="0" indent="0" algn="ctr">
              <a:buNone/>
            </a:pPr>
            <a:r>
              <a:rPr lang="en-US" sz="1100" b="1" dirty="0">
                <a:solidFill>
                  <a:srgbClr val="021B2E"/>
                </a:solidFill>
                <a:latin typeface="Calibri" pitchFamily="34" charset="0"/>
                <a:ea typeface="Calibri" pitchFamily="34" charset="-122"/>
                <a:cs typeface="Calibri" pitchFamily="34" charset="-120"/>
              </a:rPr>
              <a:t>MÓDULO 01</a:t>
            </a:r>
            <a:endParaRPr lang="en-US" sz="1100" dirty="0"/>
          </a:p>
        </p:txBody>
      </p:sp>
      <p:sp>
        <p:nvSpPr>
          <p:cNvPr id="6" name="Text 4"/>
          <p:cNvSpPr/>
          <p:nvPr/>
        </p:nvSpPr>
        <p:spPr>
          <a:xfrm>
            <a:off x="457200" y="960120"/>
            <a:ext cx="8229600" cy="1371600"/>
          </a:xfrm>
          <a:prstGeom prst="rect">
            <a:avLst/>
          </a:prstGeom>
          <a:noFill/>
        </p:spPr>
        <p:txBody>
          <a:bodyPr wrap="square" rtlCol="0" anchor="ctr"/>
          <a:lstStyle/>
          <a:p>
            <a:pPr marL="0" indent="0">
              <a:buNone/>
            </a:pPr>
            <a:r>
              <a:rPr lang="en-US" sz="4400" b="1" dirty="0">
                <a:solidFill>
                  <a:srgbClr val="FFFFFF"/>
                </a:solidFill>
                <a:latin typeface="Trebuchet MS" pitchFamily="34" charset="0"/>
                <a:ea typeface="Trebuchet MS" pitchFamily="34" charset="-122"/>
                <a:cs typeface="Trebuchet MS" pitchFamily="34" charset="-120"/>
              </a:rPr>
              <a:t>Vectorizador de Features</a:t>
            </a:r>
            <a:endParaRPr lang="en-US" sz="4400" dirty="0"/>
          </a:p>
        </p:txBody>
      </p:sp>
      <p:sp>
        <p:nvSpPr>
          <p:cNvPr id="7" name="Text 5"/>
          <p:cNvSpPr/>
          <p:nvPr/>
        </p:nvSpPr>
        <p:spPr>
          <a:xfrm>
            <a:off x="457200" y="2514600"/>
            <a:ext cx="6400800" cy="502920"/>
          </a:xfrm>
          <a:prstGeom prst="rect">
            <a:avLst/>
          </a:prstGeom>
          <a:noFill/>
        </p:spPr>
        <p:txBody>
          <a:bodyPr wrap="square" rtlCol="0" anchor="ctr"/>
          <a:lstStyle/>
          <a:p>
            <a:pPr marL="0" indent="0">
              <a:buNone/>
            </a:pPr>
            <a:r>
              <a:rPr lang="en-US" sz="1600" i="1" dirty="0">
                <a:solidFill>
                  <a:srgbClr val="8CB8CC"/>
                </a:solidFill>
                <a:latin typeface="Calibri" pitchFamily="34" charset="0"/>
                <a:ea typeface="Calibri" pitchFamily="34" charset="-122"/>
                <a:cs typeface="Calibri" pitchFamily="34" charset="-120"/>
              </a:rPr>
              <a:t>Transforma el corpus enriquecido en matrices numéricas para ML</a:t>
            </a:r>
            <a:endParaRPr lang="en-US" sz="1600" dirty="0"/>
          </a:p>
        </p:txBody>
      </p:sp>
      <p:sp>
        <p:nvSpPr>
          <p:cNvPr id="8" name="Text 6"/>
          <p:cNvSpPr/>
          <p:nvPr/>
        </p:nvSpPr>
        <p:spPr>
          <a:xfrm>
            <a:off x="457200" y="3090672"/>
            <a:ext cx="6400800" cy="329184"/>
          </a:xfrm>
          <a:prstGeom prst="rect">
            <a:avLst/>
          </a:prstGeom>
          <a:noFill/>
        </p:spPr>
        <p:txBody>
          <a:bodyPr wrap="square" rtlCol="0" anchor="ctr"/>
          <a:lstStyle/>
          <a:p>
            <a:pPr marL="0" indent="0">
              <a:buNone/>
            </a:pPr>
            <a:r>
              <a:rPr lang="en-US" sz="1300" dirty="0">
                <a:solidFill>
                  <a:srgbClr val="E07B39"/>
                </a:solidFill>
                <a:latin typeface="Calibri" pitchFamily="34" charset="0"/>
                <a:ea typeface="Calibri" pitchFamily="34" charset="-122"/>
                <a:cs typeface="Calibri" pitchFamily="34" charset="-120"/>
              </a:rPr>
              <a:t>vectorizar_v3.py  ·  scikit-learn + sentence-transformers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0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65A82"/>
          </a:solidFill>
          <a:ln w="12700">
            <a:solidFill>
              <a:srgbClr val="065A82"/>
            </a:solidFill>
            <a:prstDash val="solid"/>
          </a:ln>
        </p:spPr>
      </p:sp>
      <p:sp>
        <p:nvSpPr>
          <p:cNvPr id="3" name="Shape 1"/>
          <p:cNvSpPr/>
          <p:nvPr/>
        </p:nvSpPr>
        <p:spPr>
          <a:xfrm>
            <a:off x="0" y="731520"/>
            <a:ext cx="9144000" cy="64008"/>
          </a:xfrm>
          <a:prstGeom prst="rect">
            <a:avLst/>
          </a:prstGeom>
          <a:solidFill>
            <a:srgbClr val="E07B39"/>
          </a:solidFill>
          <a:ln w="12700">
            <a:solidFill>
              <a:srgbClr val="E07B39"/>
            </a:solidFill>
            <a:prstDash val="solid"/>
          </a:ln>
        </p:spPr>
      </p:sp>
      <p:sp>
        <p:nvSpPr>
          <p:cNvPr id="4" name="Text 2"/>
          <p:cNvSpPr/>
          <p:nvPr/>
        </p:nvSpPr>
        <p:spPr>
          <a:xfrm>
            <a:off x="347472" y="0"/>
            <a:ext cx="8503920" cy="731520"/>
          </a:xfrm>
          <a:prstGeom prst="rect">
            <a:avLst/>
          </a:prstGeom>
          <a:noFill/>
        </p:spPr>
        <p:txBody>
          <a:bodyPr wrap="square" lIns="0" tIns="0" rIns="0" bIns="0" rtlCol="0" anchor="ctr"/>
          <a:lstStyle/>
          <a:p>
            <a:pPr marL="0" indent="0">
              <a:buNone/>
            </a:pPr>
            <a:r>
              <a:rPr lang="en-US" sz="2100" b="1" dirty="0">
                <a:solidFill>
                  <a:srgbClr val="FFFFFF"/>
                </a:solidFill>
                <a:latin typeface="Trebuchet MS" pitchFamily="34" charset="0"/>
                <a:ea typeface="Trebuchet MS" pitchFamily="34" charset="-122"/>
                <a:cs typeface="Trebuchet MS" pitchFamily="34" charset="-120"/>
              </a:rPr>
              <a:t>Vectorizador — 5 Estrategias y el Problema de la Negación</a:t>
            </a:r>
            <a:endParaRPr lang="en-US" sz="2100" dirty="0"/>
          </a:p>
        </p:txBody>
      </p:sp>
      <p:sp>
        <p:nvSpPr>
          <p:cNvPr id="5" name="Shape 3"/>
          <p:cNvSpPr/>
          <p:nvPr/>
        </p:nvSpPr>
        <p:spPr>
          <a:xfrm>
            <a:off x="274320" y="877824"/>
            <a:ext cx="8595360" cy="1360932"/>
          </a:xfrm>
          <a:prstGeom prst="rect">
            <a:avLst/>
          </a:prstGeom>
          <a:solidFill>
            <a:srgbClr val="FFFFFF"/>
          </a:solidFill>
          <a:ln w="12700">
            <a:solidFill>
              <a:srgbClr val="D8E8F0"/>
            </a:solidFill>
            <a:prstDash val="solid"/>
          </a:ln>
          <a:effectLst>
            <a:outerShdw blurRad="63500" dist="25400" dir="8100000" algn="bl" rotWithShape="0">
              <a:srgbClr val="000000">
                <a:alpha val="8000"/>
              </a:srgbClr>
            </a:outerShdw>
          </a:effectLst>
        </p:spPr>
      </p:sp>
      <p:sp>
        <p:nvSpPr>
          <p:cNvPr id="6" name="Shape 4"/>
          <p:cNvSpPr/>
          <p:nvPr/>
        </p:nvSpPr>
        <p:spPr>
          <a:xfrm>
            <a:off x="274320" y="877824"/>
            <a:ext cx="73152" cy="1360932"/>
          </a:xfrm>
          <a:prstGeom prst="rect">
            <a:avLst/>
          </a:prstGeom>
          <a:solidFill>
            <a:srgbClr val="E07B39"/>
          </a:solidFill>
          <a:ln w="12700">
            <a:solidFill>
              <a:srgbClr val="E07B39"/>
            </a:solidFill>
            <a:prstDash val="solid"/>
          </a:ln>
        </p:spPr>
      </p:sp>
      <p:sp>
        <p:nvSpPr>
          <p:cNvPr id="7" name="Shape 5"/>
          <p:cNvSpPr/>
          <p:nvPr/>
        </p:nvSpPr>
        <p:spPr>
          <a:xfrm>
            <a:off x="7882128" y="969264"/>
            <a:ext cx="914400" cy="256032"/>
          </a:xfrm>
          <a:prstGeom prst="rect">
            <a:avLst/>
          </a:prstGeom>
          <a:solidFill>
            <a:srgbClr val="E07B39"/>
          </a:solidFill>
          <a:ln w="12700">
            <a:solidFill>
              <a:srgbClr val="E07B39"/>
            </a:solidFill>
            <a:prstDash val="solid"/>
          </a:ln>
        </p:spPr>
      </p:sp>
      <p:sp>
        <p:nvSpPr>
          <p:cNvPr id="8" name="Text 6"/>
          <p:cNvSpPr/>
          <p:nvPr/>
        </p:nvSpPr>
        <p:spPr>
          <a:xfrm>
            <a:off x="7882128" y="969264"/>
            <a:ext cx="914400" cy="256032"/>
          </a:xfrm>
          <a:prstGeom prst="rect">
            <a:avLst/>
          </a:prstGeom>
          <a:noFill/>
        </p:spPr>
        <p:txBody>
          <a:bodyPr wrap="square" lIns="0" tIns="0" rIns="0" bIns="0" rtlCol="0" anchor="ctr"/>
          <a:lstStyle/>
          <a:p>
            <a:pPr marL="0" indent="0" algn="ctr">
              <a:buNone/>
            </a:pPr>
            <a:r>
              <a:rPr lang="en-US" sz="900" b="1" dirty="0">
                <a:solidFill>
                  <a:srgbClr val="021B2E"/>
                </a:solidFill>
                <a:latin typeface="Calibri" pitchFamily="34" charset="0"/>
                <a:ea typeface="Calibri" pitchFamily="34" charset="-122"/>
                <a:cs typeface="Calibri" pitchFamily="34" charset="-120"/>
              </a:rPr>
              <a:t>CORE</a:t>
            </a:r>
            <a:endParaRPr lang="en-US" sz="900" dirty="0"/>
          </a:p>
        </p:txBody>
      </p:sp>
      <p:sp>
        <p:nvSpPr>
          <p:cNvPr id="9" name="Text 7"/>
          <p:cNvSpPr/>
          <p:nvPr/>
        </p:nvSpPr>
        <p:spPr>
          <a:xfrm>
            <a:off x="475488" y="969264"/>
            <a:ext cx="7269480" cy="301752"/>
          </a:xfrm>
          <a:prstGeom prst="rect">
            <a:avLst/>
          </a:prstGeom>
          <a:noFill/>
        </p:spPr>
        <p:txBody>
          <a:bodyPr wrap="square" lIns="0" tIns="0" rIns="0" bIns="0" rtlCol="0" anchor="ctr"/>
          <a:lstStyle/>
          <a:p>
            <a:pPr marL="0" indent="0">
              <a:buNone/>
            </a:pPr>
            <a:r>
              <a:rPr lang="en-US" sz="1350" b="1" dirty="0">
                <a:solidFill>
                  <a:srgbClr val="1A2E3B"/>
                </a:solidFill>
                <a:latin typeface="Trebuchet MS" pitchFamily="34" charset="0"/>
                <a:ea typeface="Trebuchet MS" pitchFamily="34" charset="-122"/>
                <a:cs typeface="Trebuchet MS" pitchFamily="34" charset="-120"/>
              </a:rPr>
              <a:t>5 Estrategias de Vectorización (A→E)</a:t>
            </a:r>
            <a:endParaRPr lang="en-US" sz="1350" dirty="0"/>
          </a:p>
        </p:txBody>
      </p:sp>
      <p:sp>
        <p:nvSpPr>
          <p:cNvPr id="10" name="Text 8"/>
          <p:cNvSpPr/>
          <p:nvPr/>
        </p:nvSpPr>
        <p:spPr>
          <a:xfrm>
            <a:off x="475488" y="1261872"/>
            <a:ext cx="7955280" cy="903732"/>
          </a:xfrm>
          <a:prstGeom prst="rect">
            <a:avLst/>
          </a:prstGeom>
          <a:noFill/>
        </p:spPr>
        <p:txBody>
          <a:bodyPr wrap="square" lIns="0" tIns="0" rIns="0" bIns="0" rtlCol="0" anchor="t"/>
          <a:lstStyle/>
          <a:p>
            <a:pPr marL="0" indent="0">
              <a:buNone/>
            </a:pPr>
            <a:r>
              <a:rPr lang="en-US" sz="1250" dirty="0">
                <a:solidFill>
                  <a:srgbClr val="4A6778"/>
                </a:solidFill>
                <a:latin typeface="Calibri" pitchFamily="34" charset="0"/>
                <a:ea typeface="Calibri" pitchFamily="34" charset="-122"/>
                <a:cs typeface="Calibri" pitchFamily="34" charset="-120"/>
              </a:rPr>
              <a:t>[A] TF-IDF estándar — rápido, interpretable, baseline recomendado. [B] TF-IDF ponderado Reddit — multiplica cada fila por peso_reddit para dar más peso a posts populares. [C] CountVectorizer — frecuencias brutas para Naive Bayes (valores ≥ 0). [D] BERT embeddings — 768 dims contextuales, captura negación y sarcasmo (~400 MB descarga inicial). [E] BERT + TF-IDF híbrido — concatena D y A, máxima cobertura semántica. Todas concatenan el bloque numérico al final de la matriz.</a:t>
            </a:r>
            <a:endParaRPr lang="en-US" sz="1250" dirty="0"/>
          </a:p>
        </p:txBody>
      </p:sp>
      <p:sp>
        <p:nvSpPr>
          <p:cNvPr id="11" name="Shape 9"/>
          <p:cNvSpPr/>
          <p:nvPr/>
        </p:nvSpPr>
        <p:spPr>
          <a:xfrm>
            <a:off x="274320" y="2330196"/>
            <a:ext cx="8595360" cy="1360932"/>
          </a:xfrm>
          <a:prstGeom prst="rect">
            <a:avLst/>
          </a:prstGeom>
          <a:solidFill>
            <a:srgbClr val="FFFFFF"/>
          </a:solidFill>
          <a:ln w="12700">
            <a:solidFill>
              <a:srgbClr val="D8E8F0"/>
            </a:solidFill>
            <a:prstDash val="solid"/>
          </a:ln>
          <a:effectLst>
            <a:outerShdw blurRad="63500" dist="25400" dir="8100000" algn="bl" rotWithShape="0">
              <a:srgbClr val="000000">
                <a:alpha val="8000"/>
              </a:srgbClr>
            </a:outerShdw>
          </a:effectLst>
        </p:spPr>
      </p:sp>
      <p:sp>
        <p:nvSpPr>
          <p:cNvPr id="12" name="Shape 10"/>
          <p:cNvSpPr/>
          <p:nvPr/>
        </p:nvSpPr>
        <p:spPr>
          <a:xfrm>
            <a:off x="274320" y="2330196"/>
            <a:ext cx="73152" cy="1360932"/>
          </a:xfrm>
          <a:prstGeom prst="rect">
            <a:avLst/>
          </a:prstGeom>
          <a:solidFill>
            <a:srgbClr val="E07B39"/>
          </a:solidFill>
          <a:ln w="12700">
            <a:solidFill>
              <a:srgbClr val="E07B39"/>
            </a:solidFill>
            <a:prstDash val="solid"/>
          </a:ln>
        </p:spPr>
      </p:sp>
      <p:sp>
        <p:nvSpPr>
          <p:cNvPr id="13" name="Shape 11"/>
          <p:cNvSpPr/>
          <p:nvPr/>
        </p:nvSpPr>
        <p:spPr>
          <a:xfrm>
            <a:off x="7882128" y="2421636"/>
            <a:ext cx="914400" cy="256032"/>
          </a:xfrm>
          <a:prstGeom prst="rect">
            <a:avLst/>
          </a:prstGeom>
          <a:solidFill>
            <a:srgbClr val="E07B39"/>
          </a:solidFill>
          <a:ln w="12700">
            <a:solidFill>
              <a:srgbClr val="E07B39"/>
            </a:solidFill>
            <a:prstDash val="solid"/>
          </a:ln>
        </p:spPr>
      </p:sp>
      <p:sp>
        <p:nvSpPr>
          <p:cNvPr id="14" name="Text 12"/>
          <p:cNvSpPr/>
          <p:nvPr/>
        </p:nvSpPr>
        <p:spPr>
          <a:xfrm>
            <a:off x="7882128" y="2421636"/>
            <a:ext cx="914400" cy="256032"/>
          </a:xfrm>
          <a:prstGeom prst="rect">
            <a:avLst/>
          </a:prstGeom>
          <a:noFill/>
        </p:spPr>
        <p:txBody>
          <a:bodyPr wrap="square" lIns="0" tIns="0" rIns="0" bIns="0" rtlCol="0" anchor="ctr"/>
          <a:lstStyle/>
          <a:p>
            <a:pPr marL="0" indent="0" algn="ctr">
              <a:buNone/>
            </a:pPr>
            <a:r>
              <a:rPr lang="en-US" sz="900" b="1" dirty="0">
                <a:solidFill>
                  <a:srgbClr val="021B2E"/>
                </a:solidFill>
                <a:latin typeface="Calibri" pitchFamily="34" charset="0"/>
                <a:ea typeface="Calibri" pitchFamily="34" charset="-122"/>
                <a:cs typeface="Calibri" pitchFamily="34" charset="-120"/>
              </a:rPr>
              <a:t>CLAVE</a:t>
            </a:r>
            <a:endParaRPr lang="en-US" sz="900" dirty="0"/>
          </a:p>
        </p:txBody>
      </p:sp>
      <p:sp>
        <p:nvSpPr>
          <p:cNvPr id="15" name="Text 13"/>
          <p:cNvSpPr/>
          <p:nvPr/>
        </p:nvSpPr>
        <p:spPr>
          <a:xfrm>
            <a:off x="475488" y="2421636"/>
            <a:ext cx="7269480" cy="301752"/>
          </a:xfrm>
          <a:prstGeom prst="rect">
            <a:avLst/>
          </a:prstGeom>
          <a:noFill/>
        </p:spPr>
        <p:txBody>
          <a:bodyPr wrap="square" lIns="0" tIns="0" rIns="0" bIns="0" rtlCol="0" anchor="ctr"/>
          <a:lstStyle/>
          <a:p>
            <a:pPr marL="0" indent="0">
              <a:buNone/>
            </a:pPr>
            <a:r>
              <a:rPr lang="en-US" sz="1350" b="1" dirty="0">
                <a:solidFill>
                  <a:srgbClr val="1A2E3B"/>
                </a:solidFill>
                <a:latin typeface="Trebuchet MS" pitchFamily="34" charset="0"/>
                <a:ea typeface="Trebuchet MS" pitchFamily="34" charset="-122"/>
                <a:cs typeface="Trebuchet MS" pitchFamily="34" charset="-120"/>
              </a:rPr>
              <a:t>Por qué BERT y no solo TF-IDF — El problema de la negación</a:t>
            </a:r>
            <a:endParaRPr lang="en-US" sz="1350" dirty="0"/>
          </a:p>
        </p:txBody>
      </p:sp>
      <p:sp>
        <p:nvSpPr>
          <p:cNvPr id="16" name="Text 14"/>
          <p:cNvSpPr/>
          <p:nvPr/>
        </p:nvSpPr>
        <p:spPr>
          <a:xfrm>
            <a:off x="475488" y="2714244"/>
            <a:ext cx="7955280" cy="903732"/>
          </a:xfrm>
          <a:prstGeom prst="rect">
            <a:avLst/>
          </a:prstGeom>
          <a:noFill/>
        </p:spPr>
        <p:txBody>
          <a:bodyPr wrap="square" lIns="0" tIns="0" rIns="0" bIns="0" rtlCol="0" anchor="t"/>
          <a:lstStyle/>
          <a:p>
            <a:pPr marL="0" indent="0">
              <a:buNone/>
            </a:pPr>
            <a:r>
              <a:rPr lang="en-US" sz="1250" dirty="0">
                <a:solidFill>
                  <a:srgbClr val="4A6778"/>
                </a:solidFill>
                <a:latin typeface="Calibri" pitchFamily="34" charset="0"/>
                <a:ea typeface="Calibri" pitchFamily="34" charset="-122"/>
                <a:cs typeface="Calibri" pitchFamily="34" charset="-120"/>
              </a:rPr>
              <a:t>TF-IDF trata el texto como bolsa de palabras: 'No hay medicinas en el IMSS' (queja real) y 'Medicinas hay en el IMSS, no faltan' (situación positiva) comparten los mismos tokens → vectores casi idénticos → el clasificador no puede distinguirlos. BERT procesa cada token en contexto de todos los demás: en el primer texto 'hay' recibe la influencia semántica de 'No' → vectores distintos y correctamente orientados. Por eso BERT opera sobre el texto con stopwords: 'no', 'hay', 'me' son el andamiaje que el modelo necesita.</a:t>
            </a:r>
            <a:endParaRPr lang="en-US" sz="1250" dirty="0"/>
          </a:p>
        </p:txBody>
      </p:sp>
      <p:sp>
        <p:nvSpPr>
          <p:cNvPr id="17" name="Shape 15"/>
          <p:cNvSpPr/>
          <p:nvPr/>
        </p:nvSpPr>
        <p:spPr>
          <a:xfrm>
            <a:off x="274320" y="3782568"/>
            <a:ext cx="8595360" cy="1360932"/>
          </a:xfrm>
          <a:prstGeom prst="rect">
            <a:avLst/>
          </a:prstGeom>
          <a:solidFill>
            <a:srgbClr val="FFFFFF"/>
          </a:solidFill>
          <a:ln w="12700">
            <a:solidFill>
              <a:srgbClr val="D8E8F0"/>
            </a:solidFill>
            <a:prstDash val="solid"/>
          </a:ln>
          <a:effectLst>
            <a:outerShdw blurRad="63500" dist="25400" dir="8100000" algn="bl" rotWithShape="0">
              <a:srgbClr val="000000">
                <a:alpha val="8000"/>
              </a:srgbClr>
            </a:outerShdw>
          </a:effectLst>
        </p:spPr>
      </p:sp>
      <p:sp>
        <p:nvSpPr>
          <p:cNvPr id="18" name="Shape 16"/>
          <p:cNvSpPr/>
          <p:nvPr/>
        </p:nvSpPr>
        <p:spPr>
          <a:xfrm>
            <a:off x="274320" y="3782568"/>
            <a:ext cx="73152" cy="1360932"/>
          </a:xfrm>
          <a:prstGeom prst="rect">
            <a:avLst/>
          </a:prstGeom>
          <a:solidFill>
            <a:srgbClr val="E07B39"/>
          </a:solidFill>
          <a:ln w="12700">
            <a:solidFill>
              <a:srgbClr val="E07B39"/>
            </a:solidFill>
            <a:prstDash val="solid"/>
          </a:ln>
        </p:spPr>
      </p:sp>
      <p:sp>
        <p:nvSpPr>
          <p:cNvPr id="19" name="Text 17"/>
          <p:cNvSpPr/>
          <p:nvPr/>
        </p:nvSpPr>
        <p:spPr>
          <a:xfrm>
            <a:off x="475488" y="3874008"/>
            <a:ext cx="7955280" cy="301752"/>
          </a:xfrm>
          <a:prstGeom prst="rect">
            <a:avLst/>
          </a:prstGeom>
          <a:noFill/>
        </p:spPr>
        <p:txBody>
          <a:bodyPr wrap="square" lIns="0" tIns="0" rIns="0" bIns="0" rtlCol="0" anchor="ctr"/>
          <a:lstStyle/>
          <a:p>
            <a:pPr marL="0" indent="0">
              <a:buNone/>
            </a:pPr>
            <a:r>
              <a:rPr lang="en-US" sz="1350" b="1" dirty="0">
                <a:solidFill>
                  <a:srgbClr val="1A2E3B"/>
                </a:solidFill>
                <a:latin typeface="Trebuchet MS" pitchFamily="34" charset="0"/>
                <a:ea typeface="Trebuchet MS" pitchFamily="34" charset="-122"/>
                <a:cs typeface="Trebuchet MS" pitchFamily="34" charset="-120"/>
              </a:rPr>
              <a:t>Bloque de Texto — Mejoras técnicas (pasos ③ y ④)</a:t>
            </a:r>
            <a:endParaRPr lang="en-US" sz="1350" dirty="0"/>
          </a:p>
        </p:txBody>
      </p:sp>
      <p:sp>
        <p:nvSpPr>
          <p:cNvPr id="20" name="Text 18"/>
          <p:cNvSpPr/>
          <p:nvPr/>
        </p:nvSpPr>
        <p:spPr>
          <a:xfrm>
            <a:off x="475488" y="4166616"/>
            <a:ext cx="7955280" cy="903732"/>
          </a:xfrm>
          <a:prstGeom prst="rect">
            <a:avLst/>
          </a:prstGeom>
          <a:noFill/>
        </p:spPr>
        <p:txBody>
          <a:bodyPr wrap="square" lIns="0" tIns="0" rIns="0" bIns="0" rtlCol="0" anchor="t"/>
          <a:lstStyle/>
          <a:p>
            <a:pPr marL="0" indent="0">
              <a:buNone/>
            </a:pPr>
            <a:r>
              <a:rPr lang="en-US" sz="1250" dirty="0">
                <a:solidFill>
                  <a:srgbClr val="4A6778"/>
                </a:solidFill>
                <a:latin typeface="Calibri" pitchFamily="34" charset="0"/>
                <a:ea typeface="Calibri" pitchFamily="34" charset="-122"/>
                <a:cs typeface="Calibri" pitchFamily="34" charset="-120"/>
              </a:rPr>
              <a:t>④A Normalización de siglas: IMSS → entidad_salud_imss, H1N1 → virus_h1n1, CDMX → lugar_cdmx, para que el vectorizador las trate como tokens únicos. ④B max_df dinámico: calcula el umbral óptimo por corpus (percentil 85) evitando que términos hiper-frecuentes como 'salud' (presentes en 95% de posts) actúen como ruido con un umbral fijo. ③ SelectKBest χ²: tras TF-IDF se tienen hasta 5 000 features; χ² mide la dependencia estadística entre cada feature y la etiqueta de clase → se conservan solo las K=3 000 más informativas. Configuración: MAX_FEATURES=5 000 · NGRAM_RANGE=(1,2) · MIN_DF=2.</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0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65A82"/>
          </a:solidFill>
          <a:ln w="12700">
            <a:solidFill>
              <a:srgbClr val="065A82"/>
            </a:solidFill>
            <a:prstDash val="solid"/>
          </a:ln>
        </p:spPr>
      </p:sp>
      <p:sp>
        <p:nvSpPr>
          <p:cNvPr id="3" name="Shape 1"/>
          <p:cNvSpPr/>
          <p:nvPr/>
        </p:nvSpPr>
        <p:spPr>
          <a:xfrm>
            <a:off x="0" y="731520"/>
            <a:ext cx="9144000" cy="64008"/>
          </a:xfrm>
          <a:prstGeom prst="rect">
            <a:avLst/>
          </a:prstGeom>
          <a:solidFill>
            <a:srgbClr val="E07B39"/>
          </a:solidFill>
          <a:ln w="12700">
            <a:solidFill>
              <a:srgbClr val="E07B39"/>
            </a:solidFill>
            <a:prstDash val="solid"/>
          </a:ln>
        </p:spPr>
      </p:sp>
      <p:sp>
        <p:nvSpPr>
          <p:cNvPr id="4" name="Text 2"/>
          <p:cNvSpPr/>
          <p:nvPr/>
        </p:nvSpPr>
        <p:spPr>
          <a:xfrm>
            <a:off x="347472" y="0"/>
            <a:ext cx="8503920" cy="731520"/>
          </a:xfrm>
          <a:prstGeom prst="rect">
            <a:avLst/>
          </a:prstGeom>
          <a:noFill/>
        </p:spPr>
        <p:txBody>
          <a:bodyPr wrap="square" lIns="0" tIns="0" rIns="0" bIns="0" rtlCol="0" anchor="ctr"/>
          <a:lstStyle/>
          <a:p>
            <a:pPr marL="0" indent="0">
              <a:buNone/>
            </a:pPr>
            <a:r>
              <a:rPr lang="en-US" sz="2100" b="1" dirty="0">
                <a:solidFill>
                  <a:srgbClr val="FFFFFF"/>
                </a:solidFill>
                <a:latin typeface="Trebuchet MS" pitchFamily="34" charset="0"/>
                <a:ea typeface="Trebuchet MS" pitchFamily="34" charset="-122"/>
                <a:cs typeface="Trebuchet MS" pitchFamily="34" charset="-120"/>
              </a:rPr>
              <a:t>Vectorizador — Lexicon de Quejas, Bloque Numérico y Artefactos</a:t>
            </a:r>
            <a:endParaRPr lang="en-US" sz="2100" dirty="0"/>
          </a:p>
        </p:txBody>
      </p:sp>
      <p:sp>
        <p:nvSpPr>
          <p:cNvPr id="5" name="Shape 3"/>
          <p:cNvSpPr/>
          <p:nvPr/>
        </p:nvSpPr>
        <p:spPr>
          <a:xfrm>
            <a:off x="274320" y="877824"/>
            <a:ext cx="4224528" cy="1196340"/>
          </a:xfrm>
          <a:prstGeom prst="rect">
            <a:avLst/>
          </a:prstGeom>
          <a:solidFill>
            <a:srgbClr val="FFFFFF"/>
          </a:solidFill>
          <a:ln w="12700">
            <a:solidFill>
              <a:srgbClr val="D8E8F0"/>
            </a:solidFill>
            <a:prstDash val="solid"/>
          </a:ln>
          <a:effectLst>
            <a:outerShdw blurRad="63500" dist="25400" dir="8100000" algn="bl" rotWithShape="0">
              <a:srgbClr val="000000">
                <a:alpha val="8000"/>
              </a:srgbClr>
            </a:outerShdw>
          </a:effectLst>
        </p:spPr>
      </p:sp>
      <p:sp>
        <p:nvSpPr>
          <p:cNvPr id="6" name="Shape 4"/>
          <p:cNvSpPr/>
          <p:nvPr/>
        </p:nvSpPr>
        <p:spPr>
          <a:xfrm>
            <a:off x="274320" y="877824"/>
            <a:ext cx="73152" cy="1196340"/>
          </a:xfrm>
          <a:prstGeom prst="rect">
            <a:avLst/>
          </a:prstGeom>
          <a:solidFill>
            <a:srgbClr val="E07B39"/>
          </a:solidFill>
          <a:ln w="12700">
            <a:solidFill>
              <a:srgbClr val="E07B39"/>
            </a:solidFill>
            <a:prstDash val="solid"/>
          </a:ln>
        </p:spPr>
      </p:sp>
      <p:sp>
        <p:nvSpPr>
          <p:cNvPr id="7" name="Shape 5"/>
          <p:cNvSpPr/>
          <p:nvPr/>
        </p:nvSpPr>
        <p:spPr>
          <a:xfrm>
            <a:off x="3511296" y="960120"/>
            <a:ext cx="941832" cy="237744"/>
          </a:xfrm>
          <a:prstGeom prst="rect">
            <a:avLst/>
          </a:prstGeom>
          <a:solidFill>
            <a:srgbClr val="E07B39"/>
          </a:solidFill>
          <a:ln w="12700">
            <a:solidFill>
              <a:srgbClr val="E07B39"/>
            </a:solidFill>
            <a:prstDash val="solid"/>
          </a:ln>
        </p:spPr>
      </p:sp>
      <p:sp>
        <p:nvSpPr>
          <p:cNvPr id="8" name="Text 6"/>
          <p:cNvSpPr/>
          <p:nvPr/>
        </p:nvSpPr>
        <p:spPr>
          <a:xfrm>
            <a:off x="3511296" y="960120"/>
            <a:ext cx="941832" cy="237744"/>
          </a:xfrm>
          <a:prstGeom prst="rect">
            <a:avLst/>
          </a:prstGeom>
          <a:noFill/>
        </p:spPr>
        <p:txBody>
          <a:bodyPr wrap="square" lIns="0" tIns="0" rIns="0" bIns="0" rtlCol="0" anchor="ctr"/>
          <a:lstStyle/>
          <a:p>
            <a:pPr marL="0" indent="0" algn="ctr">
              <a:buNone/>
            </a:pPr>
            <a:r>
              <a:rPr lang="en-US" sz="850" b="1" dirty="0">
                <a:solidFill>
                  <a:srgbClr val="021B2E"/>
                </a:solidFill>
                <a:latin typeface="Calibri" pitchFamily="34" charset="0"/>
                <a:ea typeface="Calibri" pitchFamily="34" charset="-122"/>
                <a:cs typeface="Calibri" pitchFamily="34" charset="-120"/>
              </a:rPr>
              <a:t>SEMÁNTICO</a:t>
            </a:r>
            <a:endParaRPr lang="en-US" sz="850" dirty="0"/>
          </a:p>
        </p:txBody>
      </p:sp>
      <p:sp>
        <p:nvSpPr>
          <p:cNvPr id="9" name="Text 7"/>
          <p:cNvSpPr/>
          <p:nvPr/>
        </p:nvSpPr>
        <p:spPr>
          <a:xfrm>
            <a:off x="438912" y="960120"/>
            <a:ext cx="3054096" cy="274320"/>
          </a:xfrm>
          <a:prstGeom prst="rect">
            <a:avLst/>
          </a:prstGeom>
          <a:noFill/>
        </p:spPr>
        <p:txBody>
          <a:bodyPr wrap="square" lIns="0" tIns="0" rIns="0" bIns="0" rtlCol="0" anchor="ctr"/>
          <a:lstStyle/>
          <a:p>
            <a:pPr marL="0" indent="0">
              <a:buNone/>
            </a:pPr>
            <a:r>
              <a:rPr lang="en-US" sz="1200" b="1" dirty="0">
                <a:solidFill>
                  <a:srgbClr val="1A2E3B"/>
                </a:solidFill>
                <a:latin typeface="Trebuchet MS" pitchFamily="34" charset="0"/>
                <a:ea typeface="Trebuchet MS" pitchFamily="34" charset="-122"/>
                <a:cs typeface="Trebuchet MS" pitchFamily="34" charset="-120"/>
              </a:rPr>
              <a:t>② Lexicon de Quejas — Feature Garantizada (~55 términos)</a:t>
            </a:r>
            <a:endParaRPr lang="en-US" sz="1200" dirty="0"/>
          </a:p>
        </p:txBody>
      </p:sp>
      <p:sp>
        <p:nvSpPr>
          <p:cNvPr id="10" name="Text 8"/>
          <p:cNvSpPr/>
          <p:nvPr/>
        </p:nvSpPr>
        <p:spPr>
          <a:xfrm>
            <a:off x="438912" y="1225296"/>
            <a:ext cx="4005072" cy="794004"/>
          </a:xfrm>
          <a:prstGeom prst="rect">
            <a:avLst/>
          </a:prstGeom>
          <a:noFill/>
        </p:spPr>
        <p:txBody>
          <a:bodyPr wrap="square" lIns="0" tIns="0" rIns="0" bIns="0" rtlCol="0" anchor="t"/>
          <a:lstStyle/>
          <a:p>
            <a:pPr marL="0" indent="0">
              <a:buNone/>
            </a:pPr>
            <a:r>
              <a:rPr lang="en-US" sz="1120" dirty="0">
                <a:solidFill>
                  <a:srgbClr val="4A6778"/>
                </a:solidFill>
                <a:latin typeface="Calibri" pitchFamily="34" charset="0"/>
                <a:ea typeface="Calibri" pitchFamily="34" charset="-122"/>
                <a:cs typeface="Calibri" pitchFamily="34" charset="-120"/>
              </a:rPr>
              <a:t>Problema: con 4 000 comentarios y solo 12 menciones de 'viacrucis', su peso TF-IDF se diluye en textos largos. Solución: ~55 términos con pesos fijos 1.5–3.0 que no dependen de la frecuencia en el corpus. 'viacrucis' siempre pesa 2.5, sin importar cuántas veces aparezca.</a:t>
            </a:r>
            <a:endParaRPr lang="en-US" sz="1120" dirty="0"/>
          </a:p>
        </p:txBody>
      </p:sp>
      <p:sp>
        <p:nvSpPr>
          <p:cNvPr id="11" name="Shape 9"/>
          <p:cNvSpPr/>
          <p:nvPr/>
        </p:nvSpPr>
        <p:spPr>
          <a:xfrm>
            <a:off x="4736592" y="877824"/>
            <a:ext cx="4224528" cy="1196340"/>
          </a:xfrm>
          <a:prstGeom prst="rect">
            <a:avLst/>
          </a:prstGeom>
          <a:solidFill>
            <a:srgbClr val="FFFFFF"/>
          </a:solidFill>
          <a:ln w="12700">
            <a:solidFill>
              <a:srgbClr val="D8E8F0"/>
            </a:solidFill>
            <a:prstDash val="solid"/>
          </a:ln>
          <a:effectLst>
            <a:outerShdw blurRad="63500" dist="25400" dir="8100000" algn="bl" rotWithShape="0">
              <a:srgbClr val="000000">
                <a:alpha val="8000"/>
              </a:srgbClr>
            </a:outerShdw>
          </a:effectLst>
        </p:spPr>
      </p:sp>
      <p:sp>
        <p:nvSpPr>
          <p:cNvPr id="12" name="Shape 10"/>
          <p:cNvSpPr/>
          <p:nvPr/>
        </p:nvSpPr>
        <p:spPr>
          <a:xfrm>
            <a:off x="4736592" y="877824"/>
            <a:ext cx="73152" cy="1196340"/>
          </a:xfrm>
          <a:prstGeom prst="rect">
            <a:avLst/>
          </a:prstGeom>
          <a:solidFill>
            <a:srgbClr val="E07B39"/>
          </a:solidFill>
          <a:ln w="12700">
            <a:solidFill>
              <a:srgbClr val="E07B39"/>
            </a:solidFill>
            <a:prstDash val="solid"/>
          </a:ln>
        </p:spPr>
      </p:sp>
      <p:sp>
        <p:nvSpPr>
          <p:cNvPr id="13" name="Shape 11"/>
          <p:cNvSpPr/>
          <p:nvPr/>
        </p:nvSpPr>
        <p:spPr>
          <a:xfrm>
            <a:off x="7973568" y="960120"/>
            <a:ext cx="941832" cy="237744"/>
          </a:xfrm>
          <a:prstGeom prst="rect">
            <a:avLst/>
          </a:prstGeom>
          <a:solidFill>
            <a:srgbClr val="E07B39"/>
          </a:solidFill>
          <a:ln w="12700">
            <a:solidFill>
              <a:srgbClr val="E07B39"/>
            </a:solidFill>
            <a:prstDash val="solid"/>
          </a:ln>
        </p:spPr>
      </p:sp>
      <p:sp>
        <p:nvSpPr>
          <p:cNvPr id="14" name="Text 12"/>
          <p:cNvSpPr/>
          <p:nvPr/>
        </p:nvSpPr>
        <p:spPr>
          <a:xfrm>
            <a:off x="7973568" y="960120"/>
            <a:ext cx="941832" cy="237744"/>
          </a:xfrm>
          <a:prstGeom prst="rect">
            <a:avLst/>
          </a:prstGeom>
          <a:noFill/>
        </p:spPr>
        <p:txBody>
          <a:bodyPr wrap="square" lIns="0" tIns="0" rIns="0" bIns="0" rtlCol="0" anchor="ctr"/>
          <a:lstStyle/>
          <a:p>
            <a:pPr marL="0" indent="0" algn="ctr">
              <a:buNone/>
            </a:pPr>
            <a:r>
              <a:rPr lang="en-US" sz="850" b="1" dirty="0">
                <a:solidFill>
                  <a:srgbClr val="021B2E"/>
                </a:solidFill>
                <a:latin typeface="Calibri" pitchFamily="34" charset="0"/>
                <a:ea typeface="Calibri" pitchFamily="34" charset="-122"/>
                <a:cs typeface="Calibri" pitchFamily="34" charset="-120"/>
              </a:rPr>
              <a:t>NUMÉRICO</a:t>
            </a:r>
            <a:endParaRPr lang="en-US" sz="850" dirty="0"/>
          </a:p>
        </p:txBody>
      </p:sp>
      <p:sp>
        <p:nvSpPr>
          <p:cNvPr id="15" name="Text 13"/>
          <p:cNvSpPr/>
          <p:nvPr/>
        </p:nvSpPr>
        <p:spPr>
          <a:xfrm>
            <a:off x="4901184" y="960120"/>
            <a:ext cx="3054096" cy="274320"/>
          </a:xfrm>
          <a:prstGeom prst="rect">
            <a:avLst/>
          </a:prstGeom>
          <a:noFill/>
        </p:spPr>
        <p:txBody>
          <a:bodyPr wrap="square" lIns="0" tIns="0" rIns="0" bIns="0" rtlCol="0" anchor="ctr"/>
          <a:lstStyle/>
          <a:p>
            <a:pPr marL="0" indent="0">
              <a:buNone/>
            </a:pPr>
            <a:r>
              <a:rPr lang="en-US" sz="1200" b="1" dirty="0">
                <a:solidFill>
                  <a:srgbClr val="1A2E3B"/>
                </a:solidFill>
                <a:latin typeface="Trebuchet MS" pitchFamily="34" charset="0"/>
                <a:ea typeface="Trebuchet MS" pitchFamily="34" charset="-122"/>
                <a:cs typeface="Trebuchet MS" pitchFamily="34" charset="-120"/>
              </a:rPr>
              <a:t>Bloque de Features Numéricas — siempre concatenado</a:t>
            </a:r>
            <a:endParaRPr lang="en-US" sz="1200" dirty="0"/>
          </a:p>
        </p:txBody>
      </p:sp>
      <p:sp>
        <p:nvSpPr>
          <p:cNvPr id="16" name="Text 14"/>
          <p:cNvSpPr/>
          <p:nvPr/>
        </p:nvSpPr>
        <p:spPr>
          <a:xfrm>
            <a:off x="4901184" y="1225296"/>
            <a:ext cx="4005072" cy="794004"/>
          </a:xfrm>
          <a:prstGeom prst="rect">
            <a:avLst/>
          </a:prstGeom>
          <a:noFill/>
        </p:spPr>
        <p:txBody>
          <a:bodyPr wrap="square" lIns="0" tIns="0" rIns="0" bIns="0" rtlCol="0" anchor="t"/>
          <a:lstStyle/>
          <a:p>
            <a:pPr marL="0" indent="0">
              <a:buNone/>
            </a:pPr>
            <a:r>
              <a:rPr lang="en-US" sz="1120" dirty="0">
                <a:solidFill>
                  <a:srgbClr val="4A6778"/>
                </a:solidFill>
                <a:latin typeface="Calibri" pitchFamily="34" charset="0"/>
                <a:ea typeface="Calibri" pitchFamily="34" charset="-122"/>
                <a:cs typeface="Calibri" pitchFamily="34" charset="-120"/>
              </a:rPr>
              <a:t>polaridad_score · ifb_score · impacto_escala · num_palabras · peso_reddit · score_queja_salud. Todos pasan por StandardScaler (media=0, σ=1). Se añaden vía hstack([X_texto | X_bert | X_num]) → X_final (n_docs × n_features_total) en formato CSR.</a:t>
            </a:r>
            <a:endParaRPr lang="en-US" sz="1120" dirty="0"/>
          </a:p>
        </p:txBody>
      </p:sp>
      <p:sp>
        <p:nvSpPr>
          <p:cNvPr id="17" name="Shape 15"/>
          <p:cNvSpPr/>
          <p:nvPr/>
        </p:nvSpPr>
        <p:spPr>
          <a:xfrm>
            <a:off x="274320" y="2165604"/>
            <a:ext cx="4224528" cy="1196340"/>
          </a:xfrm>
          <a:prstGeom prst="rect">
            <a:avLst/>
          </a:prstGeom>
          <a:solidFill>
            <a:srgbClr val="FFFFFF"/>
          </a:solidFill>
          <a:ln w="12700">
            <a:solidFill>
              <a:srgbClr val="D8E8F0"/>
            </a:solidFill>
            <a:prstDash val="solid"/>
          </a:ln>
          <a:effectLst>
            <a:outerShdw blurRad="63500" dist="25400" dir="8100000" algn="bl" rotWithShape="0">
              <a:srgbClr val="000000">
                <a:alpha val="8000"/>
              </a:srgbClr>
            </a:outerShdw>
          </a:effectLst>
        </p:spPr>
      </p:sp>
      <p:sp>
        <p:nvSpPr>
          <p:cNvPr id="18" name="Shape 16"/>
          <p:cNvSpPr/>
          <p:nvPr/>
        </p:nvSpPr>
        <p:spPr>
          <a:xfrm>
            <a:off x="274320" y="2165604"/>
            <a:ext cx="73152" cy="1196340"/>
          </a:xfrm>
          <a:prstGeom prst="rect">
            <a:avLst/>
          </a:prstGeom>
          <a:solidFill>
            <a:srgbClr val="E07B39"/>
          </a:solidFill>
          <a:ln w="12700">
            <a:solidFill>
              <a:srgbClr val="E07B39"/>
            </a:solidFill>
            <a:prstDash val="solid"/>
          </a:ln>
        </p:spPr>
      </p:sp>
      <p:sp>
        <p:nvSpPr>
          <p:cNvPr id="19" name="Shape 17"/>
          <p:cNvSpPr/>
          <p:nvPr/>
        </p:nvSpPr>
        <p:spPr>
          <a:xfrm>
            <a:off x="3511296" y="2247900"/>
            <a:ext cx="941832" cy="237744"/>
          </a:xfrm>
          <a:prstGeom prst="rect">
            <a:avLst/>
          </a:prstGeom>
          <a:solidFill>
            <a:srgbClr val="E07B39"/>
          </a:solidFill>
          <a:ln w="12700">
            <a:solidFill>
              <a:srgbClr val="E07B39"/>
            </a:solidFill>
            <a:prstDash val="solid"/>
          </a:ln>
        </p:spPr>
      </p:sp>
      <p:sp>
        <p:nvSpPr>
          <p:cNvPr id="20" name="Text 18"/>
          <p:cNvSpPr/>
          <p:nvPr/>
        </p:nvSpPr>
        <p:spPr>
          <a:xfrm>
            <a:off x="3511296" y="2247900"/>
            <a:ext cx="941832" cy="237744"/>
          </a:xfrm>
          <a:prstGeom prst="rect">
            <a:avLst/>
          </a:prstGeom>
          <a:noFill/>
        </p:spPr>
        <p:txBody>
          <a:bodyPr wrap="square" lIns="0" tIns="0" rIns="0" bIns="0" rtlCol="0" anchor="ctr"/>
          <a:lstStyle/>
          <a:p>
            <a:pPr marL="0" indent="0" algn="ctr">
              <a:buNone/>
            </a:pPr>
            <a:r>
              <a:rPr lang="en-US" sz="850" b="1" dirty="0">
                <a:solidFill>
                  <a:srgbClr val="021B2E"/>
                </a:solidFill>
                <a:latin typeface="Calibri" pitchFamily="34" charset="0"/>
                <a:ea typeface="Calibri" pitchFamily="34" charset="-122"/>
                <a:cs typeface="Calibri" pitchFamily="34" charset="-120"/>
              </a:rPr>
              <a:t>.npz</a:t>
            </a:r>
            <a:endParaRPr lang="en-US" sz="850" dirty="0"/>
          </a:p>
        </p:txBody>
      </p:sp>
      <p:sp>
        <p:nvSpPr>
          <p:cNvPr id="21" name="Text 19"/>
          <p:cNvSpPr/>
          <p:nvPr/>
        </p:nvSpPr>
        <p:spPr>
          <a:xfrm>
            <a:off x="438912" y="2247900"/>
            <a:ext cx="3054096" cy="274320"/>
          </a:xfrm>
          <a:prstGeom prst="rect">
            <a:avLst/>
          </a:prstGeom>
          <a:noFill/>
        </p:spPr>
        <p:txBody>
          <a:bodyPr wrap="square" lIns="0" tIns="0" rIns="0" bIns="0" rtlCol="0" anchor="ctr"/>
          <a:lstStyle/>
          <a:p>
            <a:pPr marL="0" indent="0">
              <a:buNone/>
            </a:pPr>
            <a:r>
              <a:rPr lang="en-US" sz="1200" b="1" dirty="0">
                <a:solidFill>
                  <a:srgbClr val="1A2E3B"/>
                </a:solidFill>
                <a:latin typeface="Trebuchet MS" pitchFamily="34" charset="0"/>
                <a:ea typeface="Trebuchet MS" pitchFamily="34" charset="-122"/>
                <a:cs typeface="Trebuchet MS" pitchFamily="34" charset="-120"/>
              </a:rPr>
              <a:t>Artefacto X_features.npz — Matriz sparse CSR</a:t>
            </a:r>
            <a:endParaRPr lang="en-US" sz="1200" dirty="0"/>
          </a:p>
        </p:txBody>
      </p:sp>
      <p:sp>
        <p:nvSpPr>
          <p:cNvPr id="22" name="Text 20"/>
          <p:cNvSpPr/>
          <p:nvPr/>
        </p:nvSpPr>
        <p:spPr>
          <a:xfrm>
            <a:off x="438912" y="2513076"/>
            <a:ext cx="4005072" cy="794004"/>
          </a:xfrm>
          <a:prstGeom prst="rect">
            <a:avLst/>
          </a:prstGeom>
          <a:noFill/>
        </p:spPr>
        <p:txBody>
          <a:bodyPr wrap="square" lIns="0" tIns="0" rIns="0" bIns="0" rtlCol="0" anchor="t"/>
          <a:lstStyle/>
          <a:p>
            <a:pPr marL="0" indent="0">
              <a:buNone/>
            </a:pPr>
            <a:r>
              <a:rPr lang="en-US" sz="1120" dirty="0">
                <a:solidFill>
                  <a:srgbClr val="4A6778"/>
                </a:solidFill>
                <a:latin typeface="Calibri" pitchFamily="34" charset="0"/>
                <a:ea typeface="Calibri" pitchFamily="34" charset="-122"/>
                <a:cs typeface="Calibri" pitchFamily="34" charset="-120"/>
              </a:rPr>
              <a:t>Matriz principal de features. Shape: (n_docs × n_features_total). Formato CSR para eficiencia de memoria. Entrada directa para los clasificadores de modelos.py.</a:t>
            </a:r>
            <a:endParaRPr lang="en-US" sz="1120" dirty="0"/>
          </a:p>
        </p:txBody>
      </p:sp>
      <p:sp>
        <p:nvSpPr>
          <p:cNvPr id="23" name="Shape 21"/>
          <p:cNvSpPr/>
          <p:nvPr/>
        </p:nvSpPr>
        <p:spPr>
          <a:xfrm>
            <a:off x="4736592" y="2165604"/>
            <a:ext cx="4224528" cy="1196340"/>
          </a:xfrm>
          <a:prstGeom prst="rect">
            <a:avLst/>
          </a:prstGeom>
          <a:solidFill>
            <a:srgbClr val="FFFFFF"/>
          </a:solidFill>
          <a:ln w="12700">
            <a:solidFill>
              <a:srgbClr val="D8E8F0"/>
            </a:solidFill>
            <a:prstDash val="solid"/>
          </a:ln>
          <a:effectLst>
            <a:outerShdw blurRad="63500" dist="25400" dir="8100000" algn="bl" rotWithShape="0">
              <a:srgbClr val="000000">
                <a:alpha val="8000"/>
              </a:srgbClr>
            </a:outerShdw>
          </a:effectLst>
        </p:spPr>
      </p:sp>
      <p:sp>
        <p:nvSpPr>
          <p:cNvPr id="24" name="Shape 22"/>
          <p:cNvSpPr/>
          <p:nvPr/>
        </p:nvSpPr>
        <p:spPr>
          <a:xfrm>
            <a:off x="4736592" y="2165604"/>
            <a:ext cx="73152" cy="1196340"/>
          </a:xfrm>
          <a:prstGeom prst="rect">
            <a:avLst/>
          </a:prstGeom>
          <a:solidFill>
            <a:srgbClr val="E07B39"/>
          </a:solidFill>
          <a:ln w="12700">
            <a:solidFill>
              <a:srgbClr val="E07B39"/>
            </a:solidFill>
            <a:prstDash val="solid"/>
          </a:ln>
        </p:spPr>
      </p:sp>
      <p:sp>
        <p:nvSpPr>
          <p:cNvPr id="25" name="Shape 23"/>
          <p:cNvSpPr/>
          <p:nvPr/>
        </p:nvSpPr>
        <p:spPr>
          <a:xfrm>
            <a:off x="7973568" y="2247900"/>
            <a:ext cx="941832" cy="237744"/>
          </a:xfrm>
          <a:prstGeom prst="rect">
            <a:avLst/>
          </a:prstGeom>
          <a:solidFill>
            <a:srgbClr val="E07B39"/>
          </a:solidFill>
          <a:ln w="12700">
            <a:solidFill>
              <a:srgbClr val="E07B39"/>
            </a:solidFill>
            <a:prstDash val="solid"/>
          </a:ln>
        </p:spPr>
      </p:sp>
      <p:sp>
        <p:nvSpPr>
          <p:cNvPr id="26" name="Text 24"/>
          <p:cNvSpPr/>
          <p:nvPr/>
        </p:nvSpPr>
        <p:spPr>
          <a:xfrm>
            <a:off x="7973568" y="2247900"/>
            <a:ext cx="941832" cy="237744"/>
          </a:xfrm>
          <a:prstGeom prst="rect">
            <a:avLst/>
          </a:prstGeom>
          <a:noFill/>
        </p:spPr>
        <p:txBody>
          <a:bodyPr wrap="square" lIns="0" tIns="0" rIns="0" bIns="0" rtlCol="0" anchor="ctr"/>
          <a:lstStyle/>
          <a:p>
            <a:pPr marL="0" indent="0" algn="ctr">
              <a:buNone/>
            </a:pPr>
            <a:r>
              <a:rPr lang="en-US" sz="850" b="1" dirty="0">
                <a:solidFill>
                  <a:srgbClr val="021B2E"/>
                </a:solidFill>
                <a:latin typeface="Calibri" pitchFamily="34" charset="0"/>
                <a:ea typeface="Calibri" pitchFamily="34" charset="-122"/>
                <a:cs typeface="Calibri" pitchFamily="34" charset="-120"/>
              </a:rPr>
              <a:t>.pkl</a:t>
            </a:r>
            <a:endParaRPr lang="en-US" sz="850" dirty="0"/>
          </a:p>
        </p:txBody>
      </p:sp>
      <p:sp>
        <p:nvSpPr>
          <p:cNvPr id="27" name="Text 25"/>
          <p:cNvSpPr/>
          <p:nvPr/>
        </p:nvSpPr>
        <p:spPr>
          <a:xfrm>
            <a:off x="4901184" y="2247900"/>
            <a:ext cx="3054096" cy="274320"/>
          </a:xfrm>
          <a:prstGeom prst="rect">
            <a:avLst/>
          </a:prstGeom>
          <a:noFill/>
        </p:spPr>
        <p:txBody>
          <a:bodyPr wrap="square" lIns="0" tIns="0" rIns="0" bIns="0" rtlCol="0" anchor="ctr"/>
          <a:lstStyle/>
          <a:p>
            <a:pPr marL="0" indent="0">
              <a:buNone/>
            </a:pPr>
            <a:r>
              <a:rPr lang="en-US" sz="1200" b="1" dirty="0">
                <a:solidFill>
                  <a:srgbClr val="1A2E3B"/>
                </a:solidFill>
                <a:latin typeface="Trebuchet MS" pitchFamily="34" charset="0"/>
                <a:ea typeface="Trebuchet MS" pitchFamily="34" charset="-122"/>
                <a:cs typeface="Trebuchet MS" pitchFamily="34" charset="-120"/>
              </a:rPr>
              <a:t>Artefacto vectorizador.pkl — Pipeline serializado</a:t>
            </a:r>
            <a:endParaRPr lang="en-US" sz="1200" dirty="0"/>
          </a:p>
        </p:txBody>
      </p:sp>
      <p:sp>
        <p:nvSpPr>
          <p:cNvPr id="28" name="Text 26"/>
          <p:cNvSpPr/>
          <p:nvPr/>
        </p:nvSpPr>
        <p:spPr>
          <a:xfrm>
            <a:off x="4901184" y="2513076"/>
            <a:ext cx="4005072" cy="794004"/>
          </a:xfrm>
          <a:prstGeom prst="rect">
            <a:avLst/>
          </a:prstGeom>
          <a:noFill/>
        </p:spPr>
        <p:txBody>
          <a:bodyPr wrap="square" lIns="0" tIns="0" rIns="0" bIns="0" rtlCol="0" anchor="t"/>
          <a:lstStyle/>
          <a:p>
            <a:pPr marL="0" indent="0">
              <a:buNone/>
            </a:pPr>
            <a:r>
              <a:rPr lang="en-US" sz="1120" dirty="0">
                <a:solidFill>
                  <a:srgbClr val="4A6778"/>
                </a:solidFill>
                <a:latin typeface="Calibri" pitchFamily="34" charset="0"/>
                <a:ea typeface="Calibri" pitchFamily="34" charset="-122"/>
                <a:cs typeface="Calibri" pitchFamily="34" charset="-120"/>
              </a:rPr>
              <a:t>Contiene: vectorizador + scaler + selector + estrategia + mapa_etiqueta. Permite hacer inferencia sobre nuevos comentarios sin re-entrenar. Debe mantenerse junto a X_features.npz y y_labels.npy con el mismo timestamp.</a:t>
            </a:r>
            <a:endParaRPr lang="en-US" sz="1120" dirty="0"/>
          </a:p>
        </p:txBody>
      </p:sp>
      <p:sp>
        <p:nvSpPr>
          <p:cNvPr id="29" name="Shape 27"/>
          <p:cNvSpPr/>
          <p:nvPr/>
        </p:nvSpPr>
        <p:spPr>
          <a:xfrm>
            <a:off x="274320" y="3453384"/>
            <a:ext cx="4224528" cy="1196340"/>
          </a:xfrm>
          <a:prstGeom prst="rect">
            <a:avLst/>
          </a:prstGeom>
          <a:solidFill>
            <a:srgbClr val="FFFFFF"/>
          </a:solidFill>
          <a:ln w="12700">
            <a:solidFill>
              <a:srgbClr val="D8E8F0"/>
            </a:solidFill>
            <a:prstDash val="solid"/>
          </a:ln>
          <a:effectLst>
            <a:outerShdw blurRad="63500" dist="25400" dir="8100000" algn="bl" rotWithShape="0">
              <a:srgbClr val="000000">
                <a:alpha val="8000"/>
              </a:srgbClr>
            </a:outerShdw>
          </a:effectLst>
        </p:spPr>
      </p:sp>
      <p:sp>
        <p:nvSpPr>
          <p:cNvPr id="30" name="Shape 28"/>
          <p:cNvSpPr/>
          <p:nvPr/>
        </p:nvSpPr>
        <p:spPr>
          <a:xfrm>
            <a:off x="274320" y="3453384"/>
            <a:ext cx="73152" cy="1196340"/>
          </a:xfrm>
          <a:prstGeom prst="rect">
            <a:avLst/>
          </a:prstGeom>
          <a:solidFill>
            <a:srgbClr val="E07B39"/>
          </a:solidFill>
          <a:ln w="12700">
            <a:solidFill>
              <a:srgbClr val="E07B39"/>
            </a:solidFill>
            <a:prstDash val="solid"/>
          </a:ln>
        </p:spPr>
      </p:sp>
      <p:sp>
        <p:nvSpPr>
          <p:cNvPr id="31" name="Shape 29"/>
          <p:cNvSpPr/>
          <p:nvPr/>
        </p:nvSpPr>
        <p:spPr>
          <a:xfrm>
            <a:off x="3511296" y="3535680"/>
            <a:ext cx="941832" cy="237744"/>
          </a:xfrm>
          <a:prstGeom prst="rect">
            <a:avLst/>
          </a:prstGeom>
          <a:solidFill>
            <a:srgbClr val="E07B39"/>
          </a:solidFill>
          <a:ln w="12700">
            <a:solidFill>
              <a:srgbClr val="E07B39"/>
            </a:solidFill>
            <a:prstDash val="solid"/>
          </a:ln>
        </p:spPr>
      </p:sp>
      <p:sp>
        <p:nvSpPr>
          <p:cNvPr id="32" name="Text 30"/>
          <p:cNvSpPr/>
          <p:nvPr/>
        </p:nvSpPr>
        <p:spPr>
          <a:xfrm>
            <a:off x="3511296" y="3535680"/>
            <a:ext cx="941832" cy="237744"/>
          </a:xfrm>
          <a:prstGeom prst="rect">
            <a:avLst/>
          </a:prstGeom>
          <a:noFill/>
        </p:spPr>
        <p:txBody>
          <a:bodyPr wrap="square" lIns="0" tIns="0" rIns="0" bIns="0" rtlCol="0" anchor="ctr"/>
          <a:lstStyle/>
          <a:p>
            <a:pPr marL="0" indent="0" algn="ctr">
              <a:buNone/>
            </a:pPr>
            <a:r>
              <a:rPr lang="en-US" sz="850" b="1" dirty="0">
                <a:solidFill>
                  <a:srgbClr val="021B2E"/>
                </a:solidFill>
                <a:latin typeface="Calibri" pitchFamily="34" charset="0"/>
                <a:ea typeface="Calibri" pitchFamily="34" charset="-122"/>
                <a:cs typeface="Calibri" pitchFamily="34" charset="-120"/>
              </a:rPr>
              <a:t>.npy</a:t>
            </a:r>
            <a:endParaRPr lang="en-US" sz="850" dirty="0"/>
          </a:p>
        </p:txBody>
      </p:sp>
      <p:sp>
        <p:nvSpPr>
          <p:cNvPr id="33" name="Text 31"/>
          <p:cNvSpPr/>
          <p:nvPr/>
        </p:nvSpPr>
        <p:spPr>
          <a:xfrm>
            <a:off x="438912" y="3535680"/>
            <a:ext cx="3054096" cy="274320"/>
          </a:xfrm>
          <a:prstGeom prst="rect">
            <a:avLst/>
          </a:prstGeom>
          <a:noFill/>
        </p:spPr>
        <p:txBody>
          <a:bodyPr wrap="square" lIns="0" tIns="0" rIns="0" bIns="0" rtlCol="0" anchor="ctr"/>
          <a:lstStyle/>
          <a:p>
            <a:pPr marL="0" indent="0">
              <a:buNone/>
            </a:pPr>
            <a:r>
              <a:rPr lang="en-US" sz="1200" b="1" dirty="0">
                <a:solidFill>
                  <a:srgbClr val="1A2E3B"/>
                </a:solidFill>
                <a:latin typeface="Trebuchet MS" pitchFamily="34" charset="0"/>
                <a:ea typeface="Trebuchet MS" pitchFamily="34" charset="-122"/>
                <a:cs typeface="Trebuchet MS" pitchFamily="34" charset="-120"/>
              </a:rPr>
              <a:t>Artefacto y_labels.npy — Etiquetas binarias</a:t>
            </a:r>
            <a:endParaRPr lang="en-US" sz="1200" dirty="0"/>
          </a:p>
        </p:txBody>
      </p:sp>
      <p:sp>
        <p:nvSpPr>
          <p:cNvPr id="34" name="Text 32"/>
          <p:cNvSpPr/>
          <p:nvPr/>
        </p:nvSpPr>
        <p:spPr>
          <a:xfrm>
            <a:off x="438912" y="3800856"/>
            <a:ext cx="4005072" cy="794004"/>
          </a:xfrm>
          <a:prstGeom prst="rect">
            <a:avLst/>
          </a:prstGeom>
          <a:noFill/>
        </p:spPr>
        <p:txBody>
          <a:bodyPr wrap="square" lIns="0" tIns="0" rIns="0" bIns="0" rtlCol="0" anchor="t"/>
          <a:lstStyle/>
          <a:p>
            <a:pPr marL="0" indent="0">
              <a:buNone/>
            </a:pPr>
            <a:r>
              <a:rPr lang="en-US" sz="1120" dirty="0">
                <a:solidFill>
                  <a:srgbClr val="4A6778"/>
                </a:solidFill>
                <a:latin typeface="Calibri" pitchFamily="34" charset="0"/>
                <a:ea typeface="Calibri" pitchFamily="34" charset="-122"/>
                <a:cs typeface="Calibri" pitchFamily="34" charset="-120"/>
              </a:rPr>
              <a:t>Vector de etiquetas por comentario: 0 = relevancia 'media' · 1 = relevancia 'alta'. Generado a partir del campo relevancia del dataset normalizado.</a:t>
            </a:r>
            <a:endParaRPr lang="en-US" sz="1120" dirty="0"/>
          </a:p>
        </p:txBody>
      </p:sp>
      <p:sp>
        <p:nvSpPr>
          <p:cNvPr id="35" name="Shape 33"/>
          <p:cNvSpPr/>
          <p:nvPr/>
        </p:nvSpPr>
        <p:spPr>
          <a:xfrm>
            <a:off x="4736592" y="3453384"/>
            <a:ext cx="4224528" cy="1196340"/>
          </a:xfrm>
          <a:prstGeom prst="rect">
            <a:avLst/>
          </a:prstGeom>
          <a:solidFill>
            <a:srgbClr val="FFFFFF"/>
          </a:solidFill>
          <a:ln w="12700">
            <a:solidFill>
              <a:srgbClr val="D8E8F0"/>
            </a:solidFill>
            <a:prstDash val="solid"/>
          </a:ln>
          <a:effectLst>
            <a:outerShdw blurRad="63500" dist="25400" dir="8100000" algn="bl" rotWithShape="0">
              <a:srgbClr val="000000">
                <a:alpha val="8000"/>
              </a:srgbClr>
            </a:outerShdw>
          </a:effectLst>
        </p:spPr>
      </p:sp>
      <p:sp>
        <p:nvSpPr>
          <p:cNvPr id="36" name="Shape 34"/>
          <p:cNvSpPr/>
          <p:nvPr/>
        </p:nvSpPr>
        <p:spPr>
          <a:xfrm>
            <a:off x="4736592" y="3453384"/>
            <a:ext cx="73152" cy="1196340"/>
          </a:xfrm>
          <a:prstGeom prst="rect">
            <a:avLst/>
          </a:prstGeom>
          <a:solidFill>
            <a:srgbClr val="E07B39"/>
          </a:solidFill>
          <a:ln w="12700">
            <a:solidFill>
              <a:srgbClr val="E07B39"/>
            </a:solidFill>
            <a:prstDash val="solid"/>
          </a:ln>
        </p:spPr>
      </p:sp>
      <p:sp>
        <p:nvSpPr>
          <p:cNvPr id="37" name="Shape 35"/>
          <p:cNvSpPr/>
          <p:nvPr/>
        </p:nvSpPr>
        <p:spPr>
          <a:xfrm>
            <a:off x="7973568" y="3535680"/>
            <a:ext cx="941832" cy="237744"/>
          </a:xfrm>
          <a:prstGeom prst="rect">
            <a:avLst/>
          </a:prstGeom>
          <a:solidFill>
            <a:srgbClr val="E07B39"/>
          </a:solidFill>
          <a:ln w="12700">
            <a:solidFill>
              <a:srgbClr val="E07B39"/>
            </a:solidFill>
            <a:prstDash val="solid"/>
          </a:ln>
        </p:spPr>
      </p:sp>
      <p:sp>
        <p:nvSpPr>
          <p:cNvPr id="38" name="Text 36"/>
          <p:cNvSpPr/>
          <p:nvPr/>
        </p:nvSpPr>
        <p:spPr>
          <a:xfrm>
            <a:off x="7973568" y="3535680"/>
            <a:ext cx="941832" cy="237744"/>
          </a:xfrm>
          <a:prstGeom prst="rect">
            <a:avLst/>
          </a:prstGeom>
          <a:noFill/>
        </p:spPr>
        <p:txBody>
          <a:bodyPr wrap="square" lIns="0" tIns="0" rIns="0" bIns="0" rtlCol="0" anchor="ctr"/>
          <a:lstStyle/>
          <a:p>
            <a:pPr marL="0" indent="0" algn="ctr">
              <a:buNone/>
            </a:pPr>
            <a:r>
              <a:rPr lang="en-US" sz="850" b="1" dirty="0">
                <a:solidFill>
                  <a:srgbClr val="021B2E"/>
                </a:solidFill>
                <a:latin typeface="Calibri" pitchFamily="34" charset="0"/>
                <a:ea typeface="Calibri" pitchFamily="34" charset="-122"/>
                <a:cs typeface="Calibri" pitchFamily="34" charset="-120"/>
              </a:rPr>
              <a:t>.json</a:t>
            </a:r>
            <a:endParaRPr lang="en-US" sz="850" dirty="0"/>
          </a:p>
        </p:txBody>
      </p:sp>
      <p:sp>
        <p:nvSpPr>
          <p:cNvPr id="39" name="Text 37"/>
          <p:cNvSpPr/>
          <p:nvPr/>
        </p:nvSpPr>
        <p:spPr>
          <a:xfrm>
            <a:off x="4901184" y="3535680"/>
            <a:ext cx="3054096" cy="274320"/>
          </a:xfrm>
          <a:prstGeom prst="rect">
            <a:avLst/>
          </a:prstGeom>
          <a:noFill/>
        </p:spPr>
        <p:txBody>
          <a:bodyPr wrap="square" lIns="0" tIns="0" rIns="0" bIns="0" rtlCol="0" anchor="ctr"/>
          <a:lstStyle/>
          <a:p>
            <a:pPr marL="0" indent="0">
              <a:buNone/>
            </a:pPr>
            <a:r>
              <a:rPr lang="en-US" sz="1200" b="1" dirty="0">
                <a:solidFill>
                  <a:srgbClr val="1A2E3B"/>
                </a:solidFill>
                <a:latin typeface="Trebuchet MS" pitchFamily="34" charset="0"/>
                <a:ea typeface="Trebuchet MS" pitchFamily="34" charset="-122"/>
                <a:cs typeface="Trebuchet MS" pitchFamily="34" charset="-120"/>
              </a:rPr>
              <a:t>Artefacto reporte_vectorizacion.json — Estadísticas</a:t>
            </a:r>
            <a:endParaRPr lang="en-US" sz="1200" dirty="0"/>
          </a:p>
        </p:txBody>
      </p:sp>
      <p:sp>
        <p:nvSpPr>
          <p:cNvPr id="40" name="Text 38"/>
          <p:cNvSpPr/>
          <p:nvPr/>
        </p:nvSpPr>
        <p:spPr>
          <a:xfrm>
            <a:off x="4901184" y="3800856"/>
            <a:ext cx="4005072" cy="794004"/>
          </a:xfrm>
          <a:prstGeom prst="rect">
            <a:avLst/>
          </a:prstGeom>
          <a:noFill/>
        </p:spPr>
        <p:txBody>
          <a:bodyPr wrap="square" lIns="0" tIns="0" rIns="0" bIns="0" rtlCol="0" anchor="t"/>
          <a:lstStyle/>
          <a:p>
            <a:pPr marL="0" indent="0">
              <a:buNone/>
            </a:pPr>
            <a:r>
              <a:rPr lang="en-US" sz="1120" dirty="0">
                <a:solidFill>
                  <a:srgbClr val="4A6778"/>
                </a:solidFill>
                <a:latin typeface="Calibri" pitchFamily="34" charset="0"/>
                <a:ea typeface="Calibri" pitchFamily="34" charset="-122"/>
                <a:cs typeface="Calibri" pitchFamily="34" charset="-120"/>
              </a:rPr>
              <a:t>Top features del corpus, distribución de clases, sparsity de la matriz, parámetros usados en la vectorización. Útil para auditoría y reproducibilidad del experimento.</a:t>
            </a:r>
            <a:endParaRPr lang="en-US" sz="1120" dirty="0"/>
          </a:p>
        </p:txBody>
      </p:sp>
      <p:sp>
        <p:nvSpPr>
          <p:cNvPr id="41" name="Shape 39"/>
          <p:cNvSpPr/>
          <p:nvPr/>
        </p:nvSpPr>
        <p:spPr>
          <a:xfrm>
            <a:off x="274320" y="4695444"/>
            <a:ext cx="8595360" cy="402336"/>
          </a:xfrm>
          <a:prstGeom prst="rect">
            <a:avLst/>
          </a:prstGeom>
          <a:solidFill>
            <a:srgbClr val="021B2E"/>
          </a:solidFill>
          <a:ln w="12700">
            <a:solidFill>
              <a:srgbClr val="021B2E"/>
            </a:solidFill>
            <a:prstDash val="solid"/>
          </a:ln>
        </p:spPr>
      </p:sp>
      <p:sp>
        <p:nvSpPr>
          <p:cNvPr id="42" name="Text 40"/>
          <p:cNvSpPr/>
          <p:nvPr/>
        </p:nvSpPr>
        <p:spPr>
          <a:xfrm>
            <a:off x="457200" y="4695444"/>
            <a:ext cx="8229600" cy="402336"/>
          </a:xfrm>
          <a:prstGeom prst="rect">
            <a:avLst/>
          </a:prstGeom>
          <a:noFill/>
        </p:spPr>
        <p:txBody>
          <a:bodyPr wrap="square" lIns="0" tIns="0" rIns="0" bIns="0" rtlCol="0" anchor="ctr"/>
          <a:lstStyle/>
          <a:p>
            <a:pPr marL="0" indent="0">
              <a:buNone/>
            </a:pPr>
            <a:r>
              <a:rPr lang="en-US" sz="1100" i="1" dirty="0">
                <a:solidFill>
                  <a:srgbClr val="8CB8CC"/>
                </a:solidFill>
                <a:latin typeface="Calibri" pitchFamily="34" charset="0"/>
                <a:ea typeface="Calibri" pitchFamily="34" charset="-122"/>
                <a:cs typeface="Calibri" pitchFamily="34" charset="-120"/>
              </a:rPr>
              <a:t>⚠  Los cuatro artefactos deben mantenerse juntos con el mismo timestamp para garantizar coherencia entre X, y y el pipeline serializado.</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21B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8244A8"/>
          </a:solidFill>
          <a:ln w="12700">
            <a:solidFill>
              <a:srgbClr val="8244A8"/>
            </a:solidFill>
            <a:prstDash val="solid"/>
          </a:ln>
        </p:spPr>
      </p:sp>
      <p:sp>
        <p:nvSpPr>
          <p:cNvPr id="3" name="Text 1"/>
          <p:cNvSpPr/>
          <p:nvPr/>
        </p:nvSpPr>
        <p:spPr>
          <a:xfrm>
            <a:off x="5029200" y="-274320"/>
            <a:ext cx="4114800" cy="5394960"/>
          </a:xfrm>
          <a:prstGeom prst="rect">
            <a:avLst/>
          </a:prstGeom>
          <a:noFill/>
        </p:spPr>
        <p:txBody>
          <a:bodyPr wrap="square" rtlCol="0" anchor="b"/>
          <a:lstStyle/>
          <a:p>
            <a:pPr marL="0" indent="0" algn="r">
              <a:buNone/>
            </a:pPr>
            <a:r>
              <a:rPr lang="en-US" sz="20000" b="1" dirty="0">
                <a:solidFill>
                  <a:srgbClr val="065A82">
                    <a:alpha val="45000"/>
                  </a:srgbClr>
                </a:solidFill>
                <a:latin typeface="Arial Black" pitchFamily="34" charset="0"/>
                <a:ea typeface="Arial Black" pitchFamily="34" charset="-122"/>
                <a:cs typeface="Arial Black" pitchFamily="34" charset="-120"/>
              </a:rPr>
              <a:t>0</a:t>
            </a:r>
            <a:r>
              <a:rPr lang="es-ES_tradnl" altLang="en-US" sz="20000" b="1" dirty="0">
                <a:solidFill>
                  <a:srgbClr val="065A82">
                    <a:alpha val="45000"/>
                  </a:srgbClr>
                </a:solidFill>
                <a:latin typeface="Arial Black" pitchFamily="34" charset="0"/>
                <a:ea typeface="Arial Black" pitchFamily="34" charset="-122"/>
                <a:cs typeface="Arial Black" pitchFamily="34" charset="-120"/>
              </a:rPr>
              <a:t>7</a:t>
            </a:r>
            <a:endParaRPr lang="es-ES_tradnl" altLang="en-US" sz="20000" b="1" dirty="0">
              <a:solidFill>
                <a:srgbClr val="065A82">
                  <a:alpha val="45000"/>
                </a:srgbClr>
              </a:solidFill>
              <a:latin typeface="Arial Black" pitchFamily="34" charset="0"/>
              <a:ea typeface="Arial Black" pitchFamily="34" charset="-122"/>
              <a:cs typeface="Arial Black" pitchFamily="34" charset="-120"/>
            </a:endParaRPr>
          </a:p>
        </p:txBody>
      </p:sp>
      <p:sp>
        <p:nvSpPr>
          <p:cNvPr id="4" name="Shape 2"/>
          <p:cNvSpPr/>
          <p:nvPr/>
        </p:nvSpPr>
        <p:spPr>
          <a:xfrm>
            <a:off x="457200" y="384048"/>
            <a:ext cx="1920240" cy="329184"/>
          </a:xfrm>
          <a:prstGeom prst="rect">
            <a:avLst/>
          </a:prstGeom>
          <a:solidFill>
            <a:srgbClr val="8244A8"/>
          </a:solidFill>
          <a:ln w="12700">
            <a:solidFill>
              <a:srgbClr val="8244A8"/>
            </a:solidFill>
            <a:prstDash val="solid"/>
          </a:ln>
        </p:spPr>
      </p:sp>
      <p:sp>
        <p:nvSpPr>
          <p:cNvPr id="5" name="Text 3"/>
          <p:cNvSpPr/>
          <p:nvPr/>
        </p:nvSpPr>
        <p:spPr>
          <a:xfrm>
            <a:off x="457200" y="384048"/>
            <a:ext cx="1920240" cy="329184"/>
          </a:xfrm>
          <a:prstGeom prst="rect">
            <a:avLst/>
          </a:prstGeom>
          <a:noFill/>
        </p:spPr>
        <p:txBody>
          <a:bodyPr wrap="square" lIns="0" tIns="0" rIns="0" bIns="0" rtlCol="0" anchor="ctr"/>
          <a:lstStyle/>
          <a:p>
            <a:pPr marL="0" indent="0" algn="ctr">
              <a:buNone/>
            </a:pPr>
            <a:r>
              <a:rPr lang="en-US" sz="1100" b="1" dirty="0">
                <a:solidFill>
                  <a:srgbClr val="021B2E"/>
                </a:solidFill>
                <a:latin typeface="Calibri" pitchFamily="34" charset="0"/>
                <a:ea typeface="Calibri" pitchFamily="34" charset="-122"/>
                <a:cs typeface="Calibri" pitchFamily="34" charset="-120"/>
              </a:rPr>
              <a:t>MÓDULO 02</a:t>
            </a:r>
            <a:endParaRPr lang="en-US" sz="1100" dirty="0"/>
          </a:p>
        </p:txBody>
      </p:sp>
      <p:sp>
        <p:nvSpPr>
          <p:cNvPr id="6" name="Text 4"/>
          <p:cNvSpPr/>
          <p:nvPr/>
        </p:nvSpPr>
        <p:spPr>
          <a:xfrm>
            <a:off x="457200" y="960120"/>
            <a:ext cx="8229600" cy="1371600"/>
          </a:xfrm>
          <a:prstGeom prst="rect">
            <a:avLst/>
          </a:prstGeom>
          <a:noFill/>
        </p:spPr>
        <p:txBody>
          <a:bodyPr wrap="square" rtlCol="0" anchor="ctr"/>
          <a:lstStyle/>
          <a:p>
            <a:pPr marL="0" indent="0">
              <a:buNone/>
            </a:pPr>
            <a:r>
              <a:rPr lang="en-US" sz="4400" b="1" dirty="0">
                <a:solidFill>
                  <a:srgbClr val="FFFFFF"/>
                </a:solidFill>
                <a:latin typeface="Trebuchet MS" pitchFamily="34" charset="0"/>
                <a:ea typeface="Trebuchet MS" pitchFamily="34" charset="-122"/>
                <a:cs typeface="Trebuchet MS" pitchFamily="34" charset="-120"/>
              </a:rPr>
              <a:t>modelos.py</a:t>
            </a:r>
            <a:endParaRPr lang="en-US" sz="4400" dirty="0"/>
          </a:p>
        </p:txBody>
      </p:sp>
      <p:sp>
        <p:nvSpPr>
          <p:cNvPr id="7" name="Text 5"/>
          <p:cNvSpPr/>
          <p:nvPr/>
        </p:nvSpPr>
        <p:spPr>
          <a:xfrm>
            <a:off x="457200" y="2514600"/>
            <a:ext cx="6400800" cy="502920"/>
          </a:xfrm>
          <a:prstGeom prst="rect">
            <a:avLst/>
          </a:prstGeom>
          <a:noFill/>
        </p:spPr>
        <p:txBody>
          <a:bodyPr wrap="square" rtlCol="0" anchor="ctr"/>
          <a:lstStyle/>
          <a:p>
            <a:pPr marL="0" indent="0">
              <a:buNone/>
            </a:pPr>
            <a:r>
              <a:rPr lang="en-US" sz="1600" i="1" dirty="0">
                <a:solidFill>
                  <a:srgbClr val="8CB8CC"/>
                </a:solidFill>
                <a:latin typeface="Calibri" pitchFamily="34" charset="0"/>
                <a:ea typeface="Calibri" pitchFamily="34" charset="-122"/>
                <a:cs typeface="Calibri" pitchFamily="34" charset="-120"/>
              </a:rPr>
              <a:t>4 clasificadores · API fit/predict/predict_proba · Ensamble soft voting</a:t>
            </a:r>
            <a:endParaRPr lang="en-US" sz="1600" dirty="0"/>
          </a:p>
        </p:txBody>
      </p:sp>
      <p:sp>
        <p:nvSpPr>
          <p:cNvPr id="8" name="Text 6"/>
          <p:cNvSpPr/>
          <p:nvPr/>
        </p:nvSpPr>
        <p:spPr>
          <a:xfrm>
            <a:off x="457200" y="3090672"/>
            <a:ext cx="6400800" cy="329184"/>
          </a:xfrm>
          <a:prstGeom prst="rect">
            <a:avLst/>
          </a:prstGeom>
          <a:noFill/>
        </p:spPr>
        <p:txBody>
          <a:bodyPr wrap="square" rtlCol="0" anchor="ctr"/>
          <a:lstStyle/>
          <a:p>
            <a:pPr marL="0" indent="0">
              <a:buNone/>
            </a:pPr>
            <a:r>
              <a:rPr lang="en-US" sz="1300" dirty="0">
                <a:solidFill>
                  <a:srgbClr val="8244A8"/>
                </a:solidFill>
                <a:latin typeface="Calibri" pitchFamily="34" charset="0"/>
                <a:ea typeface="Calibri" pitchFamily="34" charset="-122"/>
                <a:cs typeface="Calibri" pitchFamily="34" charset="-120"/>
              </a:rPr>
              <a:t>scikit-learn ≥ 1.3  ·  Clasificación binaria: alta / media</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0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65A82"/>
          </a:solidFill>
          <a:ln w="12700">
            <a:solidFill>
              <a:srgbClr val="065A82"/>
            </a:solidFill>
            <a:prstDash val="solid"/>
          </a:ln>
        </p:spPr>
      </p:sp>
      <p:sp>
        <p:nvSpPr>
          <p:cNvPr id="3" name="Shape 1"/>
          <p:cNvSpPr/>
          <p:nvPr/>
        </p:nvSpPr>
        <p:spPr>
          <a:xfrm>
            <a:off x="0" y="731520"/>
            <a:ext cx="9144000" cy="64008"/>
          </a:xfrm>
          <a:prstGeom prst="rect">
            <a:avLst/>
          </a:prstGeom>
          <a:solidFill>
            <a:srgbClr val="8244A8"/>
          </a:solidFill>
          <a:ln w="12700">
            <a:solidFill>
              <a:srgbClr val="8244A8"/>
            </a:solidFill>
            <a:prstDash val="solid"/>
          </a:ln>
        </p:spPr>
      </p:sp>
      <p:sp>
        <p:nvSpPr>
          <p:cNvPr id="4" name="Text 2"/>
          <p:cNvSpPr/>
          <p:nvPr/>
        </p:nvSpPr>
        <p:spPr>
          <a:xfrm>
            <a:off x="347472" y="0"/>
            <a:ext cx="8503920" cy="731520"/>
          </a:xfrm>
          <a:prstGeom prst="rect">
            <a:avLst/>
          </a:prstGeom>
          <a:noFill/>
        </p:spPr>
        <p:txBody>
          <a:bodyPr wrap="square" lIns="0" tIns="0" rIns="0" bIns="0" rtlCol="0" anchor="ctr"/>
          <a:lstStyle/>
          <a:p>
            <a:pPr marL="0" indent="0">
              <a:buNone/>
            </a:pPr>
            <a:r>
              <a:rPr lang="en-US" sz="2100" b="1" dirty="0">
                <a:solidFill>
                  <a:srgbClr val="FFFFFF"/>
                </a:solidFill>
                <a:latin typeface="Trebuchet MS" pitchFamily="34" charset="0"/>
                <a:ea typeface="Trebuchet MS" pitchFamily="34" charset="-122"/>
                <a:cs typeface="Trebuchet MS" pitchFamily="34" charset="-120"/>
              </a:rPr>
              <a:t>modelos.py — Los 4 Clasificadores y su Justificación</a:t>
            </a:r>
            <a:endParaRPr lang="en-US" sz="2100" dirty="0"/>
          </a:p>
        </p:txBody>
      </p:sp>
      <p:sp>
        <p:nvSpPr>
          <p:cNvPr id="5" name="Shape 3"/>
          <p:cNvSpPr/>
          <p:nvPr/>
        </p:nvSpPr>
        <p:spPr>
          <a:xfrm>
            <a:off x="274320" y="877824"/>
            <a:ext cx="8595360" cy="1360932"/>
          </a:xfrm>
          <a:prstGeom prst="rect">
            <a:avLst/>
          </a:prstGeom>
          <a:solidFill>
            <a:srgbClr val="FFFFFF"/>
          </a:solidFill>
          <a:ln w="12700">
            <a:solidFill>
              <a:srgbClr val="D8E8F0"/>
            </a:solidFill>
            <a:prstDash val="solid"/>
          </a:ln>
          <a:effectLst>
            <a:outerShdw blurRad="63500" dist="25400" dir="8100000" algn="bl" rotWithShape="0">
              <a:srgbClr val="000000">
                <a:alpha val="8000"/>
              </a:srgbClr>
            </a:outerShdw>
          </a:effectLst>
        </p:spPr>
      </p:sp>
      <p:sp>
        <p:nvSpPr>
          <p:cNvPr id="6" name="Shape 4"/>
          <p:cNvSpPr/>
          <p:nvPr/>
        </p:nvSpPr>
        <p:spPr>
          <a:xfrm>
            <a:off x="274320" y="877824"/>
            <a:ext cx="73152" cy="1360932"/>
          </a:xfrm>
          <a:prstGeom prst="rect">
            <a:avLst/>
          </a:prstGeom>
          <a:solidFill>
            <a:srgbClr val="8244A8"/>
          </a:solidFill>
          <a:ln w="12700">
            <a:solidFill>
              <a:srgbClr val="8244A8"/>
            </a:solidFill>
            <a:prstDash val="solid"/>
          </a:ln>
        </p:spPr>
      </p:sp>
      <p:sp>
        <p:nvSpPr>
          <p:cNvPr id="7" name="Shape 5"/>
          <p:cNvSpPr/>
          <p:nvPr/>
        </p:nvSpPr>
        <p:spPr>
          <a:xfrm>
            <a:off x="7882128" y="969264"/>
            <a:ext cx="914400" cy="256032"/>
          </a:xfrm>
          <a:prstGeom prst="rect">
            <a:avLst/>
          </a:prstGeom>
          <a:solidFill>
            <a:srgbClr val="8244A8"/>
          </a:solidFill>
          <a:ln w="12700">
            <a:solidFill>
              <a:srgbClr val="8244A8"/>
            </a:solidFill>
            <a:prstDash val="solid"/>
          </a:ln>
        </p:spPr>
      </p:sp>
      <p:sp>
        <p:nvSpPr>
          <p:cNvPr id="8" name="Text 6"/>
          <p:cNvSpPr/>
          <p:nvPr/>
        </p:nvSpPr>
        <p:spPr>
          <a:xfrm>
            <a:off x="7882128" y="969264"/>
            <a:ext cx="914400" cy="256032"/>
          </a:xfrm>
          <a:prstGeom prst="rect">
            <a:avLst/>
          </a:prstGeom>
          <a:noFill/>
        </p:spPr>
        <p:txBody>
          <a:bodyPr wrap="square" lIns="0" tIns="0" rIns="0" bIns="0" rtlCol="0" anchor="ctr"/>
          <a:lstStyle/>
          <a:p>
            <a:pPr marL="0" indent="0" algn="ctr">
              <a:buNone/>
            </a:pPr>
            <a:r>
              <a:rPr lang="en-US" sz="900" b="1" dirty="0">
                <a:solidFill>
                  <a:srgbClr val="021B2E"/>
                </a:solidFill>
                <a:latin typeface="Calibri" pitchFamily="34" charset="0"/>
                <a:ea typeface="Calibri" pitchFamily="34" charset="-122"/>
                <a:cs typeface="Calibri" pitchFamily="34" charset="-120"/>
              </a:rPr>
              <a:t>TEXTO PURO</a:t>
            </a:r>
            <a:endParaRPr lang="en-US" sz="900" dirty="0"/>
          </a:p>
        </p:txBody>
      </p:sp>
      <p:sp>
        <p:nvSpPr>
          <p:cNvPr id="9" name="Text 7"/>
          <p:cNvSpPr/>
          <p:nvPr/>
        </p:nvSpPr>
        <p:spPr>
          <a:xfrm>
            <a:off x="475488" y="969264"/>
            <a:ext cx="7269480" cy="301752"/>
          </a:xfrm>
          <a:prstGeom prst="rect">
            <a:avLst/>
          </a:prstGeom>
          <a:noFill/>
        </p:spPr>
        <p:txBody>
          <a:bodyPr wrap="square" lIns="0" tIns="0" rIns="0" bIns="0" rtlCol="0" anchor="ctr"/>
          <a:lstStyle/>
          <a:p>
            <a:pPr marL="0" indent="0">
              <a:buNone/>
            </a:pPr>
            <a:r>
              <a:rPr lang="en-US" sz="1350" b="1" dirty="0">
                <a:solidFill>
                  <a:srgbClr val="1A2E3B"/>
                </a:solidFill>
                <a:latin typeface="Trebuchet MS" pitchFamily="34" charset="0"/>
                <a:ea typeface="Trebuchet MS" pitchFamily="34" charset="-122"/>
                <a:cs typeface="Trebuchet MS" pitchFamily="34" charset="-120"/>
              </a:rPr>
              <a:t>ComplementNB (CNB) — Corpus desbalanceado y texto puro</a:t>
            </a:r>
            <a:endParaRPr lang="en-US" sz="1350" dirty="0"/>
          </a:p>
        </p:txBody>
      </p:sp>
      <p:sp>
        <p:nvSpPr>
          <p:cNvPr id="10" name="Text 8"/>
          <p:cNvSpPr/>
          <p:nvPr/>
        </p:nvSpPr>
        <p:spPr>
          <a:xfrm>
            <a:off x="475488" y="1261872"/>
            <a:ext cx="7955280" cy="903732"/>
          </a:xfrm>
          <a:prstGeom prst="rect">
            <a:avLst/>
          </a:prstGeom>
          <a:noFill/>
        </p:spPr>
        <p:txBody>
          <a:bodyPr wrap="square" lIns="0" tIns="0" rIns="0" bIns="0" rtlCol="0" anchor="t"/>
          <a:lstStyle/>
          <a:p>
            <a:pPr marL="0" indent="0">
              <a:buNone/>
            </a:pPr>
            <a:r>
              <a:rPr lang="en-US" sz="1250" dirty="0">
                <a:solidFill>
                  <a:srgbClr val="4A6778"/>
                </a:solidFill>
                <a:latin typeface="Calibri" pitchFamily="34" charset="0"/>
                <a:ea typeface="Calibri" pitchFamily="34" charset="-122"/>
                <a:cs typeface="Calibri" pitchFamily="34" charset="-120"/>
              </a:rPr>
              <a:t>Usa el log-prob del complemento de cada clase → más estable que MultinomialNB cuando 'media' es mayoría. Suavizado alpha=0.5, óptimo para vocabulario de dominio reducido (salud pública MX). Restricción X≥0: el pipeline incluye MaxAbsScaler + _clip_negativos que opera directamente sobre .data de la sparse matrix para evitar densificación en memoria.</a:t>
            </a:r>
            <a:endParaRPr lang="en-US" sz="1250" dirty="0"/>
          </a:p>
        </p:txBody>
      </p:sp>
      <p:sp>
        <p:nvSpPr>
          <p:cNvPr id="11" name="Shape 9"/>
          <p:cNvSpPr/>
          <p:nvPr/>
        </p:nvSpPr>
        <p:spPr>
          <a:xfrm>
            <a:off x="274320" y="2330196"/>
            <a:ext cx="8595360" cy="1360932"/>
          </a:xfrm>
          <a:prstGeom prst="rect">
            <a:avLst/>
          </a:prstGeom>
          <a:solidFill>
            <a:srgbClr val="FFFFFF"/>
          </a:solidFill>
          <a:ln w="12700">
            <a:solidFill>
              <a:srgbClr val="D8E8F0"/>
            </a:solidFill>
            <a:prstDash val="solid"/>
          </a:ln>
          <a:effectLst>
            <a:outerShdw blurRad="63500" dist="25400" dir="8100000" algn="bl" rotWithShape="0">
              <a:srgbClr val="000000">
                <a:alpha val="8000"/>
              </a:srgbClr>
            </a:outerShdw>
          </a:effectLst>
        </p:spPr>
      </p:sp>
      <p:sp>
        <p:nvSpPr>
          <p:cNvPr id="12" name="Shape 10"/>
          <p:cNvSpPr/>
          <p:nvPr/>
        </p:nvSpPr>
        <p:spPr>
          <a:xfrm>
            <a:off x="274320" y="2330196"/>
            <a:ext cx="73152" cy="1360932"/>
          </a:xfrm>
          <a:prstGeom prst="rect">
            <a:avLst/>
          </a:prstGeom>
          <a:solidFill>
            <a:srgbClr val="8244A8"/>
          </a:solidFill>
          <a:ln w="12700">
            <a:solidFill>
              <a:srgbClr val="8244A8"/>
            </a:solidFill>
            <a:prstDash val="solid"/>
          </a:ln>
        </p:spPr>
      </p:sp>
      <p:sp>
        <p:nvSpPr>
          <p:cNvPr id="13" name="Shape 11"/>
          <p:cNvSpPr/>
          <p:nvPr/>
        </p:nvSpPr>
        <p:spPr>
          <a:xfrm>
            <a:off x="7882128" y="2421636"/>
            <a:ext cx="914400" cy="256032"/>
          </a:xfrm>
          <a:prstGeom prst="rect">
            <a:avLst/>
          </a:prstGeom>
          <a:solidFill>
            <a:srgbClr val="8244A8"/>
          </a:solidFill>
          <a:ln w="12700">
            <a:solidFill>
              <a:srgbClr val="8244A8"/>
            </a:solidFill>
            <a:prstDash val="solid"/>
          </a:ln>
        </p:spPr>
      </p:sp>
      <p:sp>
        <p:nvSpPr>
          <p:cNvPr id="14" name="Text 12"/>
          <p:cNvSpPr/>
          <p:nvPr/>
        </p:nvSpPr>
        <p:spPr>
          <a:xfrm>
            <a:off x="7882128" y="2421636"/>
            <a:ext cx="914400" cy="256032"/>
          </a:xfrm>
          <a:prstGeom prst="rect">
            <a:avLst/>
          </a:prstGeom>
          <a:noFill/>
        </p:spPr>
        <p:txBody>
          <a:bodyPr wrap="square" lIns="0" tIns="0" rIns="0" bIns="0" rtlCol="0" anchor="ctr"/>
          <a:lstStyle/>
          <a:p>
            <a:pPr marL="0" indent="0" algn="ctr">
              <a:buNone/>
            </a:pPr>
            <a:r>
              <a:rPr lang="en-US" sz="900" b="1" dirty="0">
                <a:solidFill>
                  <a:srgbClr val="021B2E"/>
                </a:solidFill>
                <a:latin typeface="Calibri" pitchFamily="34" charset="0"/>
                <a:ea typeface="Calibri" pitchFamily="34" charset="-122"/>
                <a:cs typeface="Calibri" pitchFamily="34" charset="-120"/>
              </a:rPr>
              <a:t>TF-IDF+BERT</a:t>
            </a:r>
            <a:endParaRPr lang="en-US" sz="900" dirty="0"/>
          </a:p>
        </p:txBody>
      </p:sp>
      <p:sp>
        <p:nvSpPr>
          <p:cNvPr id="15" name="Text 13"/>
          <p:cNvSpPr/>
          <p:nvPr/>
        </p:nvSpPr>
        <p:spPr>
          <a:xfrm>
            <a:off x="475488" y="2421636"/>
            <a:ext cx="7269480" cy="301752"/>
          </a:xfrm>
          <a:prstGeom prst="rect">
            <a:avLst/>
          </a:prstGeom>
          <a:noFill/>
        </p:spPr>
        <p:txBody>
          <a:bodyPr wrap="square" lIns="0" tIns="0" rIns="0" bIns="0" rtlCol="0" anchor="ctr"/>
          <a:lstStyle/>
          <a:p>
            <a:pPr marL="0" indent="0">
              <a:buNone/>
            </a:pPr>
            <a:r>
              <a:rPr lang="en-US" sz="1350" b="1" dirty="0">
                <a:solidFill>
                  <a:srgbClr val="1A2E3B"/>
                </a:solidFill>
                <a:latin typeface="Trebuchet MS" pitchFamily="34" charset="0"/>
                <a:ea typeface="Trebuchet MS" pitchFamily="34" charset="-122"/>
                <a:cs typeface="Trebuchet MS" pitchFamily="34" charset="-120"/>
              </a:rPr>
              <a:t>LogisticRegression (LR) — Features correlacionadas y citabilidad en tesis</a:t>
            </a:r>
            <a:endParaRPr lang="en-US" sz="1350" dirty="0"/>
          </a:p>
        </p:txBody>
      </p:sp>
      <p:sp>
        <p:nvSpPr>
          <p:cNvPr id="16" name="Text 14"/>
          <p:cNvSpPr/>
          <p:nvPr/>
        </p:nvSpPr>
        <p:spPr>
          <a:xfrm>
            <a:off x="475488" y="2714244"/>
            <a:ext cx="7955280" cy="903732"/>
          </a:xfrm>
          <a:prstGeom prst="rect">
            <a:avLst/>
          </a:prstGeom>
          <a:noFill/>
        </p:spPr>
        <p:txBody>
          <a:bodyPr wrap="square" lIns="0" tIns="0" rIns="0" bIns="0" rtlCol="0" anchor="t"/>
          <a:lstStyle/>
          <a:p>
            <a:pPr marL="0" indent="0">
              <a:buNone/>
            </a:pPr>
            <a:r>
              <a:rPr lang="en-US" sz="1250" dirty="0">
                <a:solidFill>
                  <a:srgbClr val="4A6778"/>
                </a:solidFill>
                <a:latin typeface="Calibri" pitchFamily="34" charset="0"/>
                <a:ea typeface="Calibri" pitchFamily="34" charset="-122"/>
                <a:cs typeface="Calibri" pitchFamily="34" charset="-120"/>
              </a:rPr>
              <a:t>Aprende coeficientes β_j conjuntos sobre features correlacionadas (prob_neg BERT ↔ sentimiento_num), a diferencia de CNB que asume independencia condicional. Solver lbfgs · class_weight='balanced' (compensa distribución asimétrica) · max_iter=2000. Los coeficientes β_j son directamente citables en tesis como evidencia cuantitativa de las features más influyentes.</a:t>
            </a:r>
            <a:endParaRPr lang="en-US" sz="1250" dirty="0"/>
          </a:p>
        </p:txBody>
      </p:sp>
      <p:sp>
        <p:nvSpPr>
          <p:cNvPr id="17" name="Shape 15"/>
          <p:cNvSpPr/>
          <p:nvPr/>
        </p:nvSpPr>
        <p:spPr>
          <a:xfrm>
            <a:off x="274320" y="3782568"/>
            <a:ext cx="8595360" cy="1360932"/>
          </a:xfrm>
          <a:prstGeom prst="rect">
            <a:avLst/>
          </a:prstGeom>
          <a:solidFill>
            <a:srgbClr val="FFFFFF"/>
          </a:solidFill>
          <a:ln w="12700">
            <a:solidFill>
              <a:srgbClr val="D8E8F0"/>
            </a:solidFill>
            <a:prstDash val="solid"/>
          </a:ln>
          <a:effectLst>
            <a:outerShdw blurRad="63500" dist="25400" dir="8100000" algn="bl" rotWithShape="0">
              <a:srgbClr val="000000">
                <a:alpha val="8000"/>
              </a:srgbClr>
            </a:outerShdw>
          </a:effectLst>
        </p:spPr>
      </p:sp>
      <p:sp>
        <p:nvSpPr>
          <p:cNvPr id="18" name="Shape 16"/>
          <p:cNvSpPr/>
          <p:nvPr/>
        </p:nvSpPr>
        <p:spPr>
          <a:xfrm>
            <a:off x="274320" y="3782568"/>
            <a:ext cx="73152" cy="1360932"/>
          </a:xfrm>
          <a:prstGeom prst="rect">
            <a:avLst/>
          </a:prstGeom>
          <a:solidFill>
            <a:srgbClr val="8244A8"/>
          </a:solidFill>
          <a:ln w="12700">
            <a:solidFill>
              <a:srgbClr val="8244A8"/>
            </a:solidFill>
            <a:prstDash val="solid"/>
          </a:ln>
        </p:spPr>
      </p:sp>
      <p:sp>
        <p:nvSpPr>
          <p:cNvPr id="19" name="Shape 17"/>
          <p:cNvSpPr/>
          <p:nvPr/>
        </p:nvSpPr>
        <p:spPr>
          <a:xfrm>
            <a:off x="7882128" y="3874008"/>
            <a:ext cx="914400" cy="256032"/>
          </a:xfrm>
          <a:prstGeom prst="rect">
            <a:avLst/>
          </a:prstGeom>
          <a:solidFill>
            <a:srgbClr val="8244A8"/>
          </a:solidFill>
          <a:ln w="12700">
            <a:solidFill>
              <a:srgbClr val="8244A8"/>
            </a:solidFill>
            <a:prstDash val="solid"/>
          </a:ln>
        </p:spPr>
      </p:sp>
      <p:sp>
        <p:nvSpPr>
          <p:cNvPr id="20" name="Text 18"/>
          <p:cNvSpPr/>
          <p:nvPr/>
        </p:nvSpPr>
        <p:spPr>
          <a:xfrm>
            <a:off x="7882128" y="3874008"/>
            <a:ext cx="914400" cy="256032"/>
          </a:xfrm>
          <a:prstGeom prst="rect">
            <a:avLst/>
          </a:prstGeom>
          <a:noFill/>
        </p:spPr>
        <p:txBody>
          <a:bodyPr wrap="square" lIns="0" tIns="0" rIns="0" bIns="0" rtlCol="0" anchor="ctr"/>
          <a:lstStyle/>
          <a:p>
            <a:pPr marL="0" indent="0" algn="ctr">
              <a:buNone/>
            </a:pPr>
            <a:r>
              <a:rPr lang="en-US" sz="900" b="1" dirty="0">
                <a:solidFill>
                  <a:srgbClr val="021B2E"/>
                </a:solidFill>
                <a:latin typeface="Calibri" pitchFamily="34" charset="0"/>
                <a:ea typeface="Calibri" pitchFamily="34" charset="-122"/>
                <a:cs typeface="Calibri" pitchFamily="34" charset="-120"/>
              </a:rPr>
              <a:t>TF-IDF+BERT</a:t>
            </a:r>
            <a:endParaRPr lang="en-US" sz="900" dirty="0"/>
          </a:p>
        </p:txBody>
      </p:sp>
      <p:sp>
        <p:nvSpPr>
          <p:cNvPr id="21" name="Text 19"/>
          <p:cNvSpPr/>
          <p:nvPr/>
        </p:nvSpPr>
        <p:spPr>
          <a:xfrm>
            <a:off x="475488" y="3874008"/>
            <a:ext cx="7269480" cy="301752"/>
          </a:xfrm>
          <a:prstGeom prst="rect">
            <a:avLst/>
          </a:prstGeom>
          <a:noFill/>
        </p:spPr>
        <p:txBody>
          <a:bodyPr wrap="square" lIns="0" tIns="0" rIns="0" bIns="0" rtlCol="0" anchor="ctr"/>
          <a:lstStyle/>
          <a:p>
            <a:pPr marL="0" indent="0">
              <a:buNone/>
            </a:pPr>
            <a:r>
              <a:rPr lang="en-US" sz="1350" b="1" dirty="0">
                <a:solidFill>
                  <a:srgbClr val="1A2E3B"/>
                </a:solidFill>
                <a:latin typeface="Trebuchet MS" pitchFamily="34" charset="0"/>
                <a:ea typeface="Trebuchet MS" pitchFamily="34" charset="-122"/>
                <a:cs typeface="Trebuchet MS" pitchFamily="34" charset="-120"/>
              </a:rPr>
              <a:t>LinearSVC Calibrado — Margen máximo y soft voting</a:t>
            </a:r>
            <a:endParaRPr lang="en-US" sz="1350" dirty="0"/>
          </a:p>
        </p:txBody>
      </p:sp>
      <p:sp>
        <p:nvSpPr>
          <p:cNvPr id="22" name="Text 20"/>
          <p:cNvSpPr/>
          <p:nvPr/>
        </p:nvSpPr>
        <p:spPr>
          <a:xfrm>
            <a:off x="475488" y="4166616"/>
            <a:ext cx="7955280" cy="903732"/>
          </a:xfrm>
          <a:prstGeom prst="rect">
            <a:avLst/>
          </a:prstGeom>
          <a:noFill/>
        </p:spPr>
        <p:txBody>
          <a:bodyPr wrap="square" lIns="0" tIns="0" rIns="0" bIns="0" rtlCol="0" anchor="t"/>
          <a:lstStyle/>
          <a:p>
            <a:pPr marL="0" indent="0">
              <a:buNone/>
            </a:pPr>
            <a:r>
              <a:rPr lang="en-US" sz="1250" dirty="0">
                <a:solidFill>
                  <a:srgbClr val="4A6778"/>
                </a:solidFill>
                <a:latin typeface="Calibri" pitchFamily="34" charset="0"/>
                <a:ea typeface="Calibri" pitchFamily="34" charset="-122"/>
                <a:cs typeface="Calibri" pitchFamily="34" charset="-120"/>
              </a:rPr>
              <a:t>Maximiza el margen geométrico en el espacio TF-IDF de alta dimensión → mejor generalización a vocabulario no visto. C=0.5 equilibra margen amplio vs clasificación correcta de todos los puntos — óptimo para argot ciudadano con ortografía variable. LinearSVC no genera probabilidades nativas: se envuelve en CalibratedClassifierCV(method='isotonic', cv=5) para habilitar predict_proba y participar en el ensamble.</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0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65A82"/>
          </a:solidFill>
          <a:ln w="12700">
            <a:solidFill>
              <a:srgbClr val="065A82"/>
            </a:solidFill>
            <a:prstDash val="solid"/>
          </a:ln>
        </p:spPr>
      </p:sp>
      <p:sp>
        <p:nvSpPr>
          <p:cNvPr id="3" name="Shape 1"/>
          <p:cNvSpPr/>
          <p:nvPr/>
        </p:nvSpPr>
        <p:spPr>
          <a:xfrm>
            <a:off x="0" y="731520"/>
            <a:ext cx="9144000" cy="64008"/>
          </a:xfrm>
          <a:prstGeom prst="rect">
            <a:avLst/>
          </a:prstGeom>
          <a:solidFill>
            <a:srgbClr val="8244A8"/>
          </a:solidFill>
          <a:ln w="12700">
            <a:solidFill>
              <a:srgbClr val="8244A8"/>
            </a:solidFill>
            <a:prstDash val="solid"/>
          </a:ln>
        </p:spPr>
      </p:sp>
      <p:sp>
        <p:nvSpPr>
          <p:cNvPr id="4" name="Text 2"/>
          <p:cNvSpPr/>
          <p:nvPr/>
        </p:nvSpPr>
        <p:spPr>
          <a:xfrm>
            <a:off x="347472" y="0"/>
            <a:ext cx="8503920" cy="731520"/>
          </a:xfrm>
          <a:prstGeom prst="rect">
            <a:avLst/>
          </a:prstGeom>
          <a:noFill/>
        </p:spPr>
        <p:txBody>
          <a:bodyPr wrap="square" lIns="0" tIns="0" rIns="0" bIns="0" rtlCol="0" anchor="ctr"/>
          <a:lstStyle/>
          <a:p>
            <a:pPr marL="0" indent="0">
              <a:buNone/>
            </a:pPr>
            <a:r>
              <a:rPr lang="en-US" sz="2100" b="1" dirty="0">
                <a:solidFill>
                  <a:srgbClr val="FFFFFF"/>
                </a:solidFill>
                <a:latin typeface="Trebuchet MS" pitchFamily="34" charset="0"/>
                <a:ea typeface="Trebuchet MS" pitchFamily="34" charset="-122"/>
                <a:cs typeface="Trebuchet MS" pitchFamily="34" charset="-120"/>
              </a:rPr>
              <a:t>modelos.py — Ensamble Principal y API</a:t>
            </a:r>
            <a:endParaRPr lang="en-US" sz="2100" dirty="0"/>
          </a:p>
        </p:txBody>
      </p:sp>
      <p:sp>
        <p:nvSpPr>
          <p:cNvPr id="5" name="Shape 3"/>
          <p:cNvSpPr/>
          <p:nvPr/>
        </p:nvSpPr>
        <p:spPr>
          <a:xfrm>
            <a:off x="274320" y="877824"/>
            <a:ext cx="4224528" cy="1196340"/>
          </a:xfrm>
          <a:prstGeom prst="rect">
            <a:avLst/>
          </a:prstGeom>
          <a:solidFill>
            <a:srgbClr val="FFFFFF"/>
          </a:solidFill>
          <a:ln w="12700">
            <a:solidFill>
              <a:srgbClr val="D8E8F0"/>
            </a:solidFill>
            <a:prstDash val="solid"/>
          </a:ln>
          <a:effectLst>
            <a:outerShdw blurRad="63500" dist="25400" dir="8100000" algn="bl" rotWithShape="0">
              <a:srgbClr val="000000">
                <a:alpha val="8000"/>
              </a:srgbClr>
            </a:outerShdw>
          </a:effectLst>
        </p:spPr>
      </p:sp>
      <p:sp>
        <p:nvSpPr>
          <p:cNvPr id="6" name="Shape 4"/>
          <p:cNvSpPr/>
          <p:nvPr/>
        </p:nvSpPr>
        <p:spPr>
          <a:xfrm>
            <a:off x="274320" y="877824"/>
            <a:ext cx="73152" cy="1196340"/>
          </a:xfrm>
          <a:prstGeom prst="rect">
            <a:avLst/>
          </a:prstGeom>
          <a:solidFill>
            <a:srgbClr val="8244A8"/>
          </a:solidFill>
          <a:ln w="12700">
            <a:solidFill>
              <a:srgbClr val="8244A8"/>
            </a:solidFill>
            <a:prstDash val="solid"/>
          </a:ln>
        </p:spPr>
      </p:sp>
      <p:sp>
        <p:nvSpPr>
          <p:cNvPr id="7" name="Shape 5"/>
          <p:cNvSpPr/>
          <p:nvPr/>
        </p:nvSpPr>
        <p:spPr>
          <a:xfrm>
            <a:off x="3511296" y="960120"/>
            <a:ext cx="941832" cy="237744"/>
          </a:xfrm>
          <a:prstGeom prst="rect">
            <a:avLst/>
          </a:prstGeom>
          <a:solidFill>
            <a:srgbClr val="8244A8"/>
          </a:solidFill>
          <a:ln w="12700">
            <a:solidFill>
              <a:srgbClr val="8244A8"/>
            </a:solidFill>
            <a:prstDash val="solid"/>
          </a:ln>
        </p:spPr>
      </p:sp>
      <p:sp>
        <p:nvSpPr>
          <p:cNvPr id="8" name="Text 6"/>
          <p:cNvSpPr/>
          <p:nvPr/>
        </p:nvSpPr>
        <p:spPr>
          <a:xfrm>
            <a:off x="3511296" y="960120"/>
            <a:ext cx="941832" cy="237744"/>
          </a:xfrm>
          <a:prstGeom prst="rect">
            <a:avLst/>
          </a:prstGeom>
          <a:noFill/>
        </p:spPr>
        <p:txBody>
          <a:bodyPr wrap="square" lIns="0" tIns="0" rIns="0" bIns="0" rtlCol="0" anchor="ctr"/>
          <a:lstStyle/>
          <a:p>
            <a:pPr marL="0" indent="0" algn="ctr">
              <a:buNone/>
            </a:pPr>
            <a:r>
              <a:rPr lang="en-US" sz="850" b="1" dirty="0">
                <a:solidFill>
                  <a:srgbClr val="021B2E"/>
                </a:solidFill>
                <a:latin typeface="Calibri" pitchFamily="34" charset="0"/>
                <a:ea typeface="Calibri" pitchFamily="34" charset="-122"/>
                <a:cs typeface="Calibri" pitchFamily="34" charset="-120"/>
              </a:rPr>
              <a:t>ENSAMBLE</a:t>
            </a:r>
            <a:endParaRPr lang="en-US" sz="850" dirty="0"/>
          </a:p>
        </p:txBody>
      </p:sp>
      <p:sp>
        <p:nvSpPr>
          <p:cNvPr id="9" name="Text 7"/>
          <p:cNvSpPr/>
          <p:nvPr/>
        </p:nvSpPr>
        <p:spPr>
          <a:xfrm>
            <a:off x="438912" y="960120"/>
            <a:ext cx="3054096" cy="274320"/>
          </a:xfrm>
          <a:prstGeom prst="rect">
            <a:avLst/>
          </a:prstGeom>
          <a:noFill/>
        </p:spPr>
        <p:txBody>
          <a:bodyPr wrap="square" lIns="0" tIns="0" rIns="0" bIns="0" rtlCol="0" anchor="ctr"/>
          <a:lstStyle/>
          <a:p>
            <a:pPr marL="0" indent="0">
              <a:buNone/>
            </a:pPr>
            <a:r>
              <a:rPr lang="en-US" sz="1200" b="1" dirty="0">
                <a:solidFill>
                  <a:srgbClr val="1A2E3B"/>
                </a:solidFill>
                <a:latin typeface="Trebuchet MS" pitchFamily="34" charset="0"/>
                <a:ea typeface="Trebuchet MS" pitchFamily="34" charset="-122"/>
                <a:cs typeface="Trebuchet MS" pitchFamily="34" charset="-120"/>
              </a:rPr>
              <a:t>VotingClassifier Soft — Modelo Principal Recomendado ★</a:t>
            </a:r>
            <a:endParaRPr lang="en-US" sz="1200" dirty="0"/>
          </a:p>
        </p:txBody>
      </p:sp>
      <p:sp>
        <p:nvSpPr>
          <p:cNvPr id="10" name="Text 8"/>
          <p:cNvSpPr/>
          <p:nvPr/>
        </p:nvSpPr>
        <p:spPr>
          <a:xfrm>
            <a:off x="438912" y="1225296"/>
            <a:ext cx="4005072" cy="794004"/>
          </a:xfrm>
          <a:prstGeom prst="rect">
            <a:avLst/>
          </a:prstGeom>
          <a:noFill/>
        </p:spPr>
        <p:txBody>
          <a:bodyPr wrap="square" lIns="0" tIns="0" rIns="0" bIns="0" rtlCol="0" anchor="t"/>
          <a:lstStyle/>
          <a:p>
            <a:pPr marL="0" indent="0">
              <a:buNone/>
            </a:pPr>
            <a:r>
              <a:rPr lang="en-US" sz="1120" dirty="0">
                <a:solidFill>
                  <a:srgbClr val="4A6778"/>
                </a:solidFill>
                <a:latin typeface="Calibri" pitchFamily="34" charset="0"/>
                <a:ea typeface="Calibri" pitchFamily="34" charset="-122"/>
                <a:cs typeface="Calibri" pitchFamily="34" charset="-120"/>
              </a:rPr>
              <a:t>Promedia P(alta|X) de los tres modelos con pesos [1, 2, 2] — LR y SVM con doble peso que CNB. Pesos alternativos: texto puro sin BERT → [2,1,2]; corpus pequeño &lt;1 000 muestras → [1,1,1]. Los casos donde los tres clasificadores discrepan marcan la zona gris de ineficiencia sistémica — señal cualitativa para análisis.</a:t>
            </a:r>
            <a:endParaRPr lang="en-US" sz="1120" dirty="0"/>
          </a:p>
        </p:txBody>
      </p:sp>
      <p:sp>
        <p:nvSpPr>
          <p:cNvPr id="11" name="Shape 9"/>
          <p:cNvSpPr/>
          <p:nvPr/>
        </p:nvSpPr>
        <p:spPr>
          <a:xfrm>
            <a:off x="4736592" y="877824"/>
            <a:ext cx="4224528" cy="1196340"/>
          </a:xfrm>
          <a:prstGeom prst="rect">
            <a:avLst/>
          </a:prstGeom>
          <a:solidFill>
            <a:srgbClr val="FFFFFF"/>
          </a:solidFill>
          <a:ln w="12700">
            <a:solidFill>
              <a:srgbClr val="D8E8F0"/>
            </a:solidFill>
            <a:prstDash val="solid"/>
          </a:ln>
          <a:effectLst>
            <a:outerShdw blurRad="63500" dist="25400" dir="8100000" algn="bl" rotWithShape="0">
              <a:srgbClr val="000000">
                <a:alpha val="8000"/>
              </a:srgbClr>
            </a:outerShdw>
          </a:effectLst>
        </p:spPr>
      </p:sp>
      <p:sp>
        <p:nvSpPr>
          <p:cNvPr id="12" name="Shape 10"/>
          <p:cNvSpPr/>
          <p:nvPr/>
        </p:nvSpPr>
        <p:spPr>
          <a:xfrm>
            <a:off x="4736592" y="877824"/>
            <a:ext cx="73152" cy="1196340"/>
          </a:xfrm>
          <a:prstGeom prst="rect">
            <a:avLst/>
          </a:prstGeom>
          <a:solidFill>
            <a:srgbClr val="8244A8"/>
          </a:solidFill>
          <a:ln w="12700">
            <a:solidFill>
              <a:srgbClr val="8244A8"/>
            </a:solidFill>
            <a:prstDash val="solid"/>
          </a:ln>
        </p:spPr>
      </p:sp>
      <p:sp>
        <p:nvSpPr>
          <p:cNvPr id="13" name="Shape 11"/>
          <p:cNvSpPr/>
          <p:nvPr/>
        </p:nvSpPr>
        <p:spPr>
          <a:xfrm>
            <a:off x="7973568" y="960120"/>
            <a:ext cx="941832" cy="237744"/>
          </a:xfrm>
          <a:prstGeom prst="rect">
            <a:avLst/>
          </a:prstGeom>
          <a:solidFill>
            <a:srgbClr val="8244A8"/>
          </a:solidFill>
          <a:ln w="12700">
            <a:solidFill>
              <a:srgbClr val="8244A8"/>
            </a:solidFill>
            <a:prstDash val="solid"/>
          </a:ln>
        </p:spPr>
      </p:sp>
      <p:sp>
        <p:nvSpPr>
          <p:cNvPr id="14" name="Text 12"/>
          <p:cNvSpPr/>
          <p:nvPr/>
        </p:nvSpPr>
        <p:spPr>
          <a:xfrm>
            <a:off x="7973568" y="960120"/>
            <a:ext cx="941832" cy="237744"/>
          </a:xfrm>
          <a:prstGeom prst="rect">
            <a:avLst/>
          </a:prstGeom>
          <a:noFill/>
        </p:spPr>
        <p:txBody>
          <a:bodyPr wrap="square" lIns="0" tIns="0" rIns="0" bIns="0" rtlCol="0" anchor="ctr"/>
          <a:lstStyle/>
          <a:p>
            <a:pPr marL="0" indent="0" algn="ctr">
              <a:buNone/>
            </a:pPr>
            <a:r>
              <a:rPr lang="en-US" sz="850" b="1" dirty="0">
                <a:solidFill>
                  <a:srgbClr val="021B2E"/>
                </a:solidFill>
                <a:latin typeface="Calibri" pitchFamily="34" charset="0"/>
                <a:ea typeface="Calibri" pitchFamily="34" charset="-122"/>
                <a:cs typeface="Calibri" pitchFamily="34" charset="-120"/>
              </a:rPr>
              <a:t>API</a:t>
            </a:r>
            <a:endParaRPr lang="en-US" sz="850" dirty="0"/>
          </a:p>
        </p:txBody>
      </p:sp>
      <p:sp>
        <p:nvSpPr>
          <p:cNvPr id="15" name="Text 13"/>
          <p:cNvSpPr/>
          <p:nvPr/>
        </p:nvSpPr>
        <p:spPr>
          <a:xfrm>
            <a:off x="4901184" y="960120"/>
            <a:ext cx="3054096" cy="274320"/>
          </a:xfrm>
          <a:prstGeom prst="rect">
            <a:avLst/>
          </a:prstGeom>
          <a:noFill/>
        </p:spPr>
        <p:txBody>
          <a:bodyPr wrap="square" lIns="0" tIns="0" rIns="0" bIns="0" rtlCol="0" anchor="ctr"/>
          <a:lstStyle/>
          <a:p>
            <a:pPr marL="0" indent="0">
              <a:buNone/>
            </a:pPr>
            <a:r>
              <a:rPr lang="en-US" sz="1200" b="1" dirty="0">
                <a:solidFill>
                  <a:srgbClr val="1A2E3B"/>
                </a:solidFill>
                <a:latin typeface="Trebuchet MS" pitchFamily="34" charset="0"/>
                <a:ea typeface="Trebuchet MS" pitchFamily="34" charset="-122"/>
                <a:cs typeface="Trebuchet MS" pitchFamily="34" charset="-120"/>
              </a:rPr>
              <a:t>CATÁLOGO_MODELOS — Extensión sin fricción</a:t>
            </a:r>
            <a:endParaRPr lang="en-US" sz="1200" dirty="0"/>
          </a:p>
        </p:txBody>
      </p:sp>
      <p:sp>
        <p:nvSpPr>
          <p:cNvPr id="16" name="Text 14"/>
          <p:cNvSpPr/>
          <p:nvPr/>
        </p:nvSpPr>
        <p:spPr>
          <a:xfrm>
            <a:off x="4901184" y="1225296"/>
            <a:ext cx="4005072" cy="794004"/>
          </a:xfrm>
          <a:prstGeom prst="rect">
            <a:avLst/>
          </a:prstGeom>
          <a:noFill/>
        </p:spPr>
        <p:txBody>
          <a:bodyPr wrap="square" lIns="0" tIns="0" rIns="0" bIns="0" rtlCol="0" anchor="t"/>
          <a:lstStyle/>
          <a:p>
            <a:pPr marL="0" indent="0">
              <a:buNone/>
            </a:pPr>
            <a:r>
              <a:rPr lang="en-US" sz="1120" dirty="0">
                <a:solidFill>
                  <a:srgbClr val="4A6778"/>
                </a:solidFill>
                <a:latin typeface="Calibri" pitchFamily="34" charset="0"/>
                <a:ea typeface="Calibri" pitchFamily="34" charset="-122"/>
                <a:cs typeface="Calibri" pitchFamily="34" charset="-120"/>
              </a:rPr>
              <a:t>Dict {nombre: factory} que expone los 4 clasificadores. Para añadir un modelo nuevo: 1) definir _pipeline_nuevo(), 2) agregarlo al dict, 3) sin más cambios — comparar_modelos() en analizar_v4.py lo itera automáticamente. Compatible con GridSearchCV, cross_val_score y cualquier herramienta sklearn.</a:t>
            </a:r>
            <a:endParaRPr lang="en-US" sz="1120" dirty="0"/>
          </a:p>
        </p:txBody>
      </p:sp>
      <p:sp>
        <p:nvSpPr>
          <p:cNvPr id="17" name="Shape 15"/>
          <p:cNvSpPr/>
          <p:nvPr/>
        </p:nvSpPr>
        <p:spPr>
          <a:xfrm>
            <a:off x="274320" y="2165604"/>
            <a:ext cx="4224528" cy="1196340"/>
          </a:xfrm>
          <a:prstGeom prst="rect">
            <a:avLst/>
          </a:prstGeom>
          <a:solidFill>
            <a:srgbClr val="FFFFFF"/>
          </a:solidFill>
          <a:ln w="12700">
            <a:solidFill>
              <a:srgbClr val="D8E8F0"/>
            </a:solidFill>
            <a:prstDash val="solid"/>
          </a:ln>
          <a:effectLst>
            <a:outerShdw blurRad="63500" dist="25400" dir="8100000" algn="bl" rotWithShape="0">
              <a:srgbClr val="000000">
                <a:alpha val="8000"/>
              </a:srgbClr>
            </a:outerShdw>
          </a:effectLst>
        </p:spPr>
      </p:sp>
      <p:sp>
        <p:nvSpPr>
          <p:cNvPr id="18" name="Shape 16"/>
          <p:cNvSpPr/>
          <p:nvPr/>
        </p:nvSpPr>
        <p:spPr>
          <a:xfrm>
            <a:off x="274320" y="2165604"/>
            <a:ext cx="73152" cy="1196340"/>
          </a:xfrm>
          <a:prstGeom prst="rect">
            <a:avLst/>
          </a:prstGeom>
          <a:solidFill>
            <a:srgbClr val="8244A8"/>
          </a:solidFill>
          <a:ln w="12700">
            <a:solidFill>
              <a:srgbClr val="8244A8"/>
            </a:solidFill>
            <a:prstDash val="solid"/>
          </a:ln>
        </p:spPr>
      </p:sp>
      <p:sp>
        <p:nvSpPr>
          <p:cNvPr id="19" name="Shape 17"/>
          <p:cNvSpPr/>
          <p:nvPr/>
        </p:nvSpPr>
        <p:spPr>
          <a:xfrm>
            <a:off x="3511296" y="2247900"/>
            <a:ext cx="941832" cy="237744"/>
          </a:xfrm>
          <a:prstGeom prst="rect">
            <a:avLst/>
          </a:prstGeom>
          <a:solidFill>
            <a:srgbClr val="8244A8"/>
          </a:solidFill>
          <a:ln w="12700">
            <a:solidFill>
              <a:srgbClr val="8244A8"/>
            </a:solidFill>
            <a:prstDash val="solid"/>
          </a:ln>
        </p:spPr>
      </p:sp>
      <p:sp>
        <p:nvSpPr>
          <p:cNvPr id="20" name="Text 18"/>
          <p:cNvSpPr/>
          <p:nvPr/>
        </p:nvSpPr>
        <p:spPr>
          <a:xfrm>
            <a:off x="3511296" y="2247900"/>
            <a:ext cx="941832" cy="237744"/>
          </a:xfrm>
          <a:prstGeom prst="rect">
            <a:avLst/>
          </a:prstGeom>
          <a:noFill/>
        </p:spPr>
        <p:txBody>
          <a:bodyPr wrap="square" lIns="0" tIns="0" rIns="0" bIns="0" rtlCol="0" anchor="ctr"/>
          <a:lstStyle/>
          <a:p>
            <a:pPr marL="0" indent="0" algn="ctr">
              <a:buNone/>
            </a:pPr>
            <a:r>
              <a:rPr lang="en-US" sz="850" b="1" dirty="0">
                <a:solidFill>
                  <a:srgbClr val="021B2E"/>
                </a:solidFill>
                <a:latin typeface="Calibri" pitchFamily="34" charset="0"/>
                <a:ea typeface="Calibri" pitchFamily="34" charset="-122"/>
                <a:cs typeface="Calibri" pitchFamily="34" charset="-120"/>
              </a:rPr>
              <a:t>TEÓRICO</a:t>
            </a:r>
            <a:endParaRPr lang="en-US" sz="850" dirty="0"/>
          </a:p>
        </p:txBody>
      </p:sp>
      <p:sp>
        <p:nvSpPr>
          <p:cNvPr id="21" name="Text 19"/>
          <p:cNvSpPr/>
          <p:nvPr/>
        </p:nvSpPr>
        <p:spPr>
          <a:xfrm>
            <a:off x="438912" y="2247900"/>
            <a:ext cx="3054096" cy="274320"/>
          </a:xfrm>
          <a:prstGeom prst="rect">
            <a:avLst/>
          </a:prstGeom>
          <a:noFill/>
        </p:spPr>
        <p:txBody>
          <a:bodyPr wrap="square" lIns="0" tIns="0" rIns="0" bIns="0" rtlCol="0" anchor="ctr"/>
          <a:lstStyle/>
          <a:p>
            <a:pPr marL="0" indent="0">
              <a:buNone/>
            </a:pPr>
            <a:r>
              <a:rPr lang="en-US" sz="1200" b="1" dirty="0">
                <a:solidFill>
                  <a:srgbClr val="1A2E3B"/>
                </a:solidFill>
                <a:latin typeface="Trebuchet MS" pitchFamily="34" charset="0"/>
                <a:ea typeface="Trebuchet MS" pitchFamily="34" charset="-122"/>
                <a:cs typeface="Trebuchet MS" pitchFamily="34" charset="-120"/>
              </a:rPr>
              <a:t>Ventaja del Ensamble vs Modelos Individuales</a:t>
            </a:r>
            <a:endParaRPr lang="en-US" sz="1200" dirty="0"/>
          </a:p>
        </p:txBody>
      </p:sp>
      <p:sp>
        <p:nvSpPr>
          <p:cNvPr id="22" name="Text 20"/>
          <p:cNvSpPr/>
          <p:nvPr/>
        </p:nvSpPr>
        <p:spPr>
          <a:xfrm>
            <a:off x="438912" y="2513076"/>
            <a:ext cx="4005072" cy="794004"/>
          </a:xfrm>
          <a:prstGeom prst="rect">
            <a:avLst/>
          </a:prstGeom>
          <a:noFill/>
        </p:spPr>
        <p:txBody>
          <a:bodyPr wrap="square" lIns="0" tIns="0" rIns="0" bIns="0" rtlCol="0" anchor="t"/>
          <a:lstStyle/>
          <a:p>
            <a:pPr marL="0" indent="0">
              <a:buNone/>
            </a:pPr>
            <a:r>
              <a:rPr lang="en-US" sz="1120" dirty="0">
                <a:solidFill>
                  <a:srgbClr val="4A6778"/>
                </a:solidFill>
                <a:latin typeface="Calibri" pitchFamily="34" charset="0"/>
                <a:ea typeface="Calibri" pitchFamily="34" charset="-122"/>
                <a:cs typeface="Calibri" pitchFamily="34" charset="-120"/>
              </a:rPr>
              <a:t>CNB asume independencia condicional entre features → penaliza features correlacionadas. LR modela la dependencia entre features (prob_neg BERT ↔ sentimiento_num). SVM maximiza el margen. El ensamble captura las tres perspectivas y reduce varianza: donde uno falla con baja confianza, los otros compensan.</a:t>
            </a:r>
            <a:endParaRPr lang="en-US" sz="1120" dirty="0"/>
          </a:p>
        </p:txBody>
      </p:sp>
      <p:sp>
        <p:nvSpPr>
          <p:cNvPr id="23" name="Shape 21"/>
          <p:cNvSpPr/>
          <p:nvPr/>
        </p:nvSpPr>
        <p:spPr>
          <a:xfrm>
            <a:off x="4736592" y="2165604"/>
            <a:ext cx="4224528" cy="1196340"/>
          </a:xfrm>
          <a:prstGeom prst="rect">
            <a:avLst/>
          </a:prstGeom>
          <a:solidFill>
            <a:srgbClr val="FFFFFF"/>
          </a:solidFill>
          <a:ln w="12700">
            <a:solidFill>
              <a:srgbClr val="D8E8F0"/>
            </a:solidFill>
            <a:prstDash val="solid"/>
          </a:ln>
          <a:effectLst>
            <a:outerShdw blurRad="63500" dist="25400" dir="8100000" algn="bl" rotWithShape="0">
              <a:srgbClr val="000000">
                <a:alpha val="8000"/>
              </a:srgbClr>
            </a:outerShdw>
          </a:effectLst>
        </p:spPr>
      </p:sp>
      <p:sp>
        <p:nvSpPr>
          <p:cNvPr id="24" name="Shape 22"/>
          <p:cNvSpPr/>
          <p:nvPr/>
        </p:nvSpPr>
        <p:spPr>
          <a:xfrm>
            <a:off x="4736592" y="2165604"/>
            <a:ext cx="73152" cy="1196340"/>
          </a:xfrm>
          <a:prstGeom prst="rect">
            <a:avLst/>
          </a:prstGeom>
          <a:solidFill>
            <a:srgbClr val="8244A8"/>
          </a:solidFill>
          <a:ln w="12700">
            <a:solidFill>
              <a:srgbClr val="8244A8"/>
            </a:solidFill>
            <a:prstDash val="solid"/>
          </a:ln>
        </p:spPr>
      </p:sp>
      <p:sp>
        <p:nvSpPr>
          <p:cNvPr id="25" name="Shape 23"/>
          <p:cNvSpPr/>
          <p:nvPr/>
        </p:nvSpPr>
        <p:spPr>
          <a:xfrm>
            <a:off x="7973568" y="2247900"/>
            <a:ext cx="941832" cy="237744"/>
          </a:xfrm>
          <a:prstGeom prst="rect">
            <a:avLst/>
          </a:prstGeom>
          <a:solidFill>
            <a:srgbClr val="8244A8"/>
          </a:solidFill>
          <a:ln w="12700">
            <a:solidFill>
              <a:srgbClr val="8244A8"/>
            </a:solidFill>
            <a:prstDash val="solid"/>
          </a:ln>
        </p:spPr>
      </p:sp>
      <p:sp>
        <p:nvSpPr>
          <p:cNvPr id="26" name="Text 24"/>
          <p:cNvSpPr/>
          <p:nvPr/>
        </p:nvSpPr>
        <p:spPr>
          <a:xfrm>
            <a:off x="7973568" y="2247900"/>
            <a:ext cx="941832" cy="237744"/>
          </a:xfrm>
          <a:prstGeom prst="rect">
            <a:avLst/>
          </a:prstGeom>
          <a:noFill/>
        </p:spPr>
        <p:txBody>
          <a:bodyPr wrap="square" lIns="0" tIns="0" rIns="0" bIns="0" rtlCol="0" anchor="ctr"/>
          <a:lstStyle/>
          <a:p>
            <a:pPr marL="0" indent="0" algn="ctr">
              <a:buNone/>
            </a:pPr>
            <a:r>
              <a:rPr lang="en-US" sz="850" b="1" dirty="0">
                <a:solidFill>
                  <a:srgbClr val="021B2E"/>
                </a:solidFill>
                <a:latin typeface="Calibri" pitchFamily="34" charset="0"/>
                <a:ea typeface="Calibri" pitchFamily="34" charset="-122"/>
                <a:cs typeface="Calibri" pitchFamily="34" charset="-120"/>
              </a:rPr>
              <a:t>TESIS</a:t>
            </a:r>
            <a:endParaRPr lang="en-US" sz="850" dirty="0"/>
          </a:p>
        </p:txBody>
      </p:sp>
      <p:sp>
        <p:nvSpPr>
          <p:cNvPr id="27" name="Text 25"/>
          <p:cNvSpPr/>
          <p:nvPr/>
        </p:nvSpPr>
        <p:spPr>
          <a:xfrm>
            <a:off x="4901184" y="2247900"/>
            <a:ext cx="3054096" cy="274320"/>
          </a:xfrm>
          <a:prstGeom prst="rect">
            <a:avLst/>
          </a:prstGeom>
          <a:noFill/>
        </p:spPr>
        <p:txBody>
          <a:bodyPr wrap="square" lIns="0" tIns="0" rIns="0" bIns="0" rtlCol="0" anchor="ctr"/>
          <a:lstStyle/>
          <a:p>
            <a:pPr marL="0" indent="0">
              <a:buNone/>
            </a:pPr>
            <a:r>
              <a:rPr lang="en-US" sz="1200" b="1" dirty="0">
                <a:solidFill>
                  <a:srgbClr val="1A2E3B"/>
                </a:solidFill>
                <a:latin typeface="Trebuchet MS" pitchFamily="34" charset="0"/>
                <a:ea typeface="Trebuchet MS" pitchFamily="34" charset="-122"/>
                <a:cs typeface="Trebuchet MS" pitchFamily="34" charset="-120"/>
              </a:rPr>
              <a:t>Acceso a Coeficientes LR post-entrenamiento</a:t>
            </a:r>
            <a:endParaRPr lang="en-US" sz="1200" dirty="0"/>
          </a:p>
        </p:txBody>
      </p:sp>
      <p:sp>
        <p:nvSpPr>
          <p:cNvPr id="28" name="Text 26"/>
          <p:cNvSpPr/>
          <p:nvPr/>
        </p:nvSpPr>
        <p:spPr>
          <a:xfrm>
            <a:off x="4901184" y="2513076"/>
            <a:ext cx="4005072" cy="794004"/>
          </a:xfrm>
          <a:prstGeom prst="rect">
            <a:avLst/>
          </a:prstGeom>
          <a:noFill/>
        </p:spPr>
        <p:txBody>
          <a:bodyPr wrap="square" lIns="0" tIns="0" rIns="0" bIns="0" rtlCol="0" anchor="t"/>
          <a:lstStyle/>
          <a:p>
            <a:pPr marL="0" indent="0">
              <a:buNone/>
            </a:pPr>
            <a:r>
              <a:rPr lang="en-US" sz="1120" dirty="0">
                <a:solidFill>
                  <a:srgbClr val="4A6778"/>
                </a:solidFill>
                <a:latin typeface="Calibri" pitchFamily="34" charset="0"/>
                <a:ea typeface="Calibri" pitchFamily="34" charset="-122"/>
                <a:cs typeface="Calibri" pitchFamily="34" charset="-120"/>
              </a:rPr>
              <a:t>ens.named_estimators_['lr'].named_steps['lr'].coef_ devuelve los coeficientes β_j una vez entrenado el ensamble. Permite extraer las features más influyentes por clase (→ alta / → media) y citarlas directamente en la discusión de resultados.</a:t>
            </a:r>
            <a:endParaRPr lang="en-US" sz="1120" dirty="0"/>
          </a:p>
        </p:txBody>
      </p:sp>
      <p:sp>
        <p:nvSpPr>
          <p:cNvPr id="29" name="Shape 27"/>
          <p:cNvSpPr/>
          <p:nvPr/>
        </p:nvSpPr>
        <p:spPr>
          <a:xfrm>
            <a:off x="274320" y="3453384"/>
            <a:ext cx="4224528" cy="1196340"/>
          </a:xfrm>
          <a:prstGeom prst="rect">
            <a:avLst/>
          </a:prstGeom>
          <a:solidFill>
            <a:srgbClr val="FFFFFF"/>
          </a:solidFill>
          <a:ln w="12700">
            <a:solidFill>
              <a:srgbClr val="D8E8F0"/>
            </a:solidFill>
            <a:prstDash val="solid"/>
          </a:ln>
          <a:effectLst>
            <a:outerShdw blurRad="63500" dist="25400" dir="8100000" algn="bl" rotWithShape="0">
              <a:srgbClr val="000000">
                <a:alpha val="8000"/>
              </a:srgbClr>
            </a:outerShdw>
          </a:effectLst>
        </p:spPr>
      </p:sp>
      <p:sp>
        <p:nvSpPr>
          <p:cNvPr id="30" name="Shape 28"/>
          <p:cNvSpPr/>
          <p:nvPr/>
        </p:nvSpPr>
        <p:spPr>
          <a:xfrm>
            <a:off x="274320" y="3453384"/>
            <a:ext cx="73152" cy="1196340"/>
          </a:xfrm>
          <a:prstGeom prst="rect">
            <a:avLst/>
          </a:prstGeom>
          <a:solidFill>
            <a:srgbClr val="8244A8"/>
          </a:solidFill>
          <a:ln w="12700">
            <a:solidFill>
              <a:srgbClr val="8244A8"/>
            </a:solidFill>
            <a:prstDash val="solid"/>
          </a:ln>
        </p:spPr>
      </p:sp>
      <p:sp>
        <p:nvSpPr>
          <p:cNvPr id="31" name="Text 29"/>
          <p:cNvSpPr/>
          <p:nvPr/>
        </p:nvSpPr>
        <p:spPr>
          <a:xfrm>
            <a:off x="438912" y="3535680"/>
            <a:ext cx="4005072" cy="274320"/>
          </a:xfrm>
          <a:prstGeom prst="rect">
            <a:avLst/>
          </a:prstGeom>
          <a:noFill/>
        </p:spPr>
        <p:txBody>
          <a:bodyPr wrap="square" lIns="0" tIns="0" rIns="0" bIns="0" rtlCol="0" anchor="ctr"/>
          <a:lstStyle/>
          <a:p>
            <a:pPr marL="0" indent="0">
              <a:buNone/>
            </a:pPr>
            <a:r>
              <a:rPr lang="en-US" sz="1200" b="1" dirty="0">
                <a:solidFill>
                  <a:srgbClr val="1A2E3B"/>
                </a:solidFill>
                <a:latin typeface="Trebuchet MS" pitchFamily="34" charset="0"/>
                <a:ea typeface="Trebuchet MS" pitchFamily="34" charset="-122"/>
                <a:cs typeface="Trebuchet MS" pitchFamily="34" charset="-120"/>
              </a:rPr>
              <a:t>Configuración del Pipeline CNB — Detalles técnicos</a:t>
            </a:r>
            <a:endParaRPr lang="en-US" sz="1200" dirty="0"/>
          </a:p>
        </p:txBody>
      </p:sp>
      <p:sp>
        <p:nvSpPr>
          <p:cNvPr id="32" name="Text 30"/>
          <p:cNvSpPr/>
          <p:nvPr/>
        </p:nvSpPr>
        <p:spPr>
          <a:xfrm>
            <a:off x="438912" y="3800856"/>
            <a:ext cx="4005072" cy="794004"/>
          </a:xfrm>
          <a:prstGeom prst="rect">
            <a:avLst/>
          </a:prstGeom>
          <a:noFill/>
        </p:spPr>
        <p:txBody>
          <a:bodyPr wrap="square" lIns="0" tIns="0" rIns="0" bIns="0" rtlCol="0" anchor="t"/>
          <a:lstStyle/>
          <a:p>
            <a:pPr marL="0" indent="0">
              <a:buNone/>
            </a:pPr>
            <a:r>
              <a:rPr lang="en-US" sz="1120" dirty="0">
                <a:solidFill>
                  <a:srgbClr val="4A6778"/>
                </a:solidFill>
                <a:latin typeface="Calibri" pitchFamily="34" charset="0"/>
                <a:ea typeface="Calibri" pitchFamily="34" charset="-122"/>
                <a:cs typeface="Calibri" pitchFamily="34" charset="-120"/>
              </a:rPr>
              <a:t>MaxAbsScaler mapea cada columna a [−1, 1] pero no elimina negativos. _clip_negativos opera sobre .data de la sparse matrix para evitar densificación innecesaria — crítico para corpus grandes donde convertir a dense agotaría la RAM.</a:t>
            </a:r>
            <a:endParaRPr lang="en-US" sz="1120" dirty="0"/>
          </a:p>
        </p:txBody>
      </p:sp>
      <p:sp>
        <p:nvSpPr>
          <p:cNvPr id="33" name="Shape 31"/>
          <p:cNvSpPr/>
          <p:nvPr/>
        </p:nvSpPr>
        <p:spPr>
          <a:xfrm>
            <a:off x="4736592" y="3453384"/>
            <a:ext cx="4224528" cy="1196340"/>
          </a:xfrm>
          <a:prstGeom prst="rect">
            <a:avLst/>
          </a:prstGeom>
          <a:solidFill>
            <a:srgbClr val="FFFFFF"/>
          </a:solidFill>
          <a:ln w="12700">
            <a:solidFill>
              <a:srgbClr val="D8E8F0"/>
            </a:solidFill>
            <a:prstDash val="solid"/>
          </a:ln>
          <a:effectLst>
            <a:outerShdw blurRad="63500" dist="25400" dir="8100000" algn="bl" rotWithShape="0">
              <a:srgbClr val="000000">
                <a:alpha val="8000"/>
              </a:srgbClr>
            </a:outerShdw>
          </a:effectLst>
        </p:spPr>
      </p:sp>
      <p:sp>
        <p:nvSpPr>
          <p:cNvPr id="34" name="Shape 32"/>
          <p:cNvSpPr/>
          <p:nvPr/>
        </p:nvSpPr>
        <p:spPr>
          <a:xfrm>
            <a:off x="4736592" y="3453384"/>
            <a:ext cx="73152" cy="1196340"/>
          </a:xfrm>
          <a:prstGeom prst="rect">
            <a:avLst/>
          </a:prstGeom>
          <a:solidFill>
            <a:srgbClr val="8244A8"/>
          </a:solidFill>
          <a:ln w="12700">
            <a:solidFill>
              <a:srgbClr val="8244A8"/>
            </a:solidFill>
            <a:prstDash val="solid"/>
          </a:ln>
        </p:spPr>
      </p:sp>
      <p:sp>
        <p:nvSpPr>
          <p:cNvPr id="35" name="Text 33"/>
          <p:cNvSpPr/>
          <p:nvPr/>
        </p:nvSpPr>
        <p:spPr>
          <a:xfrm>
            <a:off x="4901184" y="3535680"/>
            <a:ext cx="4005072" cy="274320"/>
          </a:xfrm>
          <a:prstGeom prst="rect">
            <a:avLst/>
          </a:prstGeom>
          <a:noFill/>
        </p:spPr>
        <p:txBody>
          <a:bodyPr wrap="square" lIns="0" tIns="0" rIns="0" bIns="0" rtlCol="0" anchor="ctr"/>
          <a:lstStyle/>
          <a:p>
            <a:pPr marL="0" indent="0">
              <a:buNone/>
            </a:pPr>
            <a:r>
              <a:rPr lang="en-US" sz="1200" b="1" dirty="0">
                <a:solidFill>
                  <a:srgbClr val="1A2E3B"/>
                </a:solidFill>
                <a:latin typeface="Trebuchet MS" pitchFamily="34" charset="0"/>
                <a:ea typeface="Trebuchet MS" pitchFamily="34" charset="-122"/>
                <a:cs typeface="Trebuchet MS" pitchFamily="34" charset="-120"/>
              </a:rPr>
              <a:t>Dependencias del módulo</a:t>
            </a:r>
            <a:endParaRPr lang="en-US" sz="1200" dirty="0"/>
          </a:p>
        </p:txBody>
      </p:sp>
      <p:sp>
        <p:nvSpPr>
          <p:cNvPr id="36" name="Text 34"/>
          <p:cNvSpPr/>
          <p:nvPr/>
        </p:nvSpPr>
        <p:spPr>
          <a:xfrm>
            <a:off x="4901184" y="3800856"/>
            <a:ext cx="4005072" cy="794004"/>
          </a:xfrm>
          <a:prstGeom prst="rect">
            <a:avLst/>
          </a:prstGeom>
          <a:noFill/>
        </p:spPr>
        <p:txBody>
          <a:bodyPr wrap="square" lIns="0" tIns="0" rIns="0" bIns="0" rtlCol="0" anchor="t"/>
          <a:lstStyle/>
          <a:p>
            <a:pPr marL="0" indent="0">
              <a:buNone/>
            </a:pPr>
            <a:r>
              <a:rPr lang="en-US" sz="1120" dirty="0">
                <a:solidFill>
                  <a:srgbClr val="4A6778"/>
                </a:solidFill>
                <a:latin typeface="Calibri" pitchFamily="34" charset="0"/>
                <a:ea typeface="Calibri" pitchFamily="34" charset="-122"/>
                <a:cs typeface="Calibri" pitchFamily="34" charset="-120"/>
              </a:rPr>
              <a:t>scikit-learn ≥ 1.3 (estimadores, VotingClassifier, CalibratedClassifierCV, métricas) · scipy (matrices sparse CSR/CSC) · numpy (operaciones sobre arrays de probabilidades y coeficientes). pip install scikit-learn scipy numpy</a:t>
            </a:r>
            <a:endParaRPr lang="en-US" sz="1120" dirty="0"/>
          </a:p>
        </p:txBody>
      </p:sp>
      <p:sp>
        <p:nvSpPr>
          <p:cNvPr id="37" name="Shape 35"/>
          <p:cNvSpPr/>
          <p:nvPr/>
        </p:nvSpPr>
        <p:spPr>
          <a:xfrm>
            <a:off x="274320" y="4695444"/>
            <a:ext cx="8595360" cy="402336"/>
          </a:xfrm>
          <a:prstGeom prst="rect">
            <a:avLst/>
          </a:prstGeom>
          <a:solidFill>
            <a:srgbClr val="021B2E"/>
          </a:solidFill>
          <a:ln w="12700">
            <a:solidFill>
              <a:srgbClr val="021B2E"/>
            </a:solidFill>
            <a:prstDash val="solid"/>
          </a:ln>
        </p:spPr>
      </p:sp>
      <p:sp>
        <p:nvSpPr>
          <p:cNvPr id="38" name="Text 36"/>
          <p:cNvSpPr/>
          <p:nvPr/>
        </p:nvSpPr>
        <p:spPr>
          <a:xfrm>
            <a:off x="457200" y="4695444"/>
            <a:ext cx="8229600" cy="402336"/>
          </a:xfrm>
          <a:prstGeom prst="rect">
            <a:avLst/>
          </a:prstGeom>
          <a:noFill/>
        </p:spPr>
        <p:txBody>
          <a:bodyPr wrap="square" lIns="0" tIns="0" rIns="0" bIns="0" rtlCol="0" anchor="ctr"/>
          <a:lstStyle/>
          <a:p>
            <a:pPr marL="0" indent="0">
              <a:buNone/>
            </a:pPr>
            <a:r>
              <a:rPr lang="en-US" sz="1100" i="1" dirty="0">
                <a:solidFill>
                  <a:srgbClr val="8CB8CC"/>
                </a:solidFill>
                <a:latin typeface="Calibri" pitchFamily="34" charset="0"/>
                <a:ea typeface="Calibri" pitchFamily="34" charset="-122"/>
                <a:cs typeface="Calibri" pitchFamily="34" charset="-120"/>
              </a:rPr>
              <a:t>★  El VotingEnsemble es el modelo principal recomendado — combina la interpretabilidad de LR, la robustez de SVM y la eficiencia de CNB en un único estimador con API estándar sklearn.</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21B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A9E6A"/>
          </a:solidFill>
          <a:ln w="12700">
            <a:solidFill>
              <a:srgbClr val="1A9E6A"/>
            </a:solidFill>
            <a:prstDash val="solid"/>
          </a:ln>
        </p:spPr>
      </p:sp>
      <p:sp>
        <p:nvSpPr>
          <p:cNvPr id="3" name="Text 1"/>
          <p:cNvSpPr/>
          <p:nvPr/>
        </p:nvSpPr>
        <p:spPr>
          <a:xfrm>
            <a:off x="5029200" y="-274320"/>
            <a:ext cx="4114800" cy="5394960"/>
          </a:xfrm>
          <a:prstGeom prst="rect">
            <a:avLst/>
          </a:prstGeom>
          <a:noFill/>
        </p:spPr>
        <p:txBody>
          <a:bodyPr wrap="square" rtlCol="0" anchor="b"/>
          <a:lstStyle/>
          <a:p>
            <a:pPr marL="0" indent="0" algn="r">
              <a:buNone/>
            </a:pPr>
            <a:r>
              <a:rPr lang="en-US" sz="20000" b="1" dirty="0">
                <a:solidFill>
                  <a:srgbClr val="065A82">
                    <a:alpha val="45000"/>
                  </a:srgbClr>
                </a:solidFill>
                <a:latin typeface="Arial Black" pitchFamily="34" charset="0"/>
                <a:ea typeface="Arial Black" pitchFamily="34" charset="-122"/>
                <a:cs typeface="Arial Black" pitchFamily="34" charset="-120"/>
              </a:rPr>
              <a:t>0</a:t>
            </a:r>
            <a:r>
              <a:rPr lang="es-ES_tradnl" altLang="en-US" sz="20000" b="1" dirty="0">
                <a:solidFill>
                  <a:srgbClr val="065A82">
                    <a:alpha val="45000"/>
                  </a:srgbClr>
                </a:solidFill>
                <a:latin typeface="Arial Black" pitchFamily="34" charset="0"/>
                <a:ea typeface="Arial Black" pitchFamily="34" charset="-122"/>
                <a:cs typeface="Arial Black" pitchFamily="34" charset="-120"/>
              </a:rPr>
              <a:t>8</a:t>
            </a:r>
            <a:endParaRPr lang="es-ES_tradnl" altLang="en-US" sz="20000" b="1" dirty="0">
              <a:solidFill>
                <a:srgbClr val="065A82">
                  <a:alpha val="45000"/>
                </a:srgbClr>
              </a:solidFill>
              <a:latin typeface="Arial Black" pitchFamily="34" charset="0"/>
              <a:ea typeface="Arial Black" pitchFamily="34" charset="-122"/>
              <a:cs typeface="Arial Black" pitchFamily="34" charset="-120"/>
            </a:endParaRPr>
          </a:p>
        </p:txBody>
      </p:sp>
      <p:sp>
        <p:nvSpPr>
          <p:cNvPr id="4" name="Shape 2"/>
          <p:cNvSpPr/>
          <p:nvPr/>
        </p:nvSpPr>
        <p:spPr>
          <a:xfrm>
            <a:off x="457200" y="384048"/>
            <a:ext cx="1920240" cy="329184"/>
          </a:xfrm>
          <a:prstGeom prst="rect">
            <a:avLst/>
          </a:prstGeom>
          <a:solidFill>
            <a:srgbClr val="1A9E6A"/>
          </a:solidFill>
          <a:ln w="12700">
            <a:solidFill>
              <a:srgbClr val="1A9E6A"/>
            </a:solidFill>
            <a:prstDash val="solid"/>
          </a:ln>
        </p:spPr>
      </p:sp>
      <p:sp>
        <p:nvSpPr>
          <p:cNvPr id="5" name="Text 3"/>
          <p:cNvSpPr/>
          <p:nvPr/>
        </p:nvSpPr>
        <p:spPr>
          <a:xfrm>
            <a:off x="457200" y="384048"/>
            <a:ext cx="1920240" cy="329184"/>
          </a:xfrm>
          <a:prstGeom prst="rect">
            <a:avLst/>
          </a:prstGeom>
          <a:noFill/>
        </p:spPr>
        <p:txBody>
          <a:bodyPr wrap="square" lIns="0" tIns="0" rIns="0" bIns="0" rtlCol="0" anchor="ctr"/>
          <a:lstStyle/>
          <a:p>
            <a:pPr marL="0" indent="0" algn="ctr">
              <a:buNone/>
            </a:pPr>
            <a:r>
              <a:rPr lang="en-US" sz="1100" b="1" dirty="0">
                <a:solidFill>
                  <a:srgbClr val="021B2E"/>
                </a:solidFill>
                <a:latin typeface="Calibri" pitchFamily="34" charset="0"/>
                <a:ea typeface="Calibri" pitchFamily="34" charset="-122"/>
                <a:cs typeface="Calibri" pitchFamily="34" charset="-120"/>
              </a:rPr>
              <a:t>MÓDULO 03</a:t>
            </a:r>
            <a:endParaRPr lang="en-US" sz="1100" dirty="0"/>
          </a:p>
        </p:txBody>
      </p:sp>
      <p:sp>
        <p:nvSpPr>
          <p:cNvPr id="6" name="Text 4"/>
          <p:cNvSpPr/>
          <p:nvPr/>
        </p:nvSpPr>
        <p:spPr>
          <a:xfrm>
            <a:off x="457200" y="960120"/>
            <a:ext cx="8229600" cy="1371600"/>
          </a:xfrm>
          <a:prstGeom prst="rect">
            <a:avLst/>
          </a:prstGeom>
          <a:noFill/>
        </p:spPr>
        <p:txBody>
          <a:bodyPr wrap="square" rtlCol="0" anchor="ctr"/>
          <a:lstStyle/>
          <a:p>
            <a:pPr marL="0" indent="0">
              <a:buNone/>
            </a:pPr>
            <a:r>
              <a:rPr lang="en-US" sz="4400" b="1" dirty="0">
                <a:solidFill>
                  <a:srgbClr val="FFFFFF"/>
                </a:solidFill>
                <a:latin typeface="Trebuchet MS" pitchFamily="34" charset="0"/>
                <a:ea typeface="Trebuchet MS" pitchFamily="34" charset="-122"/>
                <a:cs typeface="Trebuchet MS" pitchFamily="34" charset="-120"/>
              </a:rPr>
              <a:t>analizar_v4.py</a:t>
            </a:r>
            <a:endParaRPr lang="en-US" sz="4400" dirty="0"/>
          </a:p>
        </p:txBody>
      </p:sp>
      <p:sp>
        <p:nvSpPr>
          <p:cNvPr id="7" name="Text 5"/>
          <p:cNvSpPr/>
          <p:nvPr/>
        </p:nvSpPr>
        <p:spPr>
          <a:xfrm>
            <a:off x="457200" y="2514600"/>
            <a:ext cx="6400800" cy="502920"/>
          </a:xfrm>
          <a:prstGeom prst="rect">
            <a:avLst/>
          </a:prstGeom>
          <a:noFill/>
        </p:spPr>
        <p:txBody>
          <a:bodyPr wrap="square" rtlCol="0" anchor="ctr"/>
          <a:lstStyle/>
          <a:p>
            <a:pPr marL="0" indent="0">
              <a:buNone/>
            </a:pPr>
            <a:r>
              <a:rPr lang="en-US" sz="1600" i="1" dirty="0">
                <a:solidFill>
                  <a:srgbClr val="8CB8CC"/>
                </a:solidFill>
                <a:latin typeface="Calibri" pitchFamily="34" charset="0"/>
                <a:ea typeface="Calibri" pitchFamily="34" charset="-122"/>
                <a:cs typeface="Calibri" pitchFamily="34" charset="-120"/>
              </a:rPr>
              <a:t>CRISP-DM Fase 5 — 7 análisis encadenados · salidas citable en tesis</a:t>
            </a:r>
            <a:endParaRPr lang="en-US" sz="1600" dirty="0"/>
          </a:p>
        </p:txBody>
      </p:sp>
      <p:sp>
        <p:nvSpPr>
          <p:cNvPr id="8" name="Text 6"/>
          <p:cNvSpPr/>
          <p:nvPr/>
        </p:nvSpPr>
        <p:spPr>
          <a:xfrm>
            <a:off x="457200" y="3090672"/>
            <a:ext cx="6400800" cy="329184"/>
          </a:xfrm>
          <a:prstGeom prst="rect">
            <a:avLst/>
          </a:prstGeom>
          <a:noFill/>
        </p:spPr>
        <p:txBody>
          <a:bodyPr wrap="square" rtlCol="0" anchor="ctr"/>
          <a:lstStyle/>
          <a:p>
            <a:pPr marL="0" indent="0">
              <a:buNone/>
            </a:pPr>
            <a:r>
              <a:rPr lang="en-US" sz="1300" dirty="0">
                <a:solidFill>
                  <a:srgbClr val="1A9E6A"/>
                </a:solidFill>
                <a:latin typeface="Calibri" pitchFamily="34" charset="0"/>
                <a:ea typeface="Calibri" pitchFamily="34" charset="-122"/>
                <a:cs typeface="Calibri" pitchFamily="34" charset="-120"/>
              </a:rPr>
              <a:t>analizar_v4.py  ·  scikit-learn ≥ 1.3  ·  matplotlib opcional</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0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65A82"/>
          </a:solidFill>
          <a:ln w="12700">
            <a:solidFill>
              <a:srgbClr val="065A82"/>
            </a:solidFill>
            <a:prstDash val="solid"/>
          </a:ln>
        </p:spPr>
      </p:sp>
      <p:sp>
        <p:nvSpPr>
          <p:cNvPr id="3" name="Shape 1"/>
          <p:cNvSpPr/>
          <p:nvPr/>
        </p:nvSpPr>
        <p:spPr>
          <a:xfrm>
            <a:off x="0" y="731520"/>
            <a:ext cx="9144000" cy="64008"/>
          </a:xfrm>
          <a:prstGeom prst="rect">
            <a:avLst/>
          </a:prstGeom>
          <a:solidFill>
            <a:srgbClr val="1A9E6A"/>
          </a:solidFill>
          <a:ln w="12700">
            <a:solidFill>
              <a:srgbClr val="1A9E6A"/>
            </a:solidFill>
            <a:prstDash val="solid"/>
          </a:ln>
        </p:spPr>
      </p:sp>
      <p:sp>
        <p:nvSpPr>
          <p:cNvPr id="4" name="Text 2"/>
          <p:cNvSpPr/>
          <p:nvPr/>
        </p:nvSpPr>
        <p:spPr>
          <a:xfrm>
            <a:off x="347472" y="0"/>
            <a:ext cx="8503920" cy="731520"/>
          </a:xfrm>
          <a:prstGeom prst="rect">
            <a:avLst/>
          </a:prstGeom>
          <a:noFill/>
        </p:spPr>
        <p:txBody>
          <a:bodyPr wrap="square" lIns="0" tIns="0" rIns="0" bIns="0" rtlCol="0" anchor="ctr"/>
          <a:lstStyle/>
          <a:p>
            <a:pPr marL="0" indent="0">
              <a:buNone/>
            </a:pPr>
            <a:r>
              <a:rPr lang="en-US" sz="2100" b="1" dirty="0">
                <a:solidFill>
                  <a:srgbClr val="FFFFFF"/>
                </a:solidFill>
                <a:latin typeface="Trebuchet MS" pitchFamily="34" charset="0"/>
                <a:ea typeface="Trebuchet MS" pitchFamily="34" charset="-122"/>
                <a:cs typeface="Trebuchet MS" pitchFamily="34" charset="-120"/>
              </a:rPr>
              <a:t>analizar_v4 — Validación, Calibración y Errores Críticos</a:t>
            </a:r>
            <a:endParaRPr lang="en-US" sz="2100" dirty="0"/>
          </a:p>
        </p:txBody>
      </p:sp>
      <p:sp>
        <p:nvSpPr>
          <p:cNvPr id="5" name="Shape 3"/>
          <p:cNvSpPr/>
          <p:nvPr/>
        </p:nvSpPr>
        <p:spPr>
          <a:xfrm>
            <a:off x="274320" y="877824"/>
            <a:ext cx="8595360" cy="1360932"/>
          </a:xfrm>
          <a:prstGeom prst="rect">
            <a:avLst/>
          </a:prstGeom>
          <a:solidFill>
            <a:srgbClr val="FFFFFF"/>
          </a:solidFill>
          <a:ln w="12700">
            <a:solidFill>
              <a:srgbClr val="D8E8F0"/>
            </a:solidFill>
            <a:prstDash val="solid"/>
          </a:ln>
          <a:effectLst>
            <a:outerShdw blurRad="63500" dist="25400" dir="8100000" algn="bl" rotWithShape="0">
              <a:srgbClr val="000000">
                <a:alpha val="8000"/>
              </a:srgbClr>
            </a:outerShdw>
          </a:effectLst>
        </p:spPr>
      </p:sp>
      <p:sp>
        <p:nvSpPr>
          <p:cNvPr id="6" name="Shape 4"/>
          <p:cNvSpPr/>
          <p:nvPr/>
        </p:nvSpPr>
        <p:spPr>
          <a:xfrm>
            <a:off x="274320" y="877824"/>
            <a:ext cx="73152" cy="1360932"/>
          </a:xfrm>
          <a:prstGeom prst="rect">
            <a:avLst/>
          </a:prstGeom>
          <a:solidFill>
            <a:srgbClr val="1A9E6A"/>
          </a:solidFill>
          <a:ln w="12700">
            <a:solidFill>
              <a:srgbClr val="1A9E6A"/>
            </a:solidFill>
            <a:prstDash val="solid"/>
          </a:ln>
        </p:spPr>
      </p:sp>
      <p:sp>
        <p:nvSpPr>
          <p:cNvPr id="7" name="Shape 5"/>
          <p:cNvSpPr/>
          <p:nvPr/>
        </p:nvSpPr>
        <p:spPr>
          <a:xfrm>
            <a:off x="7882128" y="969264"/>
            <a:ext cx="914400" cy="256032"/>
          </a:xfrm>
          <a:prstGeom prst="rect">
            <a:avLst/>
          </a:prstGeom>
          <a:solidFill>
            <a:srgbClr val="1A9E6A"/>
          </a:solidFill>
          <a:ln w="12700">
            <a:solidFill>
              <a:srgbClr val="1A9E6A"/>
            </a:solidFill>
            <a:prstDash val="solid"/>
          </a:ln>
        </p:spPr>
      </p:sp>
      <p:sp>
        <p:nvSpPr>
          <p:cNvPr id="8" name="Text 6"/>
          <p:cNvSpPr/>
          <p:nvPr/>
        </p:nvSpPr>
        <p:spPr>
          <a:xfrm>
            <a:off x="7882128" y="969264"/>
            <a:ext cx="914400" cy="256032"/>
          </a:xfrm>
          <a:prstGeom prst="rect">
            <a:avLst/>
          </a:prstGeom>
          <a:noFill/>
        </p:spPr>
        <p:txBody>
          <a:bodyPr wrap="square" lIns="0" tIns="0" rIns="0" bIns="0" rtlCol="0" anchor="ctr"/>
          <a:lstStyle/>
          <a:p>
            <a:pPr marL="0" indent="0" algn="ctr">
              <a:buNone/>
            </a:pPr>
            <a:r>
              <a:rPr lang="en-US" sz="900" b="1" dirty="0">
                <a:solidFill>
                  <a:srgbClr val="021B2E"/>
                </a:solidFill>
                <a:latin typeface="Calibri" pitchFamily="34" charset="0"/>
                <a:ea typeface="Calibri" pitchFamily="34" charset="-122"/>
                <a:cs typeface="Calibri" pitchFamily="34" charset="-120"/>
              </a:rPr>
              <a:t>ROBUSTO</a:t>
            </a:r>
            <a:endParaRPr lang="en-US" sz="900" dirty="0"/>
          </a:p>
        </p:txBody>
      </p:sp>
      <p:sp>
        <p:nvSpPr>
          <p:cNvPr id="9" name="Text 7"/>
          <p:cNvSpPr/>
          <p:nvPr/>
        </p:nvSpPr>
        <p:spPr>
          <a:xfrm>
            <a:off x="475488" y="969264"/>
            <a:ext cx="7269480" cy="301752"/>
          </a:xfrm>
          <a:prstGeom prst="rect">
            <a:avLst/>
          </a:prstGeom>
          <a:noFill/>
        </p:spPr>
        <p:txBody>
          <a:bodyPr wrap="square" lIns="0" tIns="0" rIns="0" bIns="0" rtlCol="0" anchor="ctr"/>
          <a:lstStyle/>
          <a:p>
            <a:pPr marL="0" indent="0">
              <a:buNone/>
            </a:pPr>
            <a:r>
              <a:rPr lang="en-US" sz="1350" b="1" dirty="0">
                <a:solidFill>
                  <a:srgbClr val="1A2E3B"/>
                </a:solidFill>
                <a:latin typeface="Trebuchet MS" pitchFamily="34" charset="0"/>
                <a:ea typeface="Trebuchet MS" pitchFamily="34" charset="-122"/>
                <a:cs typeface="Trebuchet MS" pitchFamily="34" charset="-120"/>
              </a:rPr>
              <a:t>① Detección automática de BERT + ② Validación cruzada 10-fold estratificada</a:t>
            </a:r>
            <a:endParaRPr lang="en-US" sz="1350" dirty="0"/>
          </a:p>
        </p:txBody>
      </p:sp>
      <p:sp>
        <p:nvSpPr>
          <p:cNvPr id="10" name="Text 8"/>
          <p:cNvSpPr/>
          <p:nvPr/>
        </p:nvSpPr>
        <p:spPr>
          <a:xfrm>
            <a:off x="475488" y="1261872"/>
            <a:ext cx="7955280" cy="903732"/>
          </a:xfrm>
          <a:prstGeom prst="rect">
            <a:avLst/>
          </a:prstGeom>
          <a:noFill/>
        </p:spPr>
        <p:txBody>
          <a:bodyPr wrap="square" lIns="0" tIns="0" rIns="0" bIns="0" rtlCol="0" anchor="t"/>
          <a:lstStyle/>
          <a:p>
            <a:pPr marL="0" indent="0">
              <a:buNone/>
            </a:pPr>
            <a:r>
              <a:rPr lang="en-US" sz="1250" dirty="0">
                <a:solidFill>
                  <a:srgbClr val="4A6778"/>
                </a:solidFill>
                <a:latin typeface="Calibri" pitchFamily="34" charset="0"/>
                <a:ea typeface="Calibri" pitchFamily="34" charset="-122"/>
                <a:cs typeface="Calibri" pitchFamily="34" charset="-120"/>
              </a:rPr>
              <a:t>① Si ≥10% de filas tienen prob_neg ≠ 0 → usa LR como estimador principal (maneja correlación entre prob_neg y sentimiento_num); en caso contrario usa CNB. ② Validación 10-fold produce: f1_weighted.media · f1_weighted.ic95_pm (= x̄ ± 1.96·σ/√k, citable directamente en tesis) · f1_alta.media · roc_auc.media · overfitting.gap (detectado automáticamente si gap &gt; 10%). Veredicto automático: 'muy estable' / 'inestable' / etc.</a:t>
            </a:r>
            <a:endParaRPr lang="en-US" sz="1250" dirty="0"/>
          </a:p>
        </p:txBody>
      </p:sp>
      <p:sp>
        <p:nvSpPr>
          <p:cNvPr id="11" name="Shape 9"/>
          <p:cNvSpPr/>
          <p:nvPr/>
        </p:nvSpPr>
        <p:spPr>
          <a:xfrm>
            <a:off x="274320" y="2330196"/>
            <a:ext cx="8595360" cy="1360932"/>
          </a:xfrm>
          <a:prstGeom prst="rect">
            <a:avLst/>
          </a:prstGeom>
          <a:solidFill>
            <a:srgbClr val="FFFFFF"/>
          </a:solidFill>
          <a:ln w="12700">
            <a:solidFill>
              <a:srgbClr val="D8E8F0"/>
            </a:solidFill>
            <a:prstDash val="solid"/>
          </a:ln>
          <a:effectLst>
            <a:outerShdw blurRad="63500" dist="25400" dir="8100000" algn="bl" rotWithShape="0">
              <a:srgbClr val="000000">
                <a:alpha val="8000"/>
              </a:srgbClr>
            </a:outerShdw>
          </a:effectLst>
        </p:spPr>
      </p:sp>
      <p:sp>
        <p:nvSpPr>
          <p:cNvPr id="12" name="Shape 10"/>
          <p:cNvSpPr/>
          <p:nvPr/>
        </p:nvSpPr>
        <p:spPr>
          <a:xfrm>
            <a:off x="274320" y="2330196"/>
            <a:ext cx="73152" cy="1360932"/>
          </a:xfrm>
          <a:prstGeom prst="rect">
            <a:avLst/>
          </a:prstGeom>
          <a:solidFill>
            <a:srgbClr val="1A9E6A"/>
          </a:solidFill>
          <a:ln w="12700">
            <a:solidFill>
              <a:srgbClr val="1A9E6A"/>
            </a:solidFill>
            <a:prstDash val="solid"/>
          </a:ln>
        </p:spPr>
      </p:sp>
      <p:sp>
        <p:nvSpPr>
          <p:cNvPr id="13" name="Shape 11"/>
          <p:cNvSpPr/>
          <p:nvPr/>
        </p:nvSpPr>
        <p:spPr>
          <a:xfrm>
            <a:off x="7882128" y="2421636"/>
            <a:ext cx="914400" cy="256032"/>
          </a:xfrm>
          <a:prstGeom prst="rect">
            <a:avLst/>
          </a:prstGeom>
          <a:solidFill>
            <a:srgbClr val="1A9E6A"/>
          </a:solidFill>
          <a:ln w="12700">
            <a:solidFill>
              <a:srgbClr val="1A9E6A"/>
            </a:solidFill>
            <a:prstDash val="solid"/>
          </a:ln>
        </p:spPr>
      </p:sp>
      <p:sp>
        <p:nvSpPr>
          <p:cNvPr id="14" name="Text 12"/>
          <p:cNvSpPr/>
          <p:nvPr/>
        </p:nvSpPr>
        <p:spPr>
          <a:xfrm>
            <a:off x="7882128" y="2421636"/>
            <a:ext cx="914400" cy="256032"/>
          </a:xfrm>
          <a:prstGeom prst="rect">
            <a:avLst/>
          </a:prstGeom>
          <a:noFill/>
        </p:spPr>
        <p:txBody>
          <a:bodyPr wrap="square" lIns="0" tIns="0" rIns="0" bIns="0" rtlCol="0" anchor="ctr"/>
          <a:lstStyle/>
          <a:p>
            <a:pPr marL="0" indent="0" algn="ctr">
              <a:buNone/>
            </a:pPr>
            <a:r>
              <a:rPr lang="en-US" sz="900" b="1" dirty="0">
                <a:solidFill>
                  <a:srgbClr val="021B2E"/>
                </a:solidFill>
                <a:latin typeface="Calibri" pitchFamily="34" charset="0"/>
                <a:ea typeface="Calibri" pitchFamily="34" charset="-122"/>
                <a:cs typeface="Calibri" pitchFamily="34" charset="-120"/>
              </a:rPr>
              <a:t>PROB</a:t>
            </a:r>
            <a:endParaRPr lang="en-US" sz="900" dirty="0"/>
          </a:p>
        </p:txBody>
      </p:sp>
      <p:sp>
        <p:nvSpPr>
          <p:cNvPr id="15" name="Text 13"/>
          <p:cNvSpPr/>
          <p:nvPr/>
        </p:nvSpPr>
        <p:spPr>
          <a:xfrm>
            <a:off x="475488" y="2421636"/>
            <a:ext cx="7269480" cy="301752"/>
          </a:xfrm>
          <a:prstGeom prst="rect">
            <a:avLst/>
          </a:prstGeom>
          <a:noFill/>
        </p:spPr>
        <p:txBody>
          <a:bodyPr wrap="square" lIns="0" tIns="0" rIns="0" bIns="0" rtlCol="0" anchor="ctr"/>
          <a:lstStyle/>
          <a:p>
            <a:pPr marL="0" indent="0">
              <a:buNone/>
            </a:pPr>
            <a:r>
              <a:rPr lang="en-US" sz="1350" b="1" dirty="0">
                <a:solidFill>
                  <a:srgbClr val="1A2E3B"/>
                </a:solidFill>
                <a:latin typeface="Trebuchet MS" pitchFamily="34" charset="0"/>
                <a:ea typeface="Trebuchet MS" pitchFamily="34" charset="-122"/>
                <a:cs typeface="Trebuchet MS" pitchFamily="34" charset="-120"/>
              </a:rPr>
              <a:t>③ Calibración isotónica de probabilidades — Brier Score y Log-Loss</a:t>
            </a:r>
            <a:endParaRPr lang="en-US" sz="1350" dirty="0"/>
          </a:p>
        </p:txBody>
      </p:sp>
      <p:sp>
        <p:nvSpPr>
          <p:cNvPr id="16" name="Text 14"/>
          <p:cNvSpPr/>
          <p:nvPr/>
        </p:nvSpPr>
        <p:spPr>
          <a:xfrm>
            <a:off x="475488" y="2714244"/>
            <a:ext cx="7955280" cy="903732"/>
          </a:xfrm>
          <a:prstGeom prst="rect">
            <a:avLst/>
          </a:prstGeom>
          <a:noFill/>
        </p:spPr>
        <p:txBody>
          <a:bodyPr wrap="square" lIns="0" tIns="0" rIns="0" bIns="0" rtlCol="0" anchor="t"/>
          <a:lstStyle/>
          <a:p>
            <a:pPr marL="0" indent="0">
              <a:buNone/>
            </a:pPr>
            <a:r>
              <a:rPr lang="en-US" sz="1250" dirty="0">
                <a:solidFill>
                  <a:srgbClr val="4A6778"/>
                </a:solidFill>
                <a:latin typeface="Calibri" pitchFamily="34" charset="0"/>
                <a:ea typeface="Calibri" pitchFamily="34" charset="-122"/>
                <a:cs typeface="Calibri" pitchFamily="34" charset="-120"/>
              </a:rPr>
              <a:t>Entrena el estimador principal dos veces: sin calibrar (línea base) y con CalibratedClassifierCV(method='isotonic', cv=5). Un modelo sin calibrar infla probabilidades en los extremos. Métricas: Brier Score↓ (exactitud de probabilidades predichas), Log-Loss↓ (penaliza predicciones incorrectas con alta confianza), mejora_brier_pct (positivo = calibración útil, citable en tesis). clf_cal se usa como referencia en todos los pasos ④⑤⑥⑦ posteriores.</a:t>
            </a:r>
            <a:endParaRPr lang="en-US" sz="1250" dirty="0"/>
          </a:p>
        </p:txBody>
      </p:sp>
      <p:sp>
        <p:nvSpPr>
          <p:cNvPr id="17" name="Shape 15"/>
          <p:cNvSpPr/>
          <p:nvPr/>
        </p:nvSpPr>
        <p:spPr>
          <a:xfrm>
            <a:off x="274320" y="3782568"/>
            <a:ext cx="8595360" cy="1360932"/>
          </a:xfrm>
          <a:prstGeom prst="rect">
            <a:avLst/>
          </a:prstGeom>
          <a:solidFill>
            <a:srgbClr val="FFFFFF"/>
          </a:solidFill>
          <a:ln w="12700">
            <a:solidFill>
              <a:srgbClr val="D8E8F0"/>
            </a:solidFill>
            <a:prstDash val="solid"/>
          </a:ln>
          <a:effectLst>
            <a:outerShdw blurRad="63500" dist="25400" dir="8100000" algn="bl" rotWithShape="0">
              <a:srgbClr val="000000">
                <a:alpha val="8000"/>
              </a:srgbClr>
            </a:outerShdw>
          </a:effectLst>
        </p:spPr>
      </p:sp>
      <p:sp>
        <p:nvSpPr>
          <p:cNvPr id="18" name="Shape 16"/>
          <p:cNvSpPr/>
          <p:nvPr/>
        </p:nvSpPr>
        <p:spPr>
          <a:xfrm>
            <a:off x="274320" y="3782568"/>
            <a:ext cx="73152" cy="1360932"/>
          </a:xfrm>
          <a:prstGeom prst="rect">
            <a:avLst/>
          </a:prstGeom>
          <a:solidFill>
            <a:srgbClr val="1A9E6A"/>
          </a:solidFill>
          <a:ln w="12700">
            <a:solidFill>
              <a:srgbClr val="1A9E6A"/>
            </a:solidFill>
            <a:prstDash val="solid"/>
          </a:ln>
        </p:spPr>
      </p:sp>
      <p:sp>
        <p:nvSpPr>
          <p:cNvPr id="19" name="Shape 17"/>
          <p:cNvSpPr/>
          <p:nvPr/>
        </p:nvSpPr>
        <p:spPr>
          <a:xfrm>
            <a:off x="7882128" y="3874008"/>
            <a:ext cx="914400" cy="256032"/>
          </a:xfrm>
          <a:prstGeom prst="rect">
            <a:avLst/>
          </a:prstGeom>
          <a:solidFill>
            <a:srgbClr val="1A9E6A"/>
          </a:solidFill>
          <a:ln w="12700">
            <a:solidFill>
              <a:srgbClr val="1A9E6A"/>
            </a:solidFill>
            <a:prstDash val="solid"/>
          </a:ln>
        </p:spPr>
      </p:sp>
      <p:sp>
        <p:nvSpPr>
          <p:cNvPr id="20" name="Text 18"/>
          <p:cNvSpPr/>
          <p:nvPr/>
        </p:nvSpPr>
        <p:spPr>
          <a:xfrm>
            <a:off x="7882128" y="3874008"/>
            <a:ext cx="914400" cy="256032"/>
          </a:xfrm>
          <a:prstGeom prst="rect">
            <a:avLst/>
          </a:prstGeom>
          <a:noFill/>
        </p:spPr>
        <p:txBody>
          <a:bodyPr wrap="square" lIns="0" tIns="0" rIns="0" bIns="0" rtlCol="0" anchor="ctr"/>
          <a:lstStyle/>
          <a:p>
            <a:pPr marL="0" indent="0" algn="ctr">
              <a:buNone/>
            </a:pPr>
            <a:r>
              <a:rPr lang="en-US" sz="900" b="1" dirty="0">
                <a:solidFill>
                  <a:srgbClr val="021B2E"/>
                </a:solidFill>
                <a:latin typeface="Calibri" pitchFamily="34" charset="0"/>
                <a:ea typeface="Calibri" pitchFamily="34" charset="-122"/>
                <a:cs typeface="Calibri" pitchFamily="34" charset="-120"/>
              </a:rPr>
              <a:t>DIAGNÓSTICO</a:t>
            </a:r>
            <a:endParaRPr lang="en-US" sz="900" dirty="0"/>
          </a:p>
        </p:txBody>
      </p:sp>
      <p:sp>
        <p:nvSpPr>
          <p:cNvPr id="21" name="Text 19"/>
          <p:cNvSpPr/>
          <p:nvPr/>
        </p:nvSpPr>
        <p:spPr>
          <a:xfrm>
            <a:off x="475488" y="3874008"/>
            <a:ext cx="7269480" cy="301752"/>
          </a:xfrm>
          <a:prstGeom prst="rect">
            <a:avLst/>
          </a:prstGeom>
          <a:noFill/>
        </p:spPr>
        <p:txBody>
          <a:bodyPr wrap="square" lIns="0" tIns="0" rIns="0" bIns="0" rtlCol="0" anchor="ctr"/>
          <a:lstStyle/>
          <a:p>
            <a:pPr marL="0" indent="0">
              <a:buNone/>
            </a:pPr>
            <a:r>
              <a:rPr lang="en-US" sz="1350" b="1" dirty="0">
                <a:solidFill>
                  <a:srgbClr val="1A2E3B"/>
                </a:solidFill>
                <a:latin typeface="Trebuchet MS" pitchFamily="34" charset="0"/>
                <a:ea typeface="Trebuchet MS" pitchFamily="34" charset="-122"/>
                <a:cs typeface="Trebuchet MS" pitchFamily="34" charset="-120"/>
              </a:rPr>
              <a:t>④ Análisis de errores críticos — FN/FP confiados (umbral 0.80)</a:t>
            </a:r>
            <a:endParaRPr lang="en-US" sz="1350" dirty="0"/>
          </a:p>
        </p:txBody>
      </p:sp>
      <p:sp>
        <p:nvSpPr>
          <p:cNvPr id="22" name="Text 20"/>
          <p:cNvSpPr/>
          <p:nvPr/>
        </p:nvSpPr>
        <p:spPr>
          <a:xfrm>
            <a:off x="475488" y="4166616"/>
            <a:ext cx="7955280" cy="903732"/>
          </a:xfrm>
          <a:prstGeom prst="rect">
            <a:avLst/>
          </a:prstGeom>
          <a:noFill/>
        </p:spPr>
        <p:txBody>
          <a:bodyPr wrap="square" lIns="0" tIns="0" rIns="0" bIns="0" rtlCol="0" anchor="t"/>
          <a:lstStyle/>
          <a:p>
            <a:pPr marL="0" indent="0">
              <a:buNone/>
            </a:pPr>
            <a:r>
              <a:rPr lang="en-US" sz="1250" dirty="0">
                <a:solidFill>
                  <a:srgbClr val="4A6778"/>
                </a:solidFill>
                <a:latin typeface="Calibri" pitchFamily="34" charset="0"/>
                <a:ea typeface="Calibri" pitchFamily="34" charset="-122"/>
                <a:cs typeface="Calibri" pitchFamily="34" charset="-120"/>
              </a:rPr>
              <a:t>FN confiado: modelo predijo MEDIA con ≥80% de confianza pero era ALTA → coste en salud pública ALTO (queja real ignorada). FP confiado: predijo ALTA pero era MEDIA → falsa alarma. Diagnóstico automático BERT vs TF-IDF: BERT✓/TF-IDF✗ → ampliar TERMINOS_DOMINIO; ambos ✗ → caso genuinamente difícil (sarcasmo/queja implícita); BERT✗/TF-IDF✓ → contexto ambiguo para el modelo de sentimiento. Exporta los 20 peores casos a errores_criticos_&lt;ts&gt;.json con texto, tokens y diagnóstico.</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0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65A82"/>
          </a:solidFill>
          <a:ln w="12700">
            <a:solidFill>
              <a:srgbClr val="065A82"/>
            </a:solidFill>
            <a:prstDash val="solid"/>
          </a:ln>
        </p:spPr>
      </p:sp>
      <p:sp>
        <p:nvSpPr>
          <p:cNvPr id="3" name="Shape 1"/>
          <p:cNvSpPr/>
          <p:nvPr/>
        </p:nvSpPr>
        <p:spPr>
          <a:xfrm>
            <a:off x="0" y="731520"/>
            <a:ext cx="9144000" cy="64008"/>
          </a:xfrm>
          <a:prstGeom prst="rect">
            <a:avLst/>
          </a:prstGeom>
          <a:solidFill>
            <a:srgbClr val="1A9E6A"/>
          </a:solidFill>
          <a:ln w="12700">
            <a:solidFill>
              <a:srgbClr val="1A9E6A"/>
            </a:solidFill>
            <a:prstDash val="solid"/>
          </a:ln>
        </p:spPr>
      </p:sp>
      <p:sp>
        <p:nvSpPr>
          <p:cNvPr id="4" name="Text 2"/>
          <p:cNvSpPr/>
          <p:nvPr/>
        </p:nvSpPr>
        <p:spPr>
          <a:xfrm>
            <a:off x="347472" y="0"/>
            <a:ext cx="8503920" cy="731520"/>
          </a:xfrm>
          <a:prstGeom prst="rect">
            <a:avLst/>
          </a:prstGeom>
          <a:noFill/>
        </p:spPr>
        <p:txBody>
          <a:bodyPr wrap="square" lIns="0" tIns="0" rIns="0" bIns="0" rtlCol="0" anchor="ctr"/>
          <a:lstStyle/>
          <a:p>
            <a:pPr marL="0" indent="0">
              <a:buNone/>
            </a:pPr>
            <a:r>
              <a:rPr lang="en-US" sz="2100" b="1" dirty="0">
                <a:solidFill>
                  <a:srgbClr val="FFFFFF"/>
                </a:solidFill>
                <a:latin typeface="Trebuchet MS" pitchFamily="34" charset="0"/>
                <a:ea typeface="Trebuchet MS" pitchFamily="34" charset="-122"/>
                <a:cs typeface="Trebuchet MS" pitchFamily="34" charset="-120"/>
              </a:rPr>
              <a:t>analizar_v4 — Curva de Aprendizaje, Comparación de Modelos y Top Features</a:t>
            </a:r>
            <a:endParaRPr lang="en-US" sz="2100" dirty="0"/>
          </a:p>
        </p:txBody>
      </p:sp>
      <p:sp>
        <p:nvSpPr>
          <p:cNvPr id="5" name="Shape 3"/>
          <p:cNvSpPr/>
          <p:nvPr/>
        </p:nvSpPr>
        <p:spPr>
          <a:xfrm>
            <a:off x="274320" y="877824"/>
            <a:ext cx="4224528" cy="1196340"/>
          </a:xfrm>
          <a:prstGeom prst="rect">
            <a:avLst/>
          </a:prstGeom>
          <a:solidFill>
            <a:srgbClr val="FFFFFF"/>
          </a:solidFill>
          <a:ln w="12700">
            <a:solidFill>
              <a:srgbClr val="D8E8F0"/>
            </a:solidFill>
            <a:prstDash val="solid"/>
          </a:ln>
          <a:effectLst>
            <a:outerShdw blurRad="63500" dist="25400" dir="8100000" algn="bl" rotWithShape="0">
              <a:srgbClr val="000000">
                <a:alpha val="8000"/>
              </a:srgbClr>
            </a:outerShdw>
          </a:effectLst>
        </p:spPr>
      </p:sp>
      <p:sp>
        <p:nvSpPr>
          <p:cNvPr id="6" name="Shape 4"/>
          <p:cNvSpPr/>
          <p:nvPr/>
        </p:nvSpPr>
        <p:spPr>
          <a:xfrm>
            <a:off x="274320" y="877824"/>
            <a:ext cx="73152" cy="1196340"/>
          </a:xfrm>
          <a:prstGeom prst="rect">
            <a:avLst/>
          </a:prstGeom>
          <a:solidFill>
            <a:srgbClr val="1A9E6A"/>
          </a:solidFill>
          <a:ln w="12700">
            <a:solidFill>
              <a:srgbClr val="1A9E6A"/>
            </a:solidFill>
            <a:prstDash val="solid"/>
          </a:ln>
        </p:spPr>
      </p:sp>
      <p:sp>
        <p:nvSpPr>
          <p:cNvPr id="7" name="Shape 5"/>
          <p:cNvSpPr/>
          <p:nvPr/>
        </p:nvSpPr>
        <p:spPr>
          <a:xfrm>
            <a:off x="3511296" y="960120"/>
            <a:ext cx="941832" cy="237744"/>
          </a:xfrm>
          <a:prstGeom prst="rect">
            <a:avLst/>
          </a:prstGeom>
          <a:solidFill>
            <a:srgbClr val="1A9E6A"/>
          </a:solidFill>
          <a:ln w="12700">
            <a:solidFill>
              <a:srgbClr val="1A9E6A"/>
            </a:solidFill>
            <a:prstDash val="solid"/>
          </a:ln>
        </p:spPr>
      </p:sp>
      <p:sp>
        <p:nvSpPr>
          <p:cNvPr id="8" name="Text 6"/>
          <p:cNvSpPr/>
          <p:nvPr/>
        </p:nvSpPr>
        <p:spPr>
          <a:xfrm>
            <a:off x="3511296" y="960120"/>
            <a:ext cx="941832" cy="237744"/>
          </a:xfrm>
          <a:prstGeom prst="rect">
            <a:avLst/>
          </a:prstGeom>
          <a:noFill/>
        </p:spPr>
        <p:txBody>
          <a:bodyPr wrap="square" lIns="0" tIns="0" rIns="0" bIns="0" rtlCol="0" anchor="ctr"/>
          <a:lstStyle/>
          <a:p>
            <a:pPr marL="0" indent="0" algn="ctr">
              <a:buNone/>
            </a:pPr>
            <a:r>
              <a:rPr lang="en-US" sz="850" b="1" dirty="0">
                <a:solidFill>
                  <a:srgbClr val="021B2E"/>
                </a:solidFill>
                <a:latin typeface="Calibri" pitchFamily="34" charset="0"/>
                <a:ea typeface="Calibri" pitchFamily="34" charset="-122"/>
                <a:cs typeface="Calibri" pitchFamily="34" charset="-120"/>
              </a:rPr>
              <a:t>DIAGNÓSTICO</a:t>
            </a:r>
            <a:endParaRPr lang="en-US" sz="850" dirty="0"/>
          </a:p>
        </p:txBody>
      </p:sp>
      <p:sp>
        <p:nvSpPr>
          <p:cNvPr id="9" name="Text 7"/>
          <p:cNvSpPr/>
          <p:nvPr/>
        </p:nvSpPr>
        <p:spPr>
          <a:xfrm>
            <a:off x="438912" y="960120"/>
            <a:ext cx="3054096" cy="274320"/>
          </a:xfrm>
          <a:prstGeom prst="rect">
            <a:avLst/>
          </a:prstGeom>
          <a:noFill/>
        </p:spPr>
        <p:txBody>
          <a:bodyPr wrap="square" lIns="0" tIns="0" rIns="0" bIns="0" rtlCol="0" anchor="ctr"/>
          <a:lstStyle/>
          <a:p>
            <a:pPr marL="0" indent="0">
              <a:buNone/>
            </a:pPr>
            <a:r>
              <a:rPr lang="en-US" sz="1200" b="1" dirty="0">
                <a:solidFill>
                  <a:srgbClr val="1A2E3B"/>
                </a:solidFill>
                <a:latin typeface="Trebuchet MS" pitchFamily="34" charset="0"/>
                <a:ea typeface="Trebuchet MS" pitchFamily="34" charset="-122"/>
                <a:cs typeface="Trebuchet MS" pitchFamily="34" charset="-120"/>
              </a:rPr>
              <a:t>⑤ Curva de aprendizaje — Diagnóstico automático</a:t>
            </a:r>
            <a:endParaRPr lang="en-US" sz="1200" dirty="0"/>
          </a:p>
        </p:txBody>
      </p:sp>
      <p:sp>
        <p:nvSpPr>
          <p:cNvPr id="10" name="Text 8"/>
          <p:cNvSpPr/>
          <p:nvPr/>
        </p:nvSpPr>
        <p:spPr>
          <a:xfrm>
            <a:off x="438912" y="1225296"/>
            <a:ext cx="4005072" cy="794004"/>
          </a:xfrm>
          <a:prstGeom prst="rect">
            <a:avLst/>
          </a:prstGeom>
          <a:noFill/>
        </p:spPr>
        <p:txBody>
          <a:bodyPr wrap="square" lIns="0" tIns="0" rIns="0" bIns="0" rtlCol="0" anchor="t"/>
          <a:lstStyle/>
          <a:p>
            <a:pPr marL="0" indent="0">
              <a:buNone/>
            </a:pPr>
            <a:r>
              <a:rPr lang="en-US" sz="1120" dirty="0">
                <a:solidFill>
                  <a:srgbClr val="4A6778"/>
                </a:solidFill>
                <a:latin typeface="Calibri" pitchFamily="34" charset="0"/>
                <a:ea typeface="Calibri" pitchFamily="34" charset="-122"/>
                <a:cs typeface="Calibri" pitchFamily="34" charset="-120"/>
              </a:rPr>
              <a:t>F1-weighted en 8 tamaños (10%→100%, cv=5). gap&gt;0.12 → overfitting → reducir vocabulario; pendiente_test&gt;0.02 → sigue mejorando → más scraping; gap&lt;0.03 → saturado → mejorar features. Genera curva_&lt;modelo&gt;_&lt;ts&gt;.png y confusion_&lt;modelo&gt;_&lt;ts&gt;.png.</a:t>
            </a:r>
            <a:endParaRPr lang="en-US" sz="1120" dirty="0"/>
          </a:p>
        </p:txBody>
      </p:sp>
      <p:sp>
        <p:nvSpPr>
          <p:cNvPr id="11" name="Shape 9"/>
          <p:cNvSpPr/>
          <p:nvPr/>
        </p:nvSpPr>
        <p:spPr>
          <a:xfrm>
            <a:off x="4736592" y="877824"/>
            <a:ext cx="4224528" cy="1196340"/>
          </a:xfrm>
          <a:prstGeom prst="rect">
            <a:avLst/>
          </a:prstGeom>
          <a:solidFill>
            <a:srgbClr val="FFFFFF"/>
          </a:solidFill>
          <a:ln w="12700">
            <a:solidFill>
              <a:srgbClr val="D8E8F0"/>
            </a:solidFill>
            <a:prstDash val="solid"/>
          </a:ln>
          <a:effectLst>
            <a:outerShdw blurRad="63500" dist="25400" dir="8100000" algn="bl" rotWithShape="0">
              <a:srgbClr val="000000">
                <a:alpha val="8000"/>
              </a:srgbClr>
            </a:outerShdw>
          </a:effectLst>
        </p:spPr>
      </p:sp>
      <p:sp>
        <p:nvSpPr>
          <p:cNvPr id="12" name="Shape 10"/>
          <p:cNvSpPr/>
          <p:nvPr/>
        </p:nvSpPr>
        <p:spPr>
          <a:xfrm>
            <a:off x="4736592" y="877824"/>
            <a:ext cx="73152" cy="1196340"/>
          </a:xfrm>
          <a:prstGeom prst="rect">
            <a:avLst/>
          </a:prstGeom>
          <a:solidFill>
            <a:srgbClr val="1A9E6A"/>
          </a:solidFill>
          <a:ln w="12700">
            <a:solidFill>
              <a:srgbClr val="1A9E6A"/>
            </a:solidFill>
            <a:prstDash val="solid"/>
          </a:ln>
        </p:spPr>
      </p:sp>
      <p:sp>
        <p:nvSpPr>
          <p:cNvPr id="13" name="Shape 11"/>
          <p:cNvSpPr/>
          <p:nvPr/>
        </p:nvSpPr>
        <p:spPr>
          <a:xfrm>
            <a:off x="7973568" y="960120"/>
            <a:ext cx="941832" cy="237744"/>
          </a:xfrm>
          <a:prstGeom prst="rect">
            <a:avLst/>
          </a:prstGeom>
          <a:solidFill>
            <a:srgbClr val="1A9E6A"/>
          </a:solidFill>
          <a:ln w="12700">
            <a:solidFill>
              <a:srgbClr val="1A9E6A"/>
            </a:solidFill>
            <a:prstDash val="solid"/>
          </a:ln>
        </p:spPr>
      </p:sp>
      <p:sp>
        <p:nvSpPr>
          <p:cNvPr id="14" name="Text 12"/>
          <p:cNvSpPr/>
          <p:nvPr/>
        </p:nvSpPr>
        <p:spPr>
          <a:xfrm>
            <a:off x="7973568" y="960120"/>
            <a:ext cx="941832" cy="237744"/>
          </a:xfrm>
          <a:prstGeom prst="rect">
            <a:avLst/>
          </a:prstGeom>
          <a:noFill/>
        </p:spPr>
        <p:txBody>
          <a:bodyPr wrap="square" lIns="0" tIns="0" rIns="0" bIns="0" rtlCol="0" anchor="ctr"/>
          <a:lstStyle/>
          <a:p>
            <a:pPr marL="0" indent="0" algn="ctr">
              <a:buNone/>
            </a:pPr>
            <a:r>
              <a:rPr lang="en-US" sz="850" b="1" dirty="0">
                <a:solidFill>
                  <a:srgbClr val="021B2E"/>
                </a:solidFill>
                <a:latin typeface="Calibri" pitchFamily="34" charset="0"/>
                <a:ea typeface="Calibri" pitchFamily="34" charset="-122"/>
                <a:cs typeface="Calibri" pitchFamily="34" charset="-120"/>
              </a:rPr>
              <a:t>SALUD PÚB.</a:t>
            </a:r>
            <a:endParaRPr lang="en-US" sz="850" dirty="0"/>
          </a:p>
        </p:txBody>
      </p:sp>
      <p:sp>
        <p:nvSpPr>
          <p:cNvPr id="15" name="Text 13"/>
          <p:cNvSpPr/>
          <p:nvPr/>
        </p:nvSpPr>
        <p:spPr>
          <a:xfrm>
            <a:off x="4901184" y="960120"/>
            <a:ext cx="3054096" cy="274320"/>
          </a:xfrm>
          <a:prstGeom prst="rect">
            <a:avLst/>
          </a:prstGeom>
          <a:noFill/>
        </p:spPr>
        <p:txBody>
          <a:bodyPr wrap="square" lIns="0" tIns="0" rIns="0" bIns="0" rtlCol="0" anchor="ctr"/>
          <a:lstStyle/>
          <a:p>
            <a:pPr marL="0" indent="0">
              <a:buNone/>
            </a:pPr>
            <a:r>
              <a:rPr lang="en-US" sz="1200" b="1" dirty="0">
                <a:solidFill>
                  <a:srgbClr val="1A2E3B"/>
                </a:solidFill>
                <a:latin typeface="Trebuchet MS" pitchFamily="34" charset="0"/>
                <a:ea typeface="Trebuchet MS" pitchFamily="34" charset="-122"/>
                <a:cs typeface="Trebuchet MS" pitchFamily="34" charset="-120"/>
              </a:rPr>
              <a:t>⑥ Comparación de modelos — Recall prioritario ★</a:t>
            </a:r>
            <a:endParaRPr lang="en-US" sz="1200" dirty="0"/>
          </a:p>
        </p:txBody>
      </p:sp>
      <p:sp>
        <p:nvSpPr>
          <p:cNvPr id="16" name="Text 14"/>
          <p:cNvSpPr/>
          <p:nvPr/>
        </p:nvSpPr>
        <p:spPr>
          <a:xfrm>
            <a:off x="4901184" y="1225296"/>
            <a:ext cx="4005072" cy="794004"/>
          </a:xfrm>
          <a:prstGeom prst="rect">
            <a:avLst/>
          </a:prstGeom>
          <a:noFill/>
        </p:spPr>
        <p:txBody>
          <a:bodyPr wrap="square" lIns="0" tIns="0" rIns="0" bIns="0" rtlCol="0" anchor="t"/>
          <a:lstStyle/>
          <a:p>
            <a:pPr marL="0" indent="0">
              <a:buNone/>
            </a:pPr>
            <a:r>
              <a:rPr lang="en-US" sz="1120" dirty="0">
                <a:solidFill>
                  <a:srgbClr val="4A6778"/>
                </a:solidFill>
                <a:latin typeface="Calibri" pitchFamily="34" charset="0"/>
                <a:ea typeface="Calibri" pitchFamily="34" charset="-122"/>
                <a:cs typeface="Calibri" pitchFamily="34" charset="-120"/>
              </a:rPr>
              <a:t>Itera CATÁLOGO_MODELOS en split 80/20. Métricas: precision_alta, recall_alta ★, f1_alta, f1_weighted, roc_auc, accuracy. Recall prioritario: FN (queja real no detectada) tiene coste mayor que FP. LinearSVM: Prec=0.83 Recall=0.79 F1=0.81 AUC=0.89 ★</a:t>
            </a:r>
            <a:endParaRPr lang="en-US" sz="1120" dirty="0"/>
          </a:p>
        </p:txBody>
      </p:sp>
      <p:sp>
        <p:nvSpPr>
          <p:cNvPr id="17" name="Shape 15"/>
          <p:cNvSpPr/>
          <p:nvPr/>
        </p:nvSpPr>
        <p:spPr>
          <a:xfrm>
            <a:off x="274320" y="2165604"/>
            <a:ext cx="4224528" cy="1196340"/>
          </a:xfrm>
          <a:prstGeom prst="rect">
            <a:avLst/>
          </a:prstGeom>
          <a:solidFill>
            <a:srgbClr val="FFFFFF"/>
          </a:solidFill>
          <a:ln w="12700">
            <a:solidFill>
              <a:srgbClr val="D8E8F0"/>
            </a:solidFill>
            <a:prstDash val="solid"/>
          </a:ln>
          <a:effectLst>
            <a:outerShdw blurRad="63500" dist="25400" dir="8100000" algn="bl" rotWithShape="0">
              <a:srgbClr val="000000">
                <a:alpha val="8000"/>
              </a:srgbClr>
            </a:outerShdw>
          </a:effectLst>
        </p:spPr>
      </p:sp>
      <p:sp>
        <p:nvSpPr>
          <p:cNvPr id="18" name="Shape 16"/>
          <p:cNvSpPr/>
          <p:nvPr/>
        </p:nvSpPr>
        <p:spPr>
          <a:xfrm>
            <a:off x="274320" y="2165604"/>
            <a:ext cx="73152" cy="1196340"/>
          </a:xfrm>
          <a:prstGeom prst="rect">
            <a:avLst/>
          </a:prstGeom>
          <a:solidFill>
            <a:srgbClr val="1A9E6A"/>
          </a:solidFill>
          <a:ln w="12700">
            <a:solidFill>
              <a:srgbClr val="1A9E6A"/>
            </a:solidFill>
            <a:prstDash val="solid"/>
          </a:ln>
        </p:spPr>
      </p:sp>
      <p:sp>
        <p:nvSpPr>
          <p:cNvPr id="19" name="Shape 17"/>
          <p:cNvSpPr/>
          <p:nvPr/>
        </p:nvSpPr>
        <p:spPr>
          <a:xfrm>
            <a:off x="3511296" y="2247900"/>
            <a:ext cx="941832" cy="237744"/>
          </a:xfrm>
          <a:prstGeom prst="rect">
            <a:avLst/>
          </a:prstGeom>
          <a:solidFill>
            <a:srgbClr val="1A9E6A"/>
          </a:solidFill>
          <a:ln w="12700">
            <a:solidFill>
              <a:srgbClr val="1A9E6A"/>
            </a:solidFill>
            <a:prstDash val="solid"/>
          </a:ln>
        </p:spPr>
      </p:sp>
      <p:sp>
        <p:nvSpPr>
          <p:cNvPr id="20" name="Text 18"/>
          <p:cNvSpPr/>
          <p:nvPr/>
        </p:nvSpPr>
        <p:spPr>
          <a:xfrm>
            <a:off x="3511296" y="2247900"/>
            <a:ext cx="941832" cy="237744"/>
          </a:xfrm>
          <a:prstGeom prst="rect">
            <a:avLst/>
          </a:prstGeom>
          <a:noFill/>
        </p:spPr>
        <p:txBody>
          <a:bodyPr wrap="square" lIns="0" tIns="0" rIns="0" bIns="0" rtlCol="0" anchor="ctr"/>
          <a:lstStyle/>
          <a:p>
            <a:pPr marL="0" indent="0" algn="ctr">
              <a:buNone/>
            </a:pPr>
            <a:r>
              <a:rPr lang="en-US" sz="850" b="1" dirty="0">
                <a:solidFill>
                  <a:srgbClr val="021B2E"/>
                </a:solidFill>
                <a:latin typeface="Calibri" pitchFamily="34" charset="0"/>
                <a:ea typeface="Calibri" pitchFamily="34" charset="-122"/>
                <a:cs typeface="Calibri" pitchFamily="34" charset="-120"/>
              </a:rPr>
              <a:t>CITAB.</a:t>
            </a:r>
            <a:endParaRPr lang="en-US" sz="850" dirty="0"/>
          </a:p>
        </p:txBody>
      </p:sp>
      <p:sp>
        <p:nvSpPr>
          <p:cNvPr id="21" name="Text 19"/>
          <p:cNvSpPr/>
          <p:nvPr/>
        </p:nvSpPr>
        <p:spPr>
          <a:xfrm>
            <a:off x="438912" y="2247900"/>
            <a:ext cx="3054096" cy="274320"/>
          </a:xfrm>
          <a:prstGeom prst="rect">
            <a:avLst/>
          </a:prstGeom>
          <a:noFill/>
        </p:spPr>
        <p:txBody>
          <a:bodyPr wrap="square" lIns="0" tIns="0" rIns="0" bIns="0" rtlCol="0" anchor="ctr"/>
          <a:lstStyle/>
          <a:p>
            <a:pPr marL="0" indent="0">
              <a:buNone/>
            </a:pPr>
            <a:r>
              <a:rPr lang="en-US" sz="1200" b="1" dirty="0">
                <a:solidFill>
                  <a:srgbClr val="1A2E3B"/>
                </a:solidFill>
                <a:latin typeface="Trebuchet MS" pitchFamily="34" charset="0"/>
                <a:ea typeface="Trebuchet MS" pitchFamily="34" charset="-122"/>
                <a:cs typeface="Trebuchet MS" pitchFamily="34" charset="-120"/>
              </a:rPr>
              <a:t>⑦ Top features e interpretación — TF-IDF + BERT</a:t>
            </a:r>
            <a:endParaRPr lang="en-US" sz="1200" dirty="0"/>
          </a:p>
        </p:txBody>
      </p:sp>
      <p:sp>
        <p:nvSpPr>
          <p:cNvPr id="22" name="Text 20"/>
          <p:cNvSpPr/>
          <p:nvPr/>
        </p:nvSpPr>
        <p:spPr>
          <a:xfrm>
            <a:off x="438912" y="2513076"/>
            <a:ext cx="4005072" cy="794004"/>
          </a:xfrm>
          <a:prstGeom prst="rect">
            <a:avLst/>
          </a:prstGeom>
          <a:noFill/>
        </p:spPr>
        <p:txBody>
          <a:bodyPr wrap="square" lIns="0" tIns="0" rIns="0" bIns="0" rtlCol="0" anchor="t"/>
          <a:lstStyle/>
          <a:p>
            <a:pPr marL="0" indent="0">
              <a:buNone/>
            </a:pPr>
            <a:r>
              <a:rPr lang="en-US" sz="1120" dirty="0">
                <a:solidFill>
                  <a:srgbClr val="4A6778"/>
                </a:solidFill>
                <a:latin typeface="Calibri" pitchFamily="34" charset="0"/>
                <a:ea typeface="Calibri" pitchFamily="34" charset="-122"/>
                <a:cs typeface="Calibri" pitchFamily="34" charset="-120"/>
              </a:rPr>
              <a:t>extraer_top_terms soporta CNB (feature_log_prob_) y LR/SVM (coef_). Enriquece cada término con dimensión narrativa: falta_insumos, tiempo_espera… top_features_hibrido genera tabla mixta texto+BERT con coeficiente, dirección (→alta/→media) y tipo (texto_tfidf, BERT, enriquecimiento). Solo para LR y SVM calibrado.</a:t>
            </a:r>
            <a:endParaRPr lang="en-US" sz="1120" dirty="0"/>
          </a:p>
        </p:txBody>
      </p:sp>
      <p:sp>
        <p:nvSpPr>
          <p:cNvPr id="23" name="Shape 21"/>
          <p:cNvSpPr/>
          <p:nvPr/>
        </p:nvSpPr>
        <p:spPr>
          <a:xfrm>
            <a:off x="4736592" y="2165604"/>
            <a:ext cx="4224528" cy="1196340"/>
          </a:xfrm>
          <a:prstGeom prst="rect">
            <a:avLst/>
          </a:prstGeom>
          <a:solidFill>
            <a:srgbClr val="FFFFFF"/>
          </a:solidFill>
          <a:ln w="12700">
            <a:solidFill>
              <a:srgbClr val="D8E8F0"/>
            </a:solidFill>
            <a:prstDash val="solid"/>
          </a:ln>
          <a:effectLst>
            <a:outerShdw blurRad="63500" dist="25400" dir="8100000" algn="bl" rotWithShape="0">
              <a:srgbClr val="000000">
                <a:alpha val="8000"/>
              </a:srgbClr>
            </a:outerShdw>
          </a:effectLst>
        </p:spPr>
      </p:sp>
      <p:sp>
        <p:nvSpPr>
          <p:cNvPr id="24" name="Shape 22"/>
          <p:cNvSpPr/>
          <p:nvPr/>
        </p:nvSpPr>
        <p:spPr>
          <a:xfrm>
            <a:off x="4736592" y="2165604"/>
            <a:ext cx="73152" cy="1196340"/>
          </a:xfrm>
          <a:prstGeom prst="rect">
            <a:avLst/>
          </a:prstGeom>
          <a:solidFill>
            <a:srgbClr val="1A9E6A"/>
          </a:solidFill>
          <a:ln w="12700">
            <a:solidFill>
              <a:srgbClr val="1A9E6A"/>
            </a:solidFill>
            <a:prstDash val="solid"/>
          </a:ln>
        </p:spPr>
      </p:sp>
      <p:sp>
        <p:nvSpPr>
          <p:cNvPr id="25" name="Text 23"/>
          <p:cNvSpPr/>
          <p:nvPr/>
        </p:nvSpPr>
        <p:spPr>
          <a:xfrm>
            <a:off x="4901184" y="2247900"/>
            <a:ext cx="4005072" cy="274320"/>
          </a:xfrm>
          <a:prstGeom prst="rect">
            <a:avLst/>
          </a:prstGeom>
          <a:noFill/>
        </p:spPr>
        <p:txBody>
          <a:bodyPr wrap="square" lIns="0" tIns="0" rIns="0" bIns="0" rtlCol="0" anchor="ctr"/>
          <a:lstStyle/>
          <a:p>
            <a:pPr marL="0" indent="0">
              <a:buNone/>
            </a:pPr>
            <a:r>
              <a:rPr lang="en-US" sz="1200" b="1" dirty="0">
                <a:solidFill>
                  <a:srgbClr val="1A2E3B"/>
                </a:solidFill>
                <a:latin typeface="Trebuchet MS" pitchFamily="34" charset="0"/>
                <a:ea typeface="Trebuchet MS" pitchFamily="34" charset="-122"/>
                <a:cs typeface="Trebuchet MS" pitchFamily="34" charset="-120"/>
              </a:rPr>
              <a:t>Artefactos de entrada detectados automáticamente</a:t>
            </a:r>
            <a:endParaRPr lang="en-US" sz="1200" dirty="0"/>
          </a:p>
        </p:txBody>
      </p:sp>
      <p:sp>
        <p:nvSpPr>
          <p:cNvPr id="26" name="Text 24"/>
          <p:cNvSpPr/>
          <p:nvPr/>
        </p:nvSpPr>
        <p:spPr>
          <a:xfrm>
            <a:off x="4901184" y="2513076"/>
            <a:ext cx="4005072" cy="794004"/>
          </a:xfrm>
          <a:prstGeom prst="rect">
            <a:avLst/>
          </a:prstGeom>
          <a:noFill/>
        </p:spPr>
        <p:txBody>
          <a:bodyPr wrap="square" lIns="0" tIns="0" rIns="0" bIns="0" rtlCol="0" anchor="t"/>
          <a:lstStyle/>
          <a:p>
            <a:pPr marL="0" indent="0">
              <a:buNone/>
            </a:pPr>
            <a:r>
              <a:rPr lang="en-US" sz="1120" dirty="0">
                <a:solidFill>
                  <a:srgbClr val="4A6778"/>
                </a:solidFill>
                <a:latin typeface="Calibri" pitchFamily="34" charset="0"/>
                <a:ea typeface="Calibri" pitchFamily="34" charset="-122"/>
                <a:cs typeface="Calibri" pitchFamily="34" charset="-120"/>
              </a:rPr>
              <a:t>X_features*.npz (matriz TF-IDF+BERT) · y_labels*.npy (etiquetas binarias) · vectorizador*.pkl (TF-IDF, selector de features, cols_num) · dataset_*.json opcional — activa análisis Spearman, χ² y errores BERT.</a:t>
            </a:r>
            <a:endParaRPr lang="en-US" sz="1120" dirty="0"/>
          </a:p>
        </p:txBody>
      </p:sp>
      <p:sp>
        <p:nvSpPr>
          <p:cNvPr id="27" name="Shape 25"/>
          <p:cNvSpPr/>
          <p:nvPr/>
        </p:nvSpPr>
        <p:spPr>
          <a:xfrm>
            <a:off x="274320" y="3453384"/>
            <a:ext cx="4224528" cy="1196340"/>
          </a:xfrm>
          <a:prstGeom prst="rect">
            <a:avLst/>
          </a:prstGeom>
          <a:solidFill>
            <a:srgbClr val="FFFFFF"/>
          </a:solidFill>
          <a:ln w="12700">
            <a:solidFill>
              <a:srgbClr val="D8E8F0"/>
            </a:solidFill>
            <a:prstDash val="solid"/>
          </a:ln>
          <a:effectLst>
            <a:outerShdw blurRad="63500" dist="25400" dir="8100000" algn="bl" rotWithShape="0">
              <a:srgbClr val="000000">
                <a:alpha val="8000"/>
              </a:srgbClr>
            </a:outerShdw>
          </a:effectLst>
        </p:spPr>
      </p:sp>
      <p:sp>
        <p:nvSpPr>
          <p:cNvPr id="28" name="Shape 26"/>
          <p:cNvSpPr/>
          <p:nvPr/>
        </p:nvSpPr>
        <p:spPr>
          <a:xfrm>
            <a:off x="274320" y="3453384"/>
            <a:ext cx="73152" cy="1196340"/>
          </a:xfrm>
          <a:prstGeom prst="rect">
            <a:avLst/>
          </a:prstGeom>
          <a:solidFill>
            <a:srgbClr val="1A9E6A"/>
          </a:solidFill>
          <a:ln w="12700">
            <a:solidFill>
              <a:srgbClr val="1A9E6A"/>
            </a:solidFill>
            <a:prstDash val="solid"/>
          </a:ln>
        </p:spPr>
      </p:sp>
      <p:sp>
        <p:nvSpPr>
          <p:cNvPr id="29" name="Text 27"/>
          <p:cNvSpPr/>
          <p:nvPr/>
        </p:nvSpPr>
        <p:spPr>
          <a:xfrm>
            <a:off x="438912" y="3535680"/>
            <a:ext cx="4005072" cy="274320"/>
          </a:xfrm>
          <a:prstGeom prst="rect">
            <a:avLst/>
          </a:prstGeom>
          <a:noFill/>
        </p:spPr>
        <p:txBody>
          <a:bodyPr wrap="square" lIns="0" tIns="0" rIns="0" bIns="0" rtlCol="0" anchor="ctr"/>
          <a:lstStyle/>
          <a:p>
            <a:pPr marL="0" indent="0">
              <a:buNone/>
            </a:pPr>
            <a:r>
              <a:rPr lang="en-US" sz="1200" b="1" dirty="0">
                <a:solidFill>
                  <a:srgbClr val="1A2E3B"/>
                </a:solidFill>
                <a:latin typeface="Trebuchet MS" pitchFamily="34" charset="0"/>
                <a:ea typeface="Trebuchet MS" pitchFamily="34" charset="-122"/>
                <a:cs typeface="Trebuchet MS" pitchFamily="34" charset="-120"/>
              </a:rPr>
              <a:t>Artefactos de salida (timestamp YYYYMMDD_HHMMSS)</a:t>
            </a:r>
            <a:endParaRPr lang="en-US" sz="1200" dirty="0"/>
          </a:p>
        </p:txBody>
      </p:sp>
      <p:sp>
        <p:nvSpPr>
          <p:cNvPr id="30" name="Text 28"/>
          <p:cNvSpPr/>
          <p:nvPr/>
        </p:nvSpPr>
        <p:spPr>
          <a:xfrm>
            <a:off x="438912" y="3800856"/>
            <a:ext cx="4005072" cy="794004"/>
          </a:xfrm>
          <a:prstGeom prst="rect">
            <a:avLst/>
          </a:prstGeom>
          <a:noFill/>
        </p:spPr>
        <p:txBody>
          <a:bodyPr wrap="square" lIns="0" tIns="0" rIns="0" bIns="0" rtlCol="0" anchor="t"/>
          <a:lstStyle/>
          <a:p>
            <a:pPr marL="0" indent="0">
              <a:buNone/>
            </a:pPr>
            <a:r>
              <a:rPr lang="en-US" sz="1120" dirty="0">
                <a:solidFill>
                  <a:srgbClr val="4A6778"/>
                </a:solidFill>
                <a:latin typeface="Calibri" pitchFamily="34" charset="0"/>
                <a:ea typeface="Calibri" pitchFamily="34" charset="-122"/>
                <a:cs typeface="Calibri" pitchFamily="34" charset="-120"/>
              </a:rPr>
              <a:t>reporte_v4_&lt;ts&gt;.json — métricas completas estructuradas (meta · validacion_cruzada · calibracion · comparacion_modelos · top_terms · correlaciones_spearman · chi2_categorias · curva_aprendizaje). resumen_narrativo_v4_&lt;ts&gt;.txt — texto listo para tesis. errores_criticos_&lt;ts&gt;.json — FN/FP con diagnóstico.</a:t>
            </a:r>
            <a:endParaRPr lang="en-US" sz="1120" dirty="0"/>
          </a:p>
        </p:txBody>
      </p:sp>
      <p:sp>
        <p:nvSpPr>
          <p:cNvPr id="31" name="Shape 29"/>
          <p:cNvSpPr/>
          <p:nvPr/>
        </p:nvSpPr>
        <p:spPr>
          <a:xfrm>
            <a:off x="4736592" y="3453384"/>
            <a:ext cx="4224528" cy="1196340"/>
          </a:xfrm>
          <a:prstGeom prst="rect">
            <a:avLst/>
          </a:prstGeom>
          <a:solidFill>
            <a:srgbClr val="FFFFFF"/>
          </a:solidFill>
          <a:ln w="12700">
            <a:solidFill>
              <a:srgbClr val="D8E8F0"/>
            </a:solidFill>
            <a:prstDash val="solid"/>
          </a:ln>
          <a:effectLst>
            <a:outerShdw blurRad="63500" dist="25400" dir="8100000" algn="bl" rotWithShape="0">
              <a:srgbClr val="000000">
                <a:alpha val="8000"/>
              </a:srgbClr>
            </a:outerShdw>
          </a:effectLst>
        </p:spPr>
      </p:sp>
      <p:sp>
        <p:nvSpPr>
          <p:cNvPr id="32" name="Shape 30"/>
          <p:cNvSpPr/>
          <p:nvPr/>
        </p:nvSpPr>
        <p:spPr>
          <a:xfrm>
            <a:off x="4736592" y="3453384"/>
            <a:ext cx="73152" cy="1196340"/>
          </a:xfrm>
          <a:prstGeom prst="rect">
            <a:avLst/>
          </a:prstGeom>
          <a:solidFill>
            <a:srgbClr val="1A9E6A"/>
          </a:solidFill>
          <a:ln w="12700">
            <a:solidFill>
              <a:srgbClr val="1A9E6A"/>
            </a:solidFill>
            <a:prstDash val="solid"/>
          </a:ln>
        </p:spPr>
      </p:sp>
      <p:sp>
        <p:nvSpPr>
          <p:cNvPr id="33" name="Text 31"/>
          <p:cNvSpPr/>
          <p:nvPr/>
        </p:nvSpPr>
        <p:spPr>
          <a:xfrm>
            <a:off x="4901184" y="3535680"/>
            <a:ext cx="4005072" cy="274320"/>
          </a:xfrm>
          <a:prstGeom prst="rect">
            <a:avLst/>
          </a:prstGeom>
          <a:noFill/>
        </p:spPr>
        <p:txBody>
          <a:bodyPr wrap="square" lIns="0" tIns="0" rIns="0" bIns="0" rtlCol="0" anchor="ctr"/>
          <a:lstStyle/>
          <a:p>
            <a:pPr marL="0" indent="0">
              <a:buNone/>
            </a:pPr>
            <a:r>
              <a:rPr lang="en-US" sz="1200" b="1" dirty="0">
                <a:solidFill>
                  <a:srgbClr val="1A2E3B"/>
                </a:solidFill>
                <a:latin typeface="Trebuchet MS" pitchFamily="34" charset="0"/>
                <a:ea typeface="Trebuchet MS" pitchFamily="34" charset="-122"/>
                <a:cs typeface="Trebuchet MS" pitchFamily="34" charset="-120"/>
              </a:rPr>
              <a:t>Configuración principal (constantes)</a:t>
            </a:r>
            <a:endParaRPr lang="en-US" sz="1200" dirty="0"/>
          </a:p>
        </p:txBody>
      </p:sp>
      <p:sp>
        <p:nvSpPr>
          <p:cNvPr id="34" name="Text 32"/>
          <p:cNvSpPr/>
          <p:nvPr/>
        </p:nvSpPr>
        <p:spPr>
          <a:xfrm>
            <a:off x="4901184" y="3800856"/>
            <a:ext cx="4005072" cy="794004"/>
          </a:xfrm>
          <a:prstGeom prst="rect">
            <a:avLst/>
          </a:prstGeom>
          <a:noFill/>
        </p:spPr>
        <p:txBody>
          <a:bodyPr wrap="square" lIns="0" tIns="0" rIns="0" bIns="0" rtlCol="0" anchor="t"/>
          <a:lstStyle/>
          <a:p>
            <a:pPr marL="0" indent="0">
              <a:buNone/>
            </a:pPr>
            <a:r>
              <a:rPr lang="en-US" sz="1120" dirty="0">
                <a:solidFill>
                  <a:srgbClr val="4A6778"/>
                </a:solidFill>
                <a:latin typeface="Calibri" pitchFamily="34" charset="0"/>
                <a:ea typeface="Calibri" pitchFamily="34" charset="-122"/>
                <a:cs typeface="Calibri" pitchFamily="34" charset="-120"/>
              </a:rPr>
              <a:t>TEST_SIZE=0.20 · RANDOM_STATE=42 · N_FOLDS=10 · IC_Z=1.96 · UMBRAL_CONFIANZA=0.80 · N_ERRORES_EXPORTAR=20 · CURVA_PUNTOS=8 · TOP_N_TERMS=25 · UMBRAL_BERT_ACTIVO=0.10</a:t>
            </a:r>
            <a:endParaRPr lang="en-US" sz="1120" dirty="0"/>
          </a:p>
        </p:txBody>
      </p:sp>
      <p:sp>
        <p:nvSpPr>
          <p:cNvPr id="35" name="Shape 33"/>
          <p:cNvSpPr/>
          <p:nvPr/>
        </p:nvSpPr>
        <p:spPr>
          <a:xfrm>
            <a:off x="274320" y="4695444"/>
            <a:ext cx="8595360" cy="402336"/>
          </a:xfrm>
          <a:prstGeom prst="rect">
            <a:avLst/>
          </a:prstGeom>
          <a:solidFill>
            <a:srgbClr val="021B2E"/>
          </a:solidFill>
          <a:ln w="12700">
            <a:solidFill>
              <a:srgbClr val="021B2E"/>
            </a:solidFill>
            <a:prstDash val="solid"/>
          </a:ln>
        </p:spPr>
      </p:sp>
      <p:sp>
        <p:nvSpPr>
          <p:cNvPr id="36" name="Text 34"/>
          <p:cNvSpPr/>
          <p:nvPr/>
        </p:nvSpPr>
        <p:spPr>
          <a:xfrm>
            <a:off x="457200" y="4695444"/>
            <a:ext cx="8229600" cy="402336"/>
          </a:xfrm>
          <a:prstGeom prst="rect">
            <a:avLst/>
          </a:prstGeom>
          <a:noFill/>
        </p:spPr>
        <p:txBody>
          <a:bodyPr wrap="square" lIns="0" tIns="0" rIns="0" bIns="0" rtlCol="0" anchor="ctr"/>
          <a:lstStyle/>
          <a:p>
            <a:pPr marL="0" indent="0">
              <a:buNone/>
            </a:pPr>
            <a:r>
              <a:rPr lang="en-US" sz="1100" i="1" dirty="0">
                <a:solidFill>
                  <a:srgbClr val="8CB8CC"/>
                </a:solidFill>
                <a:latin typeface="Calibri" pitchFamily="34" charset="0"/>
                <a:ea typeface="Calibri" pitchFamily="34" charset="-122"/>
                <a:cs typeface="Calibri" pitchFamily="34" charset="-120"/>
              </a:rPr>
              <a:t>★  Los IC 95% de validación cruzada y la mejora_brier_pct son directamente citables en tesis. Si matplotlib no está instalado, las funciones de gráfica retornan None sin lanzar error.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21454</Words>
  <Application>WPS Presentation</Application>
  <PresentationFormat>On-screen Show (16:9)</PresentationFormat>
  <Paragraphs>416</Paragraphs>
  <Slides>25</Slides>
  <Notes>16</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25</vt:i4>
      </vt:variant>
    </vt:vector>
  </HeadingPairs>
  <TitlesOfParts>
    <vt:vector size="43" baseType="lpstr">
      <vt:lpstr>Arial</vt:lpstr>
      <vt:lpstr>SimSun</vt:lpstr>
      <vt:lpstr>Wingdings</vt:lpstr>
      <vt:lpstr>DejaVu Sans</vt:lpstr>
      <vt:lpstr>Trebuchet MS</vt:lpstr>
      <vt:lpstr>Trebuchet MS</vt:lpstr>
      <vt:lpstr>Trebuchet MS</vt:lpstr>
      <vt:lpstr>Calibri</vt:lpstr>
      <vt:lpstr>Calibri</vt:lpstr>
      <vt:lpstr>Calibri</vt:lpstr>
      <vt:lpstr>Arial Black</vt:lpstr>
      <vt:lpstr>Arial Black</vt:lpstr>
      <vt:lpstr>Arial Black</vt:lpstr>
      <vt:lpstr>Microsoft YaHei</vt:lpstr>
      <vt:lpstr>Droid Sans Fallback</vt:lpstr>
      <vt:lpstr>Arial Unicode MS</vt:lpstr>
      <vt:lpstr>OpenSymbol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Pipeline Salud Pública MX</dc:title>
  <dc:creator>PptxGenJS</dc:creator>
  <dc:subject>PptxGenJS Presentation</dc:subject>
  <cp:lastModifiedBy>pedro</cp:lastModifiedBy>
  <cp:revision>2</cp:revision>
  <dcterms:created xsi:type="dcterms:W3CDTF">2026-04-20T17:34:08Z</dcterms:created>
  <dcterms:modified xsi:type="dcterms:W3CDTF">2026-04-20T17:34:08Z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1033-11.1.0.11723</vt:lpwstr>
  </property>
</Properties>
</file>