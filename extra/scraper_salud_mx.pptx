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3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062E52">
              <a:alpha val="80000"/>
            </a:srgbClr>
          </a:solidFill>
          <a:ln w="12700">
            <a:solidFill>
              <a:srgbClr val="062E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2A88A">
              <a:alpha val="40000"/>
            </a:srgbClr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Scraper de Opinión Ciudadana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Salud Pública MX — Influenza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029200" cy="0"/>
          </a:xfrm>
          <a:prstGeom prst="line">
            <a:avLst/>
          </a:prstGeom>
          <a:noFill/>
          <a:ln w="1905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minería de opiniones en Reddit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investigación académica sobre la percepción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ciudadana ante la influenza en México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¿Qué hace el programa?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09728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" y="24231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consultas combinando términos de enfermedad, instituciones y problemas en subreddits mexicanos (r/Mexico, r/CDMX…)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109728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291840" y="11430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📥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Recopila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64992" y="24231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los posts y todos sus comentarios anidados (hasta 5 niveles de profundidad) vía la API JSON de Reddit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697480" cy="109728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172200" y="11430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45352" y="24231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cada comentario como registro JSON con metadata del post, autor, score, fecha y query que lo originó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Diccionarios de Búsqueda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TÉRMINOS ENFERMEDAD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11480" y="1618488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influenza, H1N1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139696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58368" y="20939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oseltamivir / tamiflu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660904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58368" y="26151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 antigripal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182112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58368" y="31363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gripa, gripaza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703320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58368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calentura, tos fuerte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224528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58368" y="4178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 🤧, vacuna 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72968" y="914400"/>
            <a:ext cx="27432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246120" y="91440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TÉRMINOS INSTITUCIÓN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14630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3310128" y="1618488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557016" y="15727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IMSS, ISSSTE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0128" y="2139696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3557016" y="20939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10128" y="2660904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3557016" y="26151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SEDESA, IMSS Bienestar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10128" y="3182112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557016" y="31363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seguro", "la raza"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10128" y="370332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3557016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"siglo xxi"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10128" y="4224528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3557016" y="4178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IMSS 😤, Seguro Social 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71616" y="914400"/>
            <a:ext cx="2743200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144768" y="91440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TÉRMINOS PROBLEMA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71616" y="14630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6208776" y="1618488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6455664" y="15727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desabasto, negligencia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08776" y="2139696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6455664" y="20939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saturación, mal trato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08776" y="2660904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6455664" y="26151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corrupción, sin vacunas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08776" y="3182112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6455664" y="31363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neumonía, UCI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08776" y="3703320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6455664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fallecimiento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08776" y="4224528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6455664" y="41788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medicamento 😡, urgencias 🚨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74320" y="4663440"/>
            <a:ext cx="8595360" cy="696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Enfermedad  ×  Institución  ×  Problema  →  Pool de Queries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Construcción y Aleatorización de Queries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475488" cy="475488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5120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914400" y="1005840"/>
            <a:ext cx="64008" cy="107899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078992" y="10972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 cartesiano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44475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itertools.product genera todas las combinaciones posibles de los 3 diccionarios. Ninguna queda fuera.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32304"/>
            <a:ext cx="475488" cy="475488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74320" y="2432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267712"/>
            <a:ext cx="5120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914400" y="2267712"/>
            <a:ext cx="64008" cy="107899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078992" y="23591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Mezcla aleatoria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270662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random.shuffle() desordena el pool completo ANTES de dividirlo en bloques, garantizando una muestra sin sesgo.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694176"/>
            <a:ext cx="475488" cy="475488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274320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3529584"/>
            <a:ext cx="5120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914400" y="3529584"/>
            <a:ext cx="64008" cy="107899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1078992" y="36210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Bloques de 100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39684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pool se procesa en grupos de 100 queries. Al terminar cada bloque el usuario decide si continuar o guardar.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005840"/>
            <a:ext cx="2423160" cy="3794760"/>
          </a:xfrm>
          <a:prstGeom prst="rect">
            <a:avLst/>
          </a:prstGeom>
          <a:solidFill>
            <a:srgbClr val="EBF8F4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400800" y="1005840"/>
            <a:ext cx="24231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492240" y="117043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el shuffle?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1600200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aleatorización, los primeros bloques estarían dominados por términos que empiezan con las mismas letras.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shuffle, cualquier subconjunto de bloques ya procesados es una muestra representativa del universo completo.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206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2A88A"/>
                </a:solidFill>
              </a:rPr>
              <a:t>sesgo cero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02A88A"/>
                </a:solidFill>
              </a:rPr>
              <a:t>en colecta parcial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Técnicas Anti-Detección — Clase SesionHumana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960120" cy="1170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CAPA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05156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Pausas con distribución gaussiana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435608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delays entre peticiones siguen una distribución normal N(μ, σ). Un scraper detecta patrones rítmicos fijos; la varianza gaussiana imita la lectura humana y elimina esa firma estadística.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5856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960120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74320" y="2606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CAPA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35000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 HTTP dinámico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734056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arrancar detecta las librerías de compresión disponibles (brotli, zstd) y construye el header Accept-Encoding exacto de Chrome 122+. Sin ellas, la huella HTTP delata al scraper.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557016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274320" y="3557016"/>
            <a:ext cx="960120" cy="1170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74320" y="39044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CAPA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648456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Rotación de identidad estocástica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32504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13 User-Agents. Con 15 % de probabilidad por petición se rota el UA. También rota Accept-Language y viewport hints. Ni siempre cambia ni nunca cambia — ambos extremos son detectables.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</a:rPr>
              <a:t>+ Backoff exponencial con jitter ante errores 429 / 5xx   |   Referer coherente: búsqueda → lista → hilo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Extracción Recursiva — Depth-First Search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388620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75488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recorrer en profundidad?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comentarios de nivel 0 suelen ser quejas breves.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niveles 2 y 3 contienen las micro-historias: relatos detallados de experiencias reales ("me tardaron 6 horas, no había oseltamivir…").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la extracción al top-level produciría un corpus superficial. El DFS hasta nivel 5 captura esa riqueza narrativa.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146304" cy="2560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065776" y="1005840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19472" y="1243584"/>
            <a:ext cx="356616" cy="448056"/>
          </a:xfrm>
          <a:prstGeom prst="line">
            <a:avLst/>
          </a:prstGeom>
          <a:noFill/>
          <a:ln w="1524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5193792" y="1691640"/>
            <a:ext cx="146304" cy="25603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413248" y="169164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nivel 0  (top-level)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66944" y="1929384"/>
            <a:ext cx="356616" cy="402336"/>
          </a:xfrm>
          <a:prstGeom prst="line">
            <a:avLst/>
          </a:prstGeom>
          <a:noFill/>
          <a:ln w="1524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541264" y="2331720"/>
            <a:ext cx="146304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760720" y="2331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nivel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14416" y="2569464"/>
            <a:ext cx="356616" cy="402336"/>
          </a:xfrm>
          <a:prstGeom prst="line">
            <a:avLst/>
          </a:prstGeom>
          <a:noFill/>
          <a:ln w="1524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5888736" y="2971800"/>
            <a:ext cx="146304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108192" y="297180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nivel 2  ← micro-historia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61888" y="3209544"/>
            <a:ext cx="356616" cy="402336"/>
          </a:xfrm>
          <a:prstGeom prst="line">
            <a:avLst/>
          </a:prstGeom>
          <a:noFill/>
          <a:ln w="1524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236208" y="3611880"/>
            <a:ext cx="146304" cy="25603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455664" y="361188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nivel 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849624"/>
            <a:ext cx="356616" cy="402336"/>
          </a:xfrm>
          <a:prstGeom prst="line">
            <a:avLst/>
          </a:prstGeom>
          <a:noFill/>
          <a:ln w="1524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583680" y="4251960"/>
            <a:ext cx="14630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803136" y="425196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nivel 4  ← MAX_PROFUNDIDAD = 5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Deduplicación Global — posts_vistos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388620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75488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problema resuelve?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365760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query en el bloque 3 puede devolver el mismo post que ya procesó el bloque 1.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control, ese post se descargaría de nuevo y sus comentarios aparecerían duplicados en el dataset.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set posts_vistos se crea UNA sola vez al inicio y nunca se reinicia entre bloques. Actúa como memoria global de toda la sesión.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84048" cy="38404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855464" y="1435608"/>
            <a:ext cx="0" cy="502920"/>
          </a:xfrm>
          <a:prstGeom prst="line">
            <a:avLst/>
          </a:prstGeom>
          <a:noFill/>
          <a:ln w="1905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212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 del 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posts_vistos = set()  (vacío)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847088"/>
            <a:ext cx="384048" cy="384048"/>
          </a:xfrm>
          <a:prstGeom prst="ellipse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855464" y="2231136"/>
            <a:ext cx="0" cy="502920"/>
          </a:xfrm>
          <a:prstGeom prst="line">
            <a:avLst/>
          </a:prstGeom>
          <a:noFill/>
          <a:ln w="1905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21208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075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 340 post_id únicos al 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642616"/>
            <a:ext cx="384048" cy="38404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855464" y="3026664"/>
            <a:ext cx="0" cy="502920"/>
          </a:xfrm>
          <a:prstGeom prst="line">
            <a:avLst/>
          </a:prstGeom>
          <a:noFill/>
          <a:ln w="1905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212080" y="2596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28712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Encuentra 120 posts → 38 ya vistos → descartar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 82 nuevos post_id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438144"/>
            <a:ext cx="384048" cy="384048"/>
          </a:xfrm>
          <a:prstGeom prst="ellipse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855464" y="3822192"/>
            <a:ext cx="0" cy="502920"/>
          </a:xfrm>
          <a:prstGeom prst="line">
            <a:avLst/>
          </a:prstGeom>
          <a:noFill/>
          <a:ln w="1905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212080" y="3392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N 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6667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set crece acumulativamente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4233672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21208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 del script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4462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posts_vistos se destruye (no se guarda en disco)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411480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</a:rPr>
              <a:t>✓  Sin duplicados en el dataset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4663440"/>
            <a:ext cx="411480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709160" y="4663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</a:rPr>
              <a:t>✓  Sin requests redundantes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Resiliencia y Control Interactivo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09728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Backoff Exponencial con Jitter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errores 429 (rate limit) o 5xx: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2ⁿ × k  +  jitter aleatorio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jitter es clave: sin él, múltiples reintentos colisionarían exactamente al mismo tiempo (thundering herd), volviendo a saturar el servidor.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383280"/>
          <a:ext cx="3794760" cy="1371600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Intento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Espera base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+ Jitter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5 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± 5 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10 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± 5 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20 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± 5 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40 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D4A"/>
                          </a:solidFill>
                        </a:rPr>
                        <a:t>± 5 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4709160" y="96012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160520" cy="109728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846320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Modo Interactivo por Bloques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completar cada bloque de 100 queries: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1920240"/>
            <a:ext cx="384048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4937760" y="1993392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BLOQUE 01 COMPLETADO — 100 queries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Comentarios acumulados: 842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Sí, continuar 100 búsquedas más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[N] No, guardar y finalizar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46320" y="38221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Presionar [N] guarda el dataset de forma segura antes de salir.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de Salida — Estructura del JSON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572000" cy="1097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registro = un comentario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89120" cy="3337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"bloque":          1,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"query_origen":    "influenza IMSS desabasto",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"sort_usado":      "top",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"subreddit":       "Mexico",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"post_id":         "abc123",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"titulo_post":     "¿Problemas con el IMSS?",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"score_post":      245,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"num_comentarios": 87,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"comentario":      "Me tardaron 4 horas…",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"score_comentario":34,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"profundidad":     2,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"fecha_extraccion":"2025-04-01T14:22:10"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20640" y="1005840"/>
            <a:ext cx="3749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120640" y="1005840"/>
            <a:ext cx="3749040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230368" y="10424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Contexto de búsqueda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30368" y="1408176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  ·  query_origen  ·  sort_usado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2304288"/>
            <a:ext cx="3749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120640" y="2304288"/>
            <a:ext cx="3749040" cy="34747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230368" y="23408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Datos del post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30368" y="2706624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subreddit  ·  post_id  ·  titulo_post  ·  score_post  ·  num_comentarios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3602736"/>
            <a:ext cx="3749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120640" y="3602736"/>
            <a:ext cx="3749040" cy="34747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230368" y="3639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Datos del comentario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30368" y="400507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4E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comentario  ·  autor  ·  score_comentario  ·  profundidad  ·  fecha_extraccion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9144000" cy="621792"/>
          </a:xfrm>
          <a:prstGeom prst="rect">
            <a:avLst/>
          </a:prstGeom>
          <a:solidFill>
            <a:srgbClr val="064E80"/>
          </a:solidFill>
          <a:ln w="12700">
            <a:solidFill>
              <a:srgbClr val="064E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¿Para qué sirven los datos recolectados?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9144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sentimiento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comentarios en positivo / negativo / neutro para medir la percepción ciudadana sobre cada institución.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24128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754880" y="1024128"/>
            <a:ext cx="4160520" cy="9144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89204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32120" y="11704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Detección de temas (Topic Modeling)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 los problemas más reportados (desabasto, saturación, negligencia) sin leerlos uno a uno.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20040" y="2962656"/>
            <a:ext cx="4160520" cy="9144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57200" y="3127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Vigilancia epidemiológica social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49300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patrones geográficos y temporales en las quejas que puedan anticipar brotes o colapsos de servicios.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962656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4754880" y="2962656"/>
            <a:ext cx="4160520" cy="91440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892040" y="3127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32120" y="3108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Corpus para NLP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49300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o evaluar modelos de lenguaje en español mexicano especializado en salud pública.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2A88A"/>
          </a:solidFill>
          <a:ln w="12700">
            <a:solidFill>
              <a:srgbClr val="02A8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sistema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13167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Diccionarios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6276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dimensiones combinadas en producto cartesiano → pool exhaustivo de queries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13248" y="13167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sesgo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13248" y="16276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aleatoria garantiza representatividad aunque se interrumpa la colecta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🕵️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2688" y="24323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Sigilo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743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Pausas gaussianas + fingerprint HTTP + rotación de User-Agent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13248" y="24323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Profundidad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13248" y="2743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hasta nivel 5 captura micro-historias narrativas en hilos anidados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2688" y="3547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8587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posts_vistos elimina duplicados durante toda la sesión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13248" y="3547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Checkpoints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13248" y="38587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automático al cerrar cada bloque; datos previos siempre intactos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1173</Words>
  <Application>Microsoft Office PowerPoint</Application>
  <PresentationFormat>Presentación en pantalla (16:9)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Scraper de Opinión Ciudadana — Salud Pública MX</dc:title>
  <dc:subject>PptxGenJS Presentation</dc:subject>
  <dc:creator>PptxGenJS</dc:creator>
  <cp:lastModifiedBy>PEDRO FERNANDEZ JIMENEZ</cp:lastModifiedBy>
  <cp:revision>2</cp:revision>
  <dcterms:created xsi:type="dcterms:W3CDTF">2026-04-14T20:41:02Z</dcterms:created>
  <dcterms:modified xsi:type="dcterms:W3CDTF">2026-04-15T04:06:25Z</dcterms:modified>
</cp:coreProperties>
</file>