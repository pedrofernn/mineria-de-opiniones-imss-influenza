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D97706">
              <a:alpha val="17000"/>
            </a:srgbClr>
          </a:solidFill>
          <a:ln w="12700">
            <a:solidFill>
              <a:srgbClr val="D97706">
                <a:alpha val="1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365760"/>
            <a:ext cx="1737360" cy="1737360"/>
          </a:xfrm>
          <a:prstGeom prst="ellipse">
            <a:avLst/>
          </a:prstGeom>
          <a:solidFill>
            <a:srgbClr val="FBBF24">
              <a:alpha val="27000"/>
            </a:srgbClr>
          </a:solidFill>
          <a:ln w="12700">
            <a:solidFill>
              <a:srgbClr val="FBBF24">
                <a:alpha val="2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Infografía HTML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Minería de Opinión · v4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41148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un archivo HTML autocontenido con todas las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métrias, gráficas y análisis del pipeline analizar_v4.py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4407408"/>
            <a:ext cx="251460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440740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infografia_html.py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el programa?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HTML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autocontenido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los JSON y PNG producidos por analizar_v4.py y construye una infografía interactiva completa. El archivo HTML resultante no depende de servidores ni conexión a internet — todas las imágenes van embebidas en base64.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868680"/>
            <a:ext cx="2057400" cy="1645920"/>
          </a:xfrm>
          <a:prstGeom prst="rect">
            <a:avLst/>
          </a:prstGeom>
          <a:solidFill>
            <a:srgbClr val="162E44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63440" y="10058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663440" y="15087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secciones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18288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Métricas, gráficas, NLP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párrafo de tesis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868680"/>
            <a:ext cx="2057400" cy="1645920"/>
          </a:xfrm>
          <a:prstGeom prst="rect">
            <a:avLst/>
          </a:prstGeom>
          <a:solidFill>
            <a:srgbClr val="162E44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0" y="10058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🖼️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858000" y="15087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PNGs embebidos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18288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— archivo 100%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autónomo y portable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697480"/>
            <a:ext cx="2057400" cy="1645920"/>
          </a:xfrm>
          <a:prstGeom prst="rect">
            <a:avLst/>
          </a:prstGeom>
          <a:solidFill>
            <a:srgbClr val="162E44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2834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63440" y="33375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VotingEnsemble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36576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clasificadores con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configurables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2697480"/>
            <a:ext cx="2057400" cy="1645920"/>
          </a:xfrm>
          <a:prstGeom prst="rect">
            <a:avLst/>
          </a:prstGeom>
          <a:solidFill>
            <a:srgbClr val="162E44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2834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58000" y="33375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dependencias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36576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biblioteca estándar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Python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en el Pipeline de Investigación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901952" cy="169164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601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64792"/>
            <a:ext cx="1444752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2880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MX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21992" y="148132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50592" y="868680"/>
            <a:ext cx="1901952" cy="169164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9601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50592" y="141732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LIMPIADOR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79192" y="1764792"/>
            <a:ext cx="1444752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182880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normalizado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52544" y="148132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81144" y="868680"/>
            <a:ext cx="1901952" cy="169164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81144" y="9601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81144" y="141732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ENRIQUECEDOR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9744" y="1764792"/>
            <a:ext cx="1444752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81144" y="182880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· Polaridad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83096" y="148132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11696" y="868680"/>
            <a:ext cx="1901952" cy="169164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11696" y="9601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11696" y="141732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NORMALIZADOR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40296" y="1764792"/>
            <a:ext cx="1444752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11696" y="182880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· NER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0" y="15727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▼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976872" y="2743200"/>
            <a:ext cx="1901952" cy="192024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76872" y="283464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976872" y="329184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VECTORIZADOR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205472" y="3639312"/>
            <a:ext cx="1444752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76872" y="370332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48272" y="349300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◀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46320" y="2743200"/>
            <a:ext cx="1901952" cy="192024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46320" y="283464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846320" y="329184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v4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74920" y="3639312"/>
            <a:ext cx="1444752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70332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17720" y="349300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◀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15768" y="2743200"/>
            <a:ext cx="1901952" cy="1920240"/>
          </a:xfrm>
          <a:prstGeom prst="rect">
            <a:avLst/>
          </a:prstGeom>
          <a:solidFill>
            <a:srgbClr val="D97706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715768" y="283464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2715768" y="329184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INFOGRAFÍA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944368" y="3639312"/>
            <a:ext cx="1444752" cy="274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15768" y="370332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Autocontenido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15768" y="4754880"/>
            <a:ext cx="1901952" cy="228600"/>
          </a:xfrm>
          <a:prstGeom prst="rect">
            <a:avLst/>
          </a:prstGeom>
          <a:solidFill>
            <a:srgbClr val="D97706">
              <a:alpha val="4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15768" y="4754880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9FF"/>
                </a:solidFill>
              </a:rPr>
              <a:t>▲ aquí estamos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de Entrada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script busca con glob el archivo más reciente (por timestamp).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encuentra ninguno, usa valores por defecto hardcodeados.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(glob)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4904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02752" y="1417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709928"/>
            <a:ext cx="850392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810512"/>
            <a:ext cx="8503920" cy="393192"/>
          </a:xfrm>
          <a:prstGeom prst="rect">
            <a:avLst/>
          </a:prstGeom>
          <a:solidFill>
            <a:srgbClr val="162E44"/>
          </a:solidFill>
          <a:ln w="12700">
            <a:solidFill>
              <a:srgbClr val="162E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56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reporte_v4_*.json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49040" y="18562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principal — métricas, features, fold scores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18562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240280"/>
            <a:ext cx="8503920" cy="393192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errores_criticos_*.json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0" y="22860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negativos/positivos de alta confianza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228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670048"/>
            <a:ext cx="8503920" cy="393192"/>
          </a:xfrm>
          <a:prstGeom prst="rect">
            <a:avLst/>
          </a:prstGeom>
          <a:solidFill>
            <a:srgbClr val="162E44"/>
          </a:solidFill>
          <a:ln w="12700">
            <a:solidFill>
              <a:srgbClr val="162E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715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discrepancias_*.json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271576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gris entre clasificadores (nuevo en v4)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21040" y="2715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099816"/>
            <a:ext cx="8503920" cy="393192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45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curva_votingensemble_*.png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49040" y="314553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 del ensamble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21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—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529584"/>
            <a:ext cx="8503920" cy="393192"/>
          </a:xfrm>
          <a:prstGeom prst="rect">
            <a:avLst/>
          </a:prstGeom>
          <a:solidFill>
            <a:srgbClr val="162E44"/>
          </a:solidFill>
          <a:ln w="12700">
            <a:solidFill>
              <a:srgbClr val="162E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575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curva_logisticregression_*.png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49040" y="357530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 de Regresión Logística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21040" y="3575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—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3959352"/>
            <a:ext cx="8503920" cy="393192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005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confusion_votingensemble_*.png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49040" y="400507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confusión del ensamble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21040" y="4005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—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4389120"/>
            <a:ext cx="8503920" cy="393192"/>
          </a:xfrm>
          <a:prstGeom prst="rect">
            <a:avLst/>
          </a:prstGeom>
          <a:solidFill>
            <a:srgbClr val="162E44"/>
          </a:solidFill>
          <a:ln w="12700">
            <a:solidFill>
              <a:srgbClr val="162E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434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confusion_logisticregression_*.png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749040" y="44348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confusión de Regresión Logística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21040" y="4434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—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" y="4709160"/>
            <a:ext cx="8503920" cy="256032"/>
          </a:xfrm>
          <a:prstGeom prst="rect">
            <a:avLst/>
          </a:prstGeom>
          <a:solidFill>
            <a:srgbClr val="D97706">
              <a:alpha val="18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709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se encuentra ningún reporte → el script usa valores por defecto y genera la infografía igualmente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10 Secciones de la Infografía Generada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206240" cy="731520"/>
          </a:xfrm>
          <a:prstGeom prst="rect">
            <a:avLst/>
          </a:prstGeom>
          <a:solidFill>
            <a:srgbClr val="162E44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41248"/>
            <a:ext cx="457200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41248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8961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globales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170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F1, AUC, clase alta, tamaño del corpus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73168" y="841248"/>
            <a:ext cx="4206240" cy="731520"/>
          </a:xfrm>
          <a:prstGeom prst="rect">
            <a:avLst/>
          </a:prstGeom>
          <a:solidFill>
            <a:srgbClr val="162E44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841248"/>
            <a:ext cx="457200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841248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21808" y="8961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VotingEnsemble + errores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21808" y="1170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visual del ensamble + falsos positivos/negativos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1682496"/>
            <a:ext cx="4206240" cy="731520"/>
          </a:xfrm>
          <a:prstGeom prst="rect">
            <a:avLst/>
          </a:prstGeom>
          <a:solidFill>
            <a:srgbClr val="162E44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682496"/>
            <a:ext cx="457200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682496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gris / Discrepancias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2-1 y 1-2, casos rescatados por votación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73168" y="1682496"/>
            <a:ext cx="4206240" cy="731520"/>
          </a:xfrm>
          <a:prstGeom prst="rect">
            <a:avLst/>
          </a:prstGeom>
          <a:solidFill>
            <a:srgbClr val="162E44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73168" y="1682496"/>
            <a:ext cx="457200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682496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2180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Balanza + Matriz confusión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21808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Balanza conceptual + matriz renderizada en JS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2523744"/>
            <a:ext cx="4206240" cy="731520"/>
          </a:xfrm>
          <a:prstGeom prst="rect">
            <a:avLst/>
          </a:prstGeom>
          <a:solidFill>
            <a:srgbClr val="162E44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523744"/>
            <a:ext cx="457200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523744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8680" y="25786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+ Heatmap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28529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híbrida de features + heatmap de co-ocurrencia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73168" y="2523744"/>
            <a:ext cx="4206240" cy="731520"/>
          </a:xfrm>
          <a:prstGeom prst="rect">
            <a:avLst/>
          </a:prstGeom>
          <a:solidFill>
            <a:srgbClr val="162E44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73168" y="2523744"/>
            <a:ext cx="457200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2523744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21808" y="25786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modelos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21808" y="28529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 10-fold + análisis de overfitting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3364992"/>
            <a:ext cx="4206240" cy="731520"/>
          </a:xfrm>
          <a:prstGeom prst="rect">
            <a:avLst/>
          </a:prstGeom>
          <a:solidFill>
            <a:srgbClr val="162E44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364992"/>
            <a:ext cx="457200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364992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8680" y="34198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confianza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68680" y="36941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probabilístico + dimensiones narrativas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73168" y="3364992"/>
            <a:ext cx="4206240" cy="731520"/>
          </a:xfrm>
          <a:prstGeom prst="rect">
            <a:avLst/>
          </a:prstGeom>
          <a:solidFill>
            <a:srgbClr val="162E44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73168" y="3364992"/>
            <a:ext cx="457200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3364992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21808" y="34198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Correlaciones estadísticas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21808" y="36941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+ Chi² por categoría + Odds Ratio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20040" y="4206240"/>
            <a:ext cx="4206240" cy="731520"/>
          </a:xfrm>
          <a:prstGeom prst="rect">
            <a:avLst/>
          </a:prstGeom>
          <a:solidFill>
            <a:srgbClr val="162E44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0040" y="4206240"/>
            <a:ext cx="457200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2062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⑨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68680" y="42611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PNGs embebidos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68680" y="4535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de aprendizaje + matrices de confusión en base64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73168" y="4206240"/>
            <a:ext cx="4206240" cy="731520"/>
          </a:xfrm>
          <a:prstGeom prst="rect">
            <a:avLst/>
          </a:prstGeom>
          <a:solidFill>
            <a:srgbClr val="162E44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73168" y="4206240"/>
            <a:ext cx="457200" cy="7315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73168" y="42062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⑩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321808" y="42611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Párrafo de tesis automático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321808" y="4535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generado con métricas, zona gris y conclusiones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Modelo: VotingEnsemble de Votación Suave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las probabilidades calibradas de tres clasificadores de forma ponderada. La predicción final emerge del promedio suave, no de mayoría de votos.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2697480" cy="178308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00200"/>
            <a:ext cx="26974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002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ComplementNB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44168" y="2121408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44168" y="21214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×1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44168" y="281635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0906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 con clases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desbalanceadas. Rápido.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2304288"/>
            <a:ext cx="155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172968" y="1600200"/>
            <a:ext cx="2697480" cy="1783080"/>
          </a:xfrm>
          <a:prstGeom prst="rect">
            <a:avLst/>
          </a:prstGeom>
          <a:solidFill>
            <a:srgbClr val="162E44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600200"/>
            <a:ext cx="269748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16002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97096" y="2121408"/>
            <a:ext cx="658368" cy="6583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97096" y="21214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×2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197096" y="281635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64408" y="30906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Probabilidades bien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calibradas. Interpretable.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70448" y="2304288"/>
            <a:ext cx="155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7706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25896" y="1600200"/>
            <a:ext cx="2697480" cy="1783080"/>
          </a:xfrm>
          <a:prstGeom prst="rect">
            <a:avLst/>
          </a:prstGeom>
          <a:solidFill>
            <a:srgbClr val="162E44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25896" y="1600200"/>
            <a:ext cx="269748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25896" y="16002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LinearSVM calibrado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050024" y="2121408"/>
            <a:ext cx="658368" cy="6583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0024" y="21214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×2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050024" y="281635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17336" y="30906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separabilidad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lineal. Calibrado con Platt.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703320"/>
            <a:ext cx="8503920" cy="1005840"/>
          </a:xfrm>
          <a:prstGeom prst="rect">
            <a:avLst/>
          </a:prstGeom>
          <a:solidFill>
            <a:srgbClr val="102840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703320"/>
            <a:ext cx="1463040" cy="10058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7033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920240" y="376732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ponderado de probabilidades calibradas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920240" y="413308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F1-weighted (CV): 0.872 ± 0.014     AUC (CV): 0.940 ± 0.011     Brier score: 0.088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920240" y="446227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clase alta: 0.784     Corpus: 2,595 comentarios     Clase alta: 766 (29.5%)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Interna del Código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60520" y="8046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804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850392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88720"/>
            <a:ext cx="8503920" cy="438912"/>
          </a:xfrm>
          <a:prstGeom prst="rect">
            <a:avLst/>
          </a:prstGeom>
          <a:solidFill>
            <a:srgbClr val="162E44"/>
          </a:solidFill>
          <a:ln w="12700">
            <a:solidFill>
              <a:srgbClr val="162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_ultimo(carpeta, patron)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06240" y="126187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0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el archivo más reciente por glob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664208"/>
            <a:ext cx="8503920" cy="438912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_embed_png(path)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06240" y="17373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PNG → data URI base64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139696"/>
            <a:ext cx="8503920" cy="438912"/>
          </a:xfrm>
          <a:prstGeom prst="rect">
            <a:avLst/>
          </a:prstGeom>
          <a:solidFill>
            <a:srgbClr val="162E44"/>
          </a:solidFill>
          <a:ln w="12700">
            <a:solidFill>
              <a:srgbClr val="162E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_defaults()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06240" y="22128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0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por defecto para todas las métricas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615184"/>
            <a:ext cx="8503920" cy="438912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6883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_contar_diags(lista)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06240" y="268833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0" y="26883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diagnósticos desde errores críticos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090672"/>
            <a:ext cx="8503920" cy="438912"/>
          </a:xfrm>
          <a:prstGeom prst="rect">
            <a:avLst/>
          </a:prstGeom>
          <a:solidFill>
            <a:srgbClr val="162E44"/>
          </a:solidFill>
          <a:ln w="12700">
            <a:solidFill>
              <a:srgbClr val="162E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163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cargar(carpeta)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206240" y="31638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0" y="3163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 la carga de todos los archivos JSON y PNG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566160"/>
            <a:ext cx="8503920" cy="438912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_heatmap_data(top_alta)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206240" y="36393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0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datos para el heatmap de co-ocurrencia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041648"/>
            <a:ext cx="8503920" cy="438912"/>
          </a:xfrm>
          <a:prstGeom prst="rect">
            <a:avLst/>
          </a:prstGeom>
          <a:solidFill>
            <a:srgbClr val="162E44"/>
          </a:solidFill>
          <a:ln w="12700">
            <a:solidFill>
              <a:srgbClr val="162E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generar_html(d)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206240" y="4114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 el template HTML con f-strings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517136"/>
            <a:ext cx="8503920" cy="438912"/>
          </a:xfrm>
          <a:prstGeom prst="rect">
            <a:avLst/>
          </a:prstGeom>
          <a:solidFill>
            <a:srgbClr val="1A2F2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590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206240" y="45902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29200" y="4590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entrada: llama cargar() + generar_html()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5010912"/>
            <a:ext cx="8503920" cy="0"/>
          </a:xfrm>
          <a:prstGeom prst="rect">
            <a:avLst/>
          </a:prstGeom>
          <a:noFill/>
          <a:ln/>
        </p:spPr>
      </p:sp>
      <p:sp>
        <p:nvSpPr>
          <p:cNvPr id="41" name="Text 39"/>
          <p:cNvSpPr/>
          <p:nvPr/>
        </p:nvSpPr>
        <p:spPr>
          <a:xfrm>
            <a:off x="320040" y="48646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Flujo:  main()  →  cargar()  →  generar_html(d)  →  archivo .html guardado en disco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y Salida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749808"/>
          </a:xfrm>
          <a:prstGeom prst="rect">
            <a:avLst/>
          </a:prstGeom>
          <a:solidFill>
            <a:srgbClr val="10284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4124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infografia_html.py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8503920" cy="64008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Salida: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181051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infografia_burocracia_dolor_v4_&lt;YYYYMMDD_HHMMSS&gt;.html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210312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recibe argumentos — busca los archivos de entrada automáticamente en su propio directorio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542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abrir el resultado: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907792"/>
            <a:ext cx="8503920" cy="393192"/>
          </a:xfrm>
          <a:prstGeom prst="rect">
            <a:avLst/>
          </a:prstGeom>
          <a:solidFill>
            <a:srgbClr val="162E44"/>
          </a:solidFill>
          <a:ln w="12700">
            <a:solidFill>
              <a:srgbClr val="162E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907792"/>
            <a:ext cx="777240" cy="3931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907792"/>
            <a:ext cx="777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70432" y="29443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xdg-open infografia_burocracia_dolor_v4_*.html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364992"/>
            <a:ext cx="8503920" cy="393192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364992"/>
            <a:ext cx="777240" cy="3931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364992"/>
            <a:ext cx="777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70432" y="34015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   infografia_burocracia_dolor_v4_*.html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822192"/>
            <a:ext cx="8503920" cy="393192"/>
          </a:xfrm>
          <a:prstGeom prst="rect">
            <a:avLst/>
          </a:prstGeom>
          <a:solidFill>
            <a:srgbClr val="162E44"/>
          </a:solidFill>
          <a:ln w="12700">
            <a:solidFill>
              <a:srgbClr val="162E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822192"/>
            <a:ext cx="777240" cy="3931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822192"/>
            <a:ext cx="777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70432" y="38587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  infografia_burocracia_dolor_v4_*.html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343400"/>
            <a:ext cx="8503920" cy="594360"/>
          </a:xfrm>
          <a:prstGeom prst="rect">
            <a:avLst/>
          </a:prstGeom>
          <a:solidFill>
            <a:srgbClr val="1A201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Exportar a PDF: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86000" y="440740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Chrome/Firefox  →  Ctrl+P  →  Guardar como PDF  ·  Escala 75–85%  ·  Márgenes mínimos  ·  Fondo de gráficas activado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Referencia del Modelo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no hay JSON disponible, el script usa estos valores.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también los resultados de referencia del pipeline.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011680" cy="1417320"/>
          </a:xfrm>
          <a:prstGeom prst="rect">
            <a:avLst/>
          </a:prstGeom>
          <a:solidFill>
            <a:srgbClr val="162E44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5087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2103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0.014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331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F1-weighted (CV)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87168" y="1417320"/>
            <a:ext cx="2011680" cy="141732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87168" y="15087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87168" y="2103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0.011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87168" y="2331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(CV)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54296" y="1417320"/>
            <a:ext cx="2011680" cy="1417320"/>
          </a:xfrm>
          <a:prstGeom prst="rect">
            <a:avLst/>
          </a:prstGeom>
          <a:solidFill>
            <a:srgbClr val="162E44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54296" y="15087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54296" y="2331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clase alta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21424" y="1417320"/>
            <a:ext cx="2011680" cy="1417320"/>
          </a:xfrm>
          <a:prstGeom prst="rect">
            <a:avLst/>
          </a:prstGeom>
          <a:solidFill>
            <a:srgbClr val="162E44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21424" y="15087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0.088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821424" y="2103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21424" y="2331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2999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de evaluación: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3401568"/>
            <a:ext cx="2697480" cy="1325880"/>
          </a:xfrm>
          <a:prstGeom prst="rect">
            <a:avLst/>
          </a:prstGeom>
          <a:solidFill>
            <a:srgbClr val="162E44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493008"/>
            <a:ext cx="2423160" cy="201168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93008"/>
            <a:ext cx="848106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74904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2,595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20040" y="42245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total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20040" y="449884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72968" y="3401568"/>
            <a:ext cx="2697480" cy="1325880"/>
          </a:xfrm>
          <a:prstGeom prst="rect">
            <a:avLst/>
          </a:prstGeom>
          <a:solidFill>
            <a:srgbClr val="162E44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10128" y="3493008"/>
            <a:ext cx="2423160" cy="201168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10128" y="3493008"/>
            <a:ext cx="266548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72968" y="374904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766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3172968" y="42245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'alta'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172968" y="449884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29.5%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25896" y="3401568"/>
            <a:ext cx="2697480" cy="132588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63056" y="3493008"/>
            <a:ext cx="2423160" cy="201168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63056" y="3493008"/>
            <a:ext cx="63002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25896" y="374904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1,829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025896" y="42245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'media'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025896" y="449884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70.5%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31520"/>
            <a:ext cx="4572000" cy="4572000"/>
          </a:xfrm>
          <a:prstGeom prst="ellipse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FBBF24">
              <a:alpha val="12000"/>
            </a:srgbClr>
          </a:solidFill>
          <a:ln w="12700">
            <a:solidFill>
              <a:srgbClr val="FBBF24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análisis al reporte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la tesis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73152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889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JSON + PNG y genera un HTML autocontenido — sin dependencias externas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73152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461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secciones: métricas, ensamble, zona gris, features, correlaciones y más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73152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7033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Párrafo de tesis automático con todas las métricas del pipeline integradas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73152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1605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a valores por defecto — el HTML siempre se genera aunque falten archivos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219456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663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infografia_html.py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Infografía HTML — Pipeline v4</dc:title>
  <dc:subject>PptxGenJS Presentation</dc:subject>
  <dc:creator>PptxGenJS</dc:creator>
  <cp:lastModifiedBy>PptxGenJS</cp:lastModifiedBy>
  <cp:revision>1</cp:revision>
  <dcterms:created xsi:type="dcterms:W3CDTF">2026-04-16T01:36:59Z</dcterms:created>
  <dcterms:modified xsi:type="dcterms:W3CDTF">2026-04-16T01:36:59Z</dcterms:modified>
</cp:coreProperties>
</file>