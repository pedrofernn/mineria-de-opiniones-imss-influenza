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2D2D7A">
              <a:alpha val="28000"/>
            </a:srgbClr>
          </a:solidFill>
          <a:ln w="12700">
            <a:solidFill>
              <a:srgbClr val="5C35B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743200"/>
            <a:ext cx="3474720" cy="3474720"/>
          </a:xfrm>
          <a:prstGeom prst="ellipse">
            <a:avLst/>
          </a:prstGeom>
          <a:solidFill>
            <a:srgbClr val="5C35BF">
              <a:alpha val="20000"/>
            </a:srgbClr>
          </a:solidFill>
          <a:ln w="12700">
            <a:solidFill>
              <a:srgbClr val="F0A500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8229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22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PIPELINE CRISP-DM — FASE 4: MODELADO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Vectorizador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Features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Pública MX / Influenza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el corpus enriquecido en matrices numéricas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para clasificadores de machine learning.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95604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</a:rPr>
              <a:t>vectorizar_v3.py   ·   Python 3.10+   ·   scikit-learn + sentence-transformers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POSICIÓN EN EL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280160" cy="1371600"/>
          </a:xfrm>
          <a:prstGeom prst="rect">
            <a:avLst/>
          </a:prstGeom>
          <a:solidFill>
            <a:srgbClr val="E8E4F8"/>
          </a:solidFill>
          <a:ln w="12700">
            <a:solidFill>
              <a:srgbClr val="C0B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051560"/>
            <a:ext cx="402336" cy="402336"/>
          </a:xfrm>
          <a:prstGeom prst="ellipse">
            <a:avLst/>
          </a:prstGeom>
          <a:solidFill>
            <a:srgbClr val="5A5A8A"/>
          </a:solidFill>
          <a:ln w="12700">
            <a:solidFill>
              <a:srgbClr val="5A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" y="1188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572768"/>
            <a:ext cx="1170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 posts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Reddit MX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18488" y="1600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35BF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01368" y="1143000"/>
            <a:ext cx="1280160" cy="1371600"/>
          </a:xfrm>
          <a:prstGeom prst="rect">
            <a:avLst/>
          </a:prstGeom>
          <a:solidFill>
            <a:srgbClr val="E8E4F8"/>
          </a:solidFill>
          <a:ln w="12700">
            <a:solidFill>
              <a:srgbClr val="C0B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051560"/>
            <a:ext cx="402336" cy="402336"/>
          </a:xfrm>
          <a:prstGeom prst="ellipse">
            <a:avLst/>
          </a:prstGeom>
          <a:solidFill>
            <a:srgbClr val="5A5A8A"/>
          </a:solidFill>
          <a:ln w="12700">
            <a:solidFill>
              <a:srgbClr val="5A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56232" y="1188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56232" y="1572768"/>
            <a:ext cx="1170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y clasifica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semánticamente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99816" y="1600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35BF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82696" y="1143000"/>
            <a:ext cx="1280160" cy="1371600"/>
          </a:xfrm>
          <a:prstGeom prst="rect">
            <a:avLst/>
          </a:prstGeom>
          <a:solidFill>
            <a:srgbClr val="E8E4F8"/>
          </a:solidFill>
          <a:ln w="12700">
            <a:solidFill>
              <a:srgbClr val="C0B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1608" y="1051560"/>
            <a:ext cx="402336" cy="402336"/>
          </a:xfrm>
          <a:prstGeom prst="ellipse">
            <a:avLst/>
          </a:prstGeom>
          <a:solidFill>
            <a:srgbClr val="5A5A8A"/>
          </a:solidFill>
          <a:ln w="12700">
            <a:solidFill>
              <a:srgbClr val="5A5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188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Enriquecedor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1572768"/>
            <a:ext cx="1170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IFB, polaridad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nivel de impacto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81144" y="1600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35BF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64024" y="1143000"/>
            <a:ext cx="1280160" cy="1371600"/>
          </a:xfrm>
          <a:prstGeom prst="rect">
            <a:avLst/>
          </a:prstGeom>
          <a:solidFill>
            <a:srgbClr val="E8E4F8"/>
          </a:solidFill>
          <a:ln w="12700">
            <a:solidFill>
              <a:srgbClr val="C0B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2936" y="1051560"/>
            <a:ext cx="402336" cy="402336"/>
          </a:xfrm>
          <a:prstGeom prst="ellipse">
            <a:avLst/>
          </a:prstGeom>
          <a:solidFill>
            <a:srgbClr val="5A5A8A"/>
          </a:solidFill>
          <a:ln w="12700">
            <a:solidFill>
              <a:srgbClr val="5A5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2936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1188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Normalizador NLP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1572768"/>
            <a:ext cx="1170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Lematiza y genera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texto_normalizado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62472" y="1600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35BF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45352" y="1143000"/>
            <a:ext cx="1280160" cy="1371600"/>
          </a:xfrm>
          <a:prstGeom prst="rect">
            <a:avLst/>
          </a:prstGeom>
          <a:solidFill>
            <a:srgbClr val="5C35BF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84264" y="1051560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0216" y="1188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Vectorizador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0216" y="1572768"/>
            <a:ext cx="1170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X,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artefactos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43800" y="1600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35BF"/>
                </a:solidFill>
              </a:rPr>
              <a:t>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26680" y="1143000"/>
            <a:ext cx="1280160" cy="1371600"/>
          </a:xfrm>
          <a:prstGeom prst="rect">
            <a:avLst/>
          </a:prstGeom>
          <a:solidFill>
            <a:srgbClr val="E8E4F8"/>
          </a:solidFill>
          <a:ln w="12700">
            <a:solidFill>
              <a:srgbClr val="C0B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65592" y="1051560"/>
            <a:ext cx="402336" cy="402336"/>
          </a:xfrm>
          <a:prstGeom prst="ellipse">
            <a:avLst/>
          </a:prstGeom>
          <a:solidFill>
            <a:srgbClr val="5A5A8A"/>
          </a:solidFill>
          <a:ln w="12700">
            <a:solidFill>
              <a:srgbClr val="5A5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65592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81544" y="1188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81544" y="1572768"/>
            <a:ext cx="1170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SVC / MLP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XGBoost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2788920"/>
            <a:ext cx="4160520" cy="868680"/>
          </a:xfrm>
          <a:prstGeom prst="rect">
            <a:avLst/>
          </a:prstGeom>
          <a:solidFill>
            <a:srgbClr val="EDE7FF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788920"/>
            <a:ext cx="54864" cy="8686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ENTRADA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31089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dataset_normalizado_*.json  (salida del normalizador NLP)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788920"/>
            <a:ext cx="4069080" cy="868680"/>
          </a:xfrm>
          <a:prstGeom prst="rect">
            <a:avLst/>
          </a:prstGeom>
          <a:solidFill>
            <a:srgbClr val="FFF8E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2788920"/>
            <a:ext cx="54864" cy="868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SALIDA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92040" y="3108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X_features.npz   y_labels.npy   vectorizador.pkl   reporte.json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0E0E2C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vectorizador toma texto y metadatos numéricos del corpus y los convierte en matrices densas/sparse que los algoritmos de clasificación pueden procesar. Sin este paso, el texto es ilegible para cualquier modelo de ML.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ESTRATEGIAS DE VECTORIZACIÓN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75488" cy="594360"/>
          </a:xfrm>
          <a:prstGeom prst="rect">
            <a:avLst/>
          </a:prstGeom>
          <a:solidFill>
            <a:srgbClr val="5C35BF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[A]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1060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estándar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7552" y="13350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interpretable. Recomendado como baseline. Calcula el peso relativo de cada término en el corpus.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95160" y="111556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115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8412480" cy="1828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10512"/>
            <a:ext cx="475488" cy="594360"/>
          </a:xfrm>
          <a:prstGeom prst="rect">
            <a:avLst/>
          </a:prstGeom>
          <a:solidFill>
            <a:srgbClr val="5C35BF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0512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[B]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1847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ponderado Reddit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7552" y="21214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a A pero multiplica cada fila por el peso_reddit del comentario, dando más importancia a posts populares.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190195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Reddit-aware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05456"/>
            <a:ext cx="8412480" cy="1828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96896"/>
            <a:ext cx="475488" cy="594360"/>
          </a:xfrm>
          <a:prstGeom prst="rect">
            <a:avLst/>
          </a:prstGeom>
          <a:solidFill>
            <a:srgbClr val="5C35BF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96896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[C]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7552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7552" y="29077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Frecuencias brutas sin normalización. Línea base para Naive Bayes. Los valores son siempre ≥ 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2688336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688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Naive Bayes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8412480" cy="1828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83280"/>
            <a:ext cx="475488" cy="594360"/>
          </a:xfrm>
          <a:prstGeom prst="rect">
            <a:avLst/>
          </a:prstGeom>
          <a:solidFill>
            <a:srgbClr val="5C35BF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8328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[D]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7552" y="36941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dimensiones contextuales. Captura negación y sarcasmo. Requiere ~400 MB de descarga inicial.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95160" y="34747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Contextual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078224"/>
            <a:ext cx="8412480" cy="1828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169664"/>
            <a:ext cx="475488" cy="594360"/>
          </a:xfrm>
          <a:prstGeom prst="rect">
            <a:avLst/>
          </a:prstGeom>
          <a:solidFill>
            <a:srgbClr val="5C35BF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69664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[E]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7552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+ TF-IDF híbrido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87552" y="4480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 D + A. Máxima cobertura semántica. El más potente y el más costoso computacionalmente.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95160" y="4261104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4261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Máxima cobertura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5604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</a:rPr>
              <a:t>Todas las estrategias concatenan el bloque de features numéricas al final de la matriz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VS. BERT — EL PROBLEMA DE LA NEGACIÓN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88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554480" y="1088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hay medicinas en el IMSS"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11430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QUEJA — desabasto real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54864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73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B: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54480" y="1773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"Medicinas hay en el IMSS, no faltan"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8288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POSITIVO — todo bien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87168"/>
            <a:ext cx="54864" cy="2286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542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 ✗  Ve lo mismo en ambos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294436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el texto como bolsa de palabras: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y el contexto desaparecen.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textos comparten los mismos tokens: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'no', 'hay', 'medicinas', 'imss', 'faltan'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Sus vectores son casi idénticos.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clasificador no puede distinguirlos.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87168"/>
            <a:ext cx="54864" cy="228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542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 ✓  Entiende el contexto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19472" y="294436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cada token en contexto de todos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del texto.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Texto A: 'hay' recibe la influencia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'No' que lo precede → representa negación.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Vectores distintos y correctamente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orientados en el espacio semántico.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</a:rPr>
              <a:t>Por eso BERT opera sobre el texto con stopwords: 'no', 'hay', 'me' son el andamiaje gramatical que BERT necesita para entender la negación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DE TEXTO — PROCESAMIENTO Y MEJORAS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987552"/>
          </a:xfrm>
          <a:prstGeom prst="rect">
            <a:avLst/>
          </a:prstGeom>
          <a:solidFill>
            <a:srgbClr val="0D0D2E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457200" cy="4572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2C"/>
                </a:solidFill>
              </a:rPr>
              <a:t>④A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siglas institucionales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463040"/>
            <a:ext cx="914400" cy="402336"/>
          </a:xfrm>
          <a:prstGeom prst="rect">
            <a:avLst/>
          </a:prstGeom>
          <a:solidFill>
            <a:srgbClr val="2A1A50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4904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500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13432" y="1463040"/>
            <a:ext cx="1115568" cy="402336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1463040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entidad_salud_imss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93008" y="1463040"/>
            <a:ext cx="914400" cy="402336"/>
          </a:xfrm>
          <a:prstGeom prst="rect">
            <a:avLst/>
          </a:prstGeom>
          <a:solidFill>
            <a:srgbClr val="2A1A50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H1N1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53128" y="14904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500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1115568" cy="402336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63040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virus_h1n1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0176" y="1463040"/>
            <a:ext cx="914400" cy="402336"/>
          </a:xfrm>
          <a:prstGeom prst="rect">
            <a:avLst/>
          </a:prstGeom>
          <a:solidFill>
            <a:srgbClr val="2A1A50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0176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CDMX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0296" y="14904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500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87768" y="1463040"/>
            <a:ext cx="1115568" cy="402336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1463040"/>
            <a:ext cx="11155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lugar_cdmx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148840"/>
            <a:ext cx="4023360" cy="1371600"/>
          </a:xfrm>
          <a:prstGeom prst="rect">
            <a:avLst/>
          </a:prstGeom>
          <a:solidFill>
            <a:srgbClr val="0D0D2E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2221992"/>
            <a:ext cx="457200" cy="457200"/>
          </a:xfrm>
          <a:prstGeom prst="ellipse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④B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21762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max_df dinámico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2542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hiper-frecuentes como 'salud'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aparecer en el 95% de los posts.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umbral fijo las conservaría como ruido.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el umbral óptimo por corpus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(percentil 85 de términos únicos).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4023360" cy="1371600"/>
          </a:xfrm>
          <a:prstGeom prst="rect">
            <a:avLst/>
          </a:prstGeom>
          <a:solidFill>
            <a:srgbClr val="0D0D2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221992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2C"/>
                </a:solidFill>
              </a:rPr>
              <a:t>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1762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χ²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2542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TF-IDF se tienen hasta 5,000 features.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mide la dependencia estadística entre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y la etiqueta de clase.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conservan solo las K=3,000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informativas.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8412480" cy="685800"/>
          </a:xfrm>
          <a:prstGeom prst="rect">
            <a:avLst/>
          </a:prstGeom>
          <a:solidFill>
            <a:srgbClr val="16164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94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0050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Matriz X_texto de shape (n_docs × K_features)  —  sparse, formato CSR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5604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</a:rPr>
              <a:t>MAX_FEATURES = 5,000  ·  NGRAM_RANGE = (1,2)  ·  MIN_DF = 2  ·  SUBLINEAR_TF = True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EMBEDDINGS — ESTRATEGIAS D Y 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237744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743200" cy="329184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27432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Texto con stopwords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01568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comentario sin preprocesar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19072" y="184708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5BF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2743200" cy="329184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27432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SentenceTransformer.encode()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01568" y="1984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lotes de 32 comentarios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19072" y="230428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5BF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2743200" cy="329184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23160"/>
            <a:ext cx="27432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Array (n_docs × 768)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2441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768 dimensiones por comentario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19072" y="276148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5BF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743200" cy="329184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80360"/>
            <a:ext cx="27432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Normalización L2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01568" y="2898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distancia coseno = producto punto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1051560"/>
            <a:ext cx="3108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1051560"/>
            <a:ext cx="54864" cy="2377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disponibles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33872" y="1508760"/>
            <a:ext cx="2834640" cy="402336"/>
          </a:xfrm>
          <a:prstGeom prst="rect">
            <a:avLst/>
          </a:prstGeom>
          <a:solidFill>
            <a:srgbClr val="F3EDFF"/>
          </a:solidFill>
          <a:ln w="12700">
            <a:solidFill>
              <a:srgbClr val="E0D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sentence_similarity_spanish_es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70448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 · Media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52360" y="156362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Default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33872" y="2002536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2020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MiniLM-L12-v2 multilingual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70448" y="22037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384D · Rápida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52360" y="20574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Clustering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33872" y="2496312"/>
            <a:ext cx="2834640" cy="402336"/>
          </a:xfrm>
          <a:prstGeom prst="rect">
            <a:avLst/>
          </a:prstGeom>
          <a:solidFill>
            <a:srgbClr val="F3EDFF"/>
          </a:solidFill>
          <a:ln w="12700">
            <a:solidFill>
              <a:srgbClr val="E0D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0448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BETO (bert-base-spanish)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70448" y="2697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 · Lenta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52360" y="2551176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2551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Español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33872" y="2990088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3008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RoBERTa-BNE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70448" y="31912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 · Lenta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52360" y="304495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3044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SOTA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566160"/>
            <a:ext cx="8412480" cy="685800"/>
          </a:xfrm>
          <a:prstGeom prst="rect">
            <a:avLst/>
          </a:prstGeom>
          <a:solidFill>
            <a:srgbClr val="FFF8E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GPU vs CPU: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3886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 CPU es significativamente más lento. Para corpus de más de 5,000 registros se recomienda usar GPU o bien la estrategia A/B como alternativa eficiente.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19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</a:rPr>
              <a:t>Primera ejecución: descarga ~400 MB desde HuggingFace Hub · Ejecuciones posteriores usan caché local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LEXICON DE QUEJAS + BLOQUE NUMÉRICO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977640" cy="3200400"/>
          </a:xfrm>
          <a:prstGeom prst="rect">
            <a:avLst/>
          </a:prstGeom>
          <a:solidFill>
            <a:srgbClr val="0D0D2E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457200" cy="4572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2C"/>
                </a:solidFill>
              </a:rPr>
              <a:t>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de quejas como feature garantizada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93852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4,000 comentarios y solo 12 menciones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'viacrucis':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= log(4000 / 13) ≈ 5.73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término aparece 1 vez en un doc,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peso TF-IDF = 5.73 × 1 = 5.73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comentario con 80 palabras lo 'diluye'.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493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términos con pesos fijos 1.5–3.0.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'viacrucis' siempre pesa 2.5, sin importar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frecuencia en el corpus.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24128"/>
            <a:ext cx="3977640" cy="3200400"/>
          </a:xfrm>
          <a:prstGeom prst="rect">
            <a:avLst/>
          </a:prstGeom>
          <a:solidFill>
            <a:srgbClr val="0D0D2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78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features numéricas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se concatena al final de X, independientemente de la estrategia elegida.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121408"/>
            <a:ext cx="3657600" cy="310896"/>
          </a:xfrm>
          <a:prstGeom prst="rect">
            <a:avLst/>
          </a:prstGeom>
          <a:solidFill>
            <a:srgbClr val="111135"/>
          </a:solidFill>
          <a:ln w="12700">
            <a:solidFill>
              <a:srgbClr val="252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39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polaridad_score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−1 a +1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487168"/>
            <a:ext cx="3657600" cy="310896"/>
          </a:xfrm>
          <a:prstGeom prst="rect">
            <a:avLst/>
          </a:prstGeom>
          <a:solidFill>
            <a:srgbClr val="0D0D2E"/>
          </a:solidFill>
          <a:ln w="12700">
            <a:solidFill>
              <a:srgbClr val="252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ifb_score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Funcional Basal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852928"/>
            <a:ext cx="3657600" cy="310896"/>
          </a:xfrm>
          <a:prstGeom prst="rect">
            <a:avLst/>
          </a:prstGeom>
          <a:solidFill>
            <a:srgbClr val="111135"/>
          </a:solidFill>
          <a:ln w="12700">
            <a:solidFill>
              <a:srgbClr val="252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impacto_escala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impacto 0–4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218688"/>
            <a:ext cx="3657600" cy="310896"/>
          </a:xfrm>
          <a:prstGeom prst="rect">
            <a:avLst/>
          </a:prstGeom>
          <a:solidFill>
            <a:srgbClr val="0D0D2E"/>
          </a:solidFill>
          <a:ln w="12700">
            <a:solidFill>
              <a:srgbClr val="2525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236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num_palabras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del comentario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584448"/>
            <a:ext cx="3657600" cy="310896"/>
          </a:xfrm>
          <a:prstGeom prst="rect">
            <a:avLst/>
          </a:prstGeom>
          <a:solidFill>
            <a:srgbClr val="111135"/>
          </a:solidFill>
          <a:ln w="12700">
            <a:solidFill>
              <a:srgbClr val="252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602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peso_reddit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3602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la publicación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950208"/>
            <a:ext cx="3657600" cy="310896"/>
          </a:xfrm>
          <a:prstGeom prst="rect">
            <a:avLst/>
          </a:prstGeom>
          <a:solidFill>
            <a:srgbClr val="0D0D2E"/>
          </a:solidFill>
          <a:ln w="12700">
            <a:solidFill>
              <a:srgbClr val="2525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968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score_queja_salud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del lexicon 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822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media = 0, σ = 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solidFill>
            <a:srgbClr val="16164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hstack([ X_texto  |  X_bert  |  X_num ])  →  X_final  (n_docs × n_features_total)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ARTEFACTOS DE SALIDA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54864" cy="160020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3749040" cy="329184"/>
          </a:xfrm>
          <a:prstGeom prst="rect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X_features_v2_*.npz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X sparse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principal de features.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(n_docs × n_features_total).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CSR para eficiencia de memoria.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78992"/>
            <a:ext cx="54864" cy="1600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170432"/>
            <a:ext cx="3749040" cy="329184"/>
          </a:xfrm>
          <a:prstGeom prst="rect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704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y_labels_v2_*.npy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etiquetas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88366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binaria por comentario.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relevancia 'media'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relevancia 'alta'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6207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62072"/>
            <a:ext cx="54864" cy="1600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53512"/>
            <a:ext cx="3749040" cy="329184"/>
          </a:xfrm>
          <a:prstGeom prst="rect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535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vectorizador_v2_*.pkl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355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serializados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366674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vectorizador + scaler + selector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estrategia + mapa_etiqueta.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inferencia sin re-entrenar.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6207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62072"/>
            <a:ext cx="54864" cy="1600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953512"/>
            <a:ext cx="3749040" cy="329184"/>
          </a:xfrm>
          <a:prstGeom prst="rect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535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reporte_vectorizacion_*.json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3355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estadístico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92040" y="366674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features, distribución de clases,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de la matriz,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usados.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</a:rPr>
              <a:t>⚠  Los cuatro archivos deben mantenerse juntos y con los mismos timestamps para garantizar coherencia entre X, y y el vectorizador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EJECUCIÓN COMPLETO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" y="102412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024128"/>
            <a:ext cx="54864" cy="7498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02336" cy="40233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088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JSON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408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dataset_normalizado_*.json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7824" y="1783080"/>
            <a:ext cx="54864" cy="20116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198424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1984248"/>
            <a:ext cx="54864" cy="749808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48840"/>
            <a:ext cx="402336" cy="402336"/>
          </a:xfrm>
          <a:prstGeom prst="ellipse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0482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siglas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6968" y="2368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 → entidad_salud_imss  ④A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7824" y="2743200"/>
            <a:ext cx="54864" cy="20116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294436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" y="2944368"/>
            <a:ext cx="54864" cy="749808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08960"/>
            <a:ext cx="402336" cy="402336"/>
          </a:xfrm>
          <a:prstGeom prst="ellipse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3008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vectorizador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6968" y="3328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Count según estrategia elegida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" y="3703320"/>
            <a:ext cx="54864" cy="20116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90448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" y="3904488"/>
            <a:ext cx="54864" cy="749808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069080"/>
            <a:ext cx="402336" cy="402336"/>
          </a:xfrm>
          <a:prstGeom prst="ellipse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" y="3968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 + SelectKBest χ²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6968" y="4288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→ 3,000 features  ③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65776" y="102412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65776" y="1024128"/>
            <a:ext cx="54864" cy="7498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188720"/>
            <a:ext cx="402336" cy="402336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2C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1088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(D/E)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230368" y="1408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 → 768 dims  ①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21224" y="1783080"/>
            <a:ext cx="54864" cy="20116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65776" y="198424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65776" y="1984248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14884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2C"/>
                </a:solidFill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30368" y="20482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numéricas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30368" y="2368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polaridad, IFB, impacto, score_queja  ②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21224" y="2743200"/>
            <a:ext cx="54864" cy="20116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65776" y="294436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65776" y="2944368"/>
            <a:ext cx="54864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108960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2C"/>
                </a:solidFill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30368" y="3008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hstack → X_final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230368" y="3328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(n_docs × n_features_total)  formato CSR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21224" y="3703320"/>
            <a:ext cx="54864" cy="201168"/>
          </a:xfrm>
          <a:prstGeom prst="rect">
            <a:avLst/>
          </a:prstGeom>
          <a:solidFill>
            <a:srgbClr val="2A2A55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65776" y="3904488"/>
            <a:ext cx="3840480" cy="749808"/>
          </a:xfrm>
          <a:prstGeom prst="rect">
            <a:avLst/>
          </a:prstGeom>
          <a:solidFill>
            <a:srgbClr val="11113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65776" y="3904488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4069080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2C"/>
                </a:solidFill>
              </a:rPr>
              <a:t>8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30368" y="3968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artefactos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230368" y="4288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.npz  .npy  .pkl  .json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C35BF"/>
          </a:solidFill>
          <a:ln w="12700">
            <a:solidFill>
              <a:srgbClr val="5C35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D2D7A">
              <a:alpha val="25000"/>
            </a:srgbClr>
          </a:solidFill>
          <a:ln w="12700">
            <a:solidFill>
              <a:srgbClr val="5C35B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resumen: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2C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texto del corpus en matrices numéricas listas para ML.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700784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2C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5 estrategias: desde TF-IDF rápido hasta BERT contextual.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322576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2C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3408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siglas (IMSS, H1N1) y ajusta max_df al corpus dinámicamente.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944368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2C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9626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términos clave de queja siempre tengan peso con el lexicon.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2C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5844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features estadísticamente irrelevantes con SelectKBest χ².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187952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2C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4 artefactos listos para entrenar clasificadores y hacer inferencia.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2D2D7A"/>
          </a:solidFill>
          <a:ln w="12700">
            <a:solidFill>
              <a:srgbClr val="2D2D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7FF"/>
                </a:solidFill>
              </a:rPr>
              <a:t>Las matrices resultantes son directamente consumibles por LogisticRegression, LinearSVC, MLPClassifier y XGBoost.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Vectorizador de Features — Salud Pública MX</dc:title>
  <dc:subject>PptxGenJS Presentation</dc:subject>
  <dc:creator>PptxGenJS</dc:creator>
  <cp:lastModifiedBy>PptxGenJS</cp:lastModifiedBy>
  <cp:revision>1</cp:revision>
  <dcterms:created xsi:type="dcterms:W3CDTF">2026-04-15T01:46:00Z</dcterms:created>
  <dcterms:modified xsi:type="dcterms:W3CDTF">2026-04-15T01:46:00Z</dcterms:modified>
</cp:coreProperties>
</file>